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0125fea0ca4366" /><Relationship Type="http://schemas.openxmlformats.org/officeDocument/2006/relationships/extended-properties" Target="/docProps/app.xml" Id="R3f8503698b054a42" /><Relationship Type="http://schemas.openxmlformats.org/officeDocument/2006/relationships/officeDocument" Target="/ppt/presentation.xml" Id="R8182103ecb9946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c49523001a4ad1"/>
  </p:sldMasterIdLst>
  <p:notesMasterIdLst>
    <p:notesMasterId xmlns:r="http://schemas.openxmlformats.org/officeDocument/2006/relationships" r:id="Rf946ecff24324a44"/>
  </p:notesMasterIdLst>
  <p:sldIdLst>
    <p:sldId xmlns:r="http://schemas.openxmlformats.org/officeDocument/2006/relationships" id="256" r:id="R2db1665b0b224225"/>
    <p:sldId xmlns:r="http://schemas.openxmlformats.org/officeDocument/2006/relationships" id="257" r:id="Rd2051a2c70184692"/>
    <p:sldId xmlns:r="http://schemas.openxmlformats.org/officeDocument/2006/relationships" id="258" r:id="R4461ebe363824dee"/>
    <p:sldId xmlns:r="http://schemas.openxmlformats.org/officeDocument/2006/relationships" id="259" r:id="R45070f3f3ac64870"/>
    <p:sldId xmlns:r="http://schemas.openxmlformats.org/officeDocument/2006/relationships" id="260" r:id="R0f1e5fcc60d646b9"/>
    <p:sldId xmlns:r="http://schemas.openxmlformats.org/officeDocument/2006/relationships" id="261" r:id="Rac70ccf5537e461d"/>
    <p:sldId xmlns:r="http://schemas.openxmlformats.org/officeDocument/2006/relationships" id="262" r:id="R5a318ce823b746bc"/>
    <p:sldId xmlns:r="http://schemas.openxmlformats.org/officeDocument/2006/relationships" id="263" r:id="Rb1fc22ad0dfa48ad"/>
    <p:sldId xmlns:r="http://schemas.openxmlformats.org/officeDocument/2006/relationships" id="264" r:id="R15cae378b2ce43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71b4c7862e4720" /><Relationship Type="http://schemas.openxmlformats.org/officeDocument/2006/relationships/slideMaster" Target="/ppt/slideMasters/slideMaster1.xml" Id="R08c49523001a4ad1" /><Relationship Type="http://schemas.openxmlformats.org/officeDocument/2006/relationships/notesMaster" Target="/ppt/notesMasters/notesMaster1.xml" Id="Rf946ecff24324a44" /><Relationship Type="http://schemas.openxmlformats.org/officeDocument/2006/relationships/presProps" Target="/ppt/presProps.xml" Id="Rca2358c54be74e58" /><Relationship Type="http://schemas.openxmlformats.org/officeDocument/2006/relationships/tableStyles" Target="/ppt/tableStyles.xml" Id="R2c76d15ab71f433d" /><Relationship Type="http://schemas.openxmlformats.org/officeDocument/2006/relationships/slide" Target="/ppt/slides/slide1.xml" Id="R2db1665b0b224225" /><Relationship Type="http://schemas.openxmlformats.org/officeDocument/2006/relationships/slide" Target="/ppt/slides/slide2.xml" Id="Rd2051a2c70184692" /><Relationship Type="http://schemas.openxmlformats.org/officeDocument/2006/relationships/slide" Target="/ppt/slides/slide3.xml" Id="R4461ebe363824dee" /><Relationship Type="http://schemas.openxmlformats.org/officeDocument/2006/relationships/slide" Target="/ppt/slides/slide4.xml" Id="R45070f3f3ac64870" /><Relationship Type="http://schemas.openxmlformats.org/officeDocument/2006/relationships/slide" Target="/ppt/slides/slide5.xml" Id="R0f1e5fcc60d646b9" /><Relationship Type="http://schemas.openxmlformats.org/officeDocument/2006/relationships/slide" Target="/ppt/slides/slide6.xml" Id="Rac70ccf5537e461d" /><Relationship Type="http://schemas.openxmlformats.org/officeDocument/2006/relationships/slide" Target="/ppt/slides/slide7.xml" Id="R5a318ce823b746bc" /><Relationship Type="http://schemas.openxmlformats.org/officeDocument/2006/relationships/slide" Target="/ppt/slides/slide8.xml" Id="Rb1fc22ad0dfa48ad" /><Relationship Type="http://schemas.openxmlformats.org/officeDocument/2006/relationships/slide" Target="/ppt/slides/slide9.xml" Id="R15cae378b2ce43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0761537c524f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0e679eb9b54c70" /><Relationship Type="http://schemas.openxmlformats.org/officeDocument/2006/relationships/notesMaster" Target="/ppt/notesMasters/notesMaster1.xml" Id="R291b02ae564349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cc93590382d4460" /><Relationship Type="http://schemas.openxmlformats.org/officeDocument/2006/relationships/notesMaster" Target="/ppt/notesMasters/notesMaster1.xml" Id="Rb416ab701ee943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fae1dc20574361" /><Relationship Type="http://schemas.openxmlformats.org/officeDocument/2006/relationships/notesMaster" Target="/ppt/notesMasters/notesMaster1.xml" Id="Rfa0e05d8e6574ac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c63d94bb4c431c" /><Relationship Type="http://schemas.openxmlformats.org/officeDocument/2006/relationships/notesMaster" Target="/ppt/notesMasters/notesMaster1.xml" Id="R65819d7f4efe41c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0a6b97f77a47d2" /><Relationship Type="http://schemas.openxmlformats.org/officeDocument/2006/relationships/notesMaster" Target="/ppt/notesMasters/notesMaster1.xml" Id="R103b19c013714f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33250666dc4125" /><Relationship Type="http://schemas.openxmlformats.org/officeDocument/2006/relationships/notesMaster" Target="/ppt/notesMasters/notesMaster1.xml" Id="R08f3120b85ed45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77691658a2a42bf" /><Relationship Type="http://schemas.openxmlformats.org/officeDocument/2006/relationships/notesMaster" Target="/ppt/notesMasters/notesMaster1.xml" Id="R06839a2d9e954f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8a235948da439d" /><Relationship Type="http://schemas.openxmlformats.org/officeDocument/2006/relationships/notesMaster" Target="/ppt/notesMasters/notesMaster1.xml" Id="Re49ed9dc92c644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0bce8a7c4c945c7" /><Relationship Type="http://schemas.openxmlformats.org/officeDocument/2006/relationships/notesMaster" Target="/ppt/notesMasters/notesMaster1.xml" Id="R076c567e73934f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本页讲解：比如，今天花了几轮对话把日报做好，明天换个 Chat，同样的日期、去重和平均耗时又得重新解释。我们可以把今天用过的数据、确认的规则和核对过的结果留下来，再请 AI 把处理方法整理成 Skill。以后拿到同类数据，就有一套现成的方法可以继续用。交给同事时，他也能顺着这些资料看懂这份日报是怎么算出来、怎么验过的。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继续阅读：deep.html#practice-route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02 的当前现象与下一步目标；分享对话中用户的 Qoder 使用观察。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本页讲解：这 7 行就是我们交给 AI 的原始明细。T004 出现了两次，同一张工单只能算一次；T006 是 10 月 11 日创建的，也不该进入 10 日的日报。处理后剩下 5 张工单，其中 3 张已完成、2 张待处理。完成的 3 张分别用了 60、45、90 分钟，加起来 195 分钟，除以 3，平均就是 65 分钟。我们希望 AI 把明细整理成这样的日报，并让人能核对它怎么算的。把这些规则保存成 Skill，下次拿到新数据，就有了可以沿用的方法。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继续阅读：deep.html#ticket-practice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来源与对应：同一份虚构 practice/ticket-daily-report/tests/fixtures/normal.json 的完整 7 行；按 business-rules.md 及已确认 tests/expected/2026-10-10.json 核对。表格仅转换阅读标签，未改变原始数据。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本页讲解：刚才那份日报，在一个 Chat 里做对，就完成了当次任务。把规则和处理脚本保存成 Skill，下一次便有了可调用的方法。不过，另一位同事拿到新数据，也能做对吗？还要实际试一试。我们讲的 Skill Engineering，就是在沉淀方法之后，继续检查换对话、换数据、遇到异常时会发生什么。这样才知道，保存的方法离开原来的聊天还能不能工作。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继续阅读：deep.html#validation-scope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来源与对应：原海报、原横版课件 01 与 03 的核心公式、三步进阶与价值；价值表述为工程目标，未声称已测量收益。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本页讲解：算出 65 分钟之前，还有不少判断要做。统计哪一天、字段齐不齐、重复工单能不能合并，都影响最后的结果。假如同一个 ID 的两行耗时不同，就要停下来弄清原因，不能悄悄选一个。图里的 Workflow 管这些推进和停止的决定，Data Processing 按确认的规则去重、筛选和计算。两部分接起来，结果验过了，才把日报交出去。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来源与对应：分享对话中的二维模型与五步工单日报流程；恢复上一版遗漏的两层与两种执行方式的区分。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本页讲解：拿刚才的平均耗时来说，195 除以 3，适合交给固定脚本，下一次也按同一规则计算。AI 则可以帮助理解需求：客户说的日期是创建日期，还是完成日期？字段名称换了，含义是否相同？把这些问题说清楚之后，再交给工具执行。脚本也可能写错分母，所以我们还要拿已知结果的样例核对，不能因为用了代码就省掉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04 的完整二维分工矩阵与核心原则。关键口径仍由业务负责人确认；可变业务规则不全部写死在程序中。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本页讲解：SKILL.md 说明这项工作怎么开始、什么时候完成；详细口径放 references，处理代码放 scripts。图上的三个脚本名表示职责，参考包把它们合在 pipeline.py 中。tests 常放检查脚本的程序测试，evals 常放让 AI 实际完成任务的场景和判定标准。这是组织文件的惯例，目录都按需增加。参考包将程序检查、输入样例和已确认答案放在 tests，AI 任务与核对项放在 evals/evals.json，直接引用同一份样例和答案。实际结果另存包外的新目录。答案依据已确认的业务规则，不能照抄当前输出。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继续阅读：deep.html#directories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05 的目录架构；标准必需入口与可选目录依据 Agent Skills 规范。inspect/transform/validate 为职责示例，练习包将三阶段收在 pipeline.py，未冒充包含三个同名脚本。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目录中的脚本是职责示例。真实下载练习按三阶段 pipeline.py 执行，未安装或验证目标同事的 Qoder。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本页讲解：先在普通 Chat 中做对日报，再把规则和实际使用的脚本整理成 Skill ZIP，安装后开新 Chat。第一次还没保存规则，需要把业务口径说明白；安装后只需说“用 normal.json 生成 2026-10-10 的工单日报，保存到新的结果文件夹”。每次都重讲算法，就无法看出 Skill 是否真的保存了方法。先用 / 选择技能检查执行，再不选择技能，用自然语言试它能否自动找到。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继续阅读：deep.html#qoder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来源与对应：普通 Chat 完成、提炼、安装、新 Chat 验证的四步跟练；Qoder 官方技能指南。Agent Skills 评估指南要求场景使用真实用户会说的任务提示。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本页讲解：工单跟练先完成结果与安装复用的基础验证。理解 Evals，可以看一批固定的真实任务：选 10 个端到端需求，覆盖登录、支付、权限、超时和异常处理，用同一套 Tests 判定成功。假设 Skill V1 完成 6 个、V2 完成 8 个，成功率就是 60% 和 80%，提升 20 个百分点；同时比较质量、耗时、Token 和失败原因。Task eval 可以复用 tests 的断言，增加的价值在于整批任务的表现比较。Trigger eval 看是否正确触发，Production eval 观察真实使用中的质量、成本与失败。图中数字只是示例，需重复运行并控制模型、工具、数据和运行条件，才能判断改善是否稳定。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继续阅读：deep.html#eval-walkthrough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来源与对应：用户给定 Golden Tasks 理论示例：10 个真实 E2E 需求，V1 假设 6/10、V2 假设 8/10，相同 Tests 判定。Trigger、Task、Production 为本课教学视角，并非统一强制分类。Agent Skills 评估指南 https://agentskills.io/skill-creation/evaluating-skills 与 Anthropic Agent evals https://www.anthropic.com/engineering/demystifying-evals-for-ai-agents 支持真实任务、基线比较、程序/模型/人工评分和生产观察。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你可以从手头一件重复工作开始，不必一次做出一个大系统。选定任务后，用自评看看还缺什么，再准备几份能判断对错的样例。在新对话里跑通了，就请另一位同事拿同版本再试，看看哪些说明还不够。遇到问题，把脱敏输入、预期与实际结果和校验记录一起交给张坚、李琦。这样大家能重现问题，也更容易把修正补进下一版用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继续阅读：deep.html#migration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来源与对应：用户取消五期培训安排后的自主实践与反馈要求；本会话指定张坚、李琦作为反馈联系人。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7b4514a242456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382e01538349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c79a21e0d04cb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6a465d4443433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13238dde4c482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2c56b5dc474af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5BCE68B-17D1-4E90-B28E-5A030D3FF0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F5AB5EA-3A3A-4259-BCA4-06F33F38019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5D63E71-B4D1-408D-90F1-8845D0773C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FD037D-161D-4657-A01F-5FE3A81303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63B7E08-7F25-48AF-B57A-53E852EDE6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2B01452-E535-4648-96B5-E11FBBCB0E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27B52B-4672-4018-8849-3E798F57BD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179BC14-F079-4D44-BCC4-9237B25FC7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4EF7238-C742-4269-9569-77588AA16A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5819F36-78D6-436F-B312-1F135AA2A1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3566b3cb4c4ae8" /><Relationship Type="http://schemas.openxmlformats.org/officeDocument/2006/relationships/slideLayout" Target="/ppt/slideLayouts/slideLayout1.xml" Id="Rfaa2685a851247b9" /><Relationship Type="http://schemas.openxmlformats.org/officeDocument/2006/relationships/slideLayout" Target="/ppt/slideLayouts/slideLayout2.xml" Id="R22c1f328910f432f" /><Relationship Type="http://schemas.openxmlformats.org/officeDocument/2006/relationships/slideLayout" Target="/ppt/slideLayouts/slideLayout3.xml" Id="R1a424b9cfd274d0d" /><Relationship Type="http://schemas.openxmlformats.org/officeDocument/2006/relationships/slideLayout" Target="/ppt/slideLayouts/slideLayout4.xml" Id="Rec34627ecf75491e" /><Relationship Type="http://schemas.openxmlformats.org/officeDocument/2006/relationships/slideLayout" Target="/ppt/slideLayouts/slideLayout5.xml" Id="R65e2a595cf3744b6" /><Relationship Type="http://schemas.openxmlformats.org/officeDocument/2006/relationships/slideLayout" Target="/ppt/slideLayouts/slideLayout6.xml" Id="R33614c4c476e49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a2685a851247b9"/>
    <p:sldLayoutId xmlns:r="http://schemas.openxmlformats.org/officeDocument/2006/relationships" id="2147483650" r:id="R22c1f328910f432f"/>
    <p:sldLayoutId xmlns:r="http://schemas.openxmlformats.org/officeDocument/2006/relationships" id="2147483651" r:id="R1a424b9cfd274d0d"/>
    <p:sldLayoutId xmlns:r="http://schemas.openxmlformats.org/officeDocument/2006/relationships" id="2147483652" r:id="Rec34627ecf75491e"/>
    <p:sldLayoutId xmlns:r="http://schemas.openxmlformats.org/officeDocument/2006/relationships" id="2147483653" r:id="R65e2a595cf3744b6"/>
    <p:sldLayoutId xmlns:r="http://schemas.openxmlformats.org/officeDocument/2006/relationships" id="2147483654" r:id="R33614c4c476e49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eaa029f89b41e9" /><Relationship Type="http://schemas.openxmlformats.org/officeDocument/2006/relationships/image" Target="/ppt/media/image.png" Id="R4e1fa6e8fc384dba" /><Relationship Type="http://schemas.openxmlformats.org/officeDocument/2006/relationships/notesSlide" Target="/ppt/notesSlides/notesSlide1.xml" Id="R22b9c92c5af44bb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86d9d292b84ae7" /><Relationship Type="http://schemas.openxmlformats.org/officeDocument/2006/relationships/image" Target="/ppt/media/image2.png" Id="Rb20964a7f483470b" /><Relationship Type="http://schemas.openxmlformats.org/officeDocument/2006/relationships/notesSlide" Target="/ppt/notesSlides/notesSlide2.xml" Id="R5a0769f6c1c942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5d848d77d5d497c" /><Relationship Type="http://schemas.openxmlformats.org/officeDocument/2006/relationships/image" Target="/ppt/media/image3.png" Id="Rb6f983f5e5454def" /><Relationship Type="http://schemas.openxmlformats.org/officeDocument/2006/relationships/notesSlide" Target="/ppt/notesSlides/notesSlide3.xml" Id="Ra25a84c0602a44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c8af68979e4b82" /><Relationship Type="http://schemas.openxmlformats.org/officeDocument/2006/relationships/image" Target="/ppt/media/image4.png" Id="Ra1016fbdbf164bbf" /><Relationship Type="http://schemas.openxmlformats.org/officeDocument/2006/relationships/notesSlide" Target="/ppt/notesSlides/notesSlide4.xml" Id="R2efa599b2b3f4a7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a69fdc4d234b7c" /><Relationship Type="http://schemas.openxmlformats.org/officeDocument/2006/relationships/image" Target="/ppt/media/image5.png" Id="R689a2bef5f134e62" /><Relationship Type="http://schemas.openxmlformats.org/officeDocument/2006/relationships/notesSlide" Target="/ppt/notesSlides/notesSlide5.xml" Id="Rdf70b70397b349a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ea02879d2c46b3" /><Relationship Type="http://schemas.openxmlformats.org/officeDocument/2006/relationships/image" Target="/ppt/media/image6.png" Id="R4ec3bd874aa84653" /><Relationship Type="http://schemas.openxmlformats.org/officeDocument/2006/relationships/notesSlide" Target="/ppt/notesSlides/notesSlide6.xml" Id="Ra9a5b0da500b4f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d9cda8b2ea4734" /><Relationship Type="http://schemas.openxmlformats.org/officeDocument/2006/relationships/image" Target="/ppt/media/image7.png" Id="R2dd1fde3dd654300" /><Relationship Type="http://schemas.openxmlformats.org/officeDocument/2006/relationships/notesSlide" Target="/ppt/notesSlides/notesSlide7.xml" Id="Ra316e4f41b8a4f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be5ea412a84f38" /><Relationship Type="http://schemas.openxmlformats.org/officeDocument/2006/relationships/image" Target="/ppt/media/image8.png" Id="R7f393e620f4d4d83" /><Relationship Type="http://schemas.openxmlformats.org/officeDocument/2006/relationships/notesSlide" Target="/ppt/notesSlides/notesSlide8.xml" Id="R81dcd7c7de734d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f6d296f6384c83" /><Relationship Type="http://schemas.openxmlformats.org/officeDocument/2006/relationships/image" Target="/ppt/media/image9.png" Id="Rb8e2892cf18342cc" /><Relationship Type="http://schemas.openxmlformats.org/officeDocument/2006/relationships/notesSlide" Target="/ppt/notesSlides/notesSlide9.xml" Id="R3b8af325327e4c4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57E14E-5944-4B77-98D1-3B26D0F88E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1fa6e8fc384db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B0C4B855-67B5-40AC-BC29-3541D2BA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30842F2-EF4E-4955-B48E-F1E3356E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为什么需要 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E0599F0F-062B-4030-9983-1989C203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让一次成功的任务，沉淀为可复用、可验证、可迭代的团队能力</a:t>
            </a:r>
          </a:p>
        </p:txBody>
      </p:sp>
      <p:sp>
        <p:nvSpPr>
          <p:cNvPr id="5" name="panel-0">
            <a:extLst xmlns:a="http://schemas.openxmlformats.org/drawingml/2006/main">
              <a:ext uri="{FF2B5EF4-FFF2-40B4-BE49-F238E27FC236}">
                <a16:creationId xmlns:a16="http://schemas.microsoft.com/office/drawing/2014/main" id="{44039C1D-F438-410B-9B77-AF90014C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anel-0-label-band">
            <a:extLst xmlns:a="http://schemas.openxmlformats.org/drawingml/2006/main">
              <a:ext uri="{FF2B5EF4-FFF2-40B4-BE49-F238E27FC236}">
                <a16:creationId xmlns:a16="http://schemas.microsoft.com/office/drawing/2014/main" id="{80553E82-072A-446A-9C3A-2184FDFB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anel-0-label">
            <a:extLst xmlns:a="http://schemas.openxmlformats.org/drawingml/2006/main">
              <a:ext uri="{FF2B5EF4-FFF2-40B4-BE49-F238E27FC236}">
                <a16:creationId xmlns:a16="http://schemas.microsoft.com/office/drawing/2014/main" id="{091DF937-02EF-4188-9A2E-75F14279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当前现象</a:t>
            </a:r>
          </a:p>
        </p:txBody>
      </p:sp>
      <p:sp>
        <p:nvSpPr>
          <p:cNvPr id="8" name="item-0-0-title">
            <a:extLst xmlns:a="http://schemas.openxmlformats.org/drawingml/2006/main">
              <a:ext uri="{FF2B5EF4-FFF2-40B4-BE49-F238E27FC236}">
                <a16:creationId xmlns:a16="http://schemas.microsoft.com/office/drawing/2014/main" id="{D62CCBD5-A62A-46A7-BC6B-D6D7725EE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已经开始使用 Qoder</a:t>
            </a:r>
          </a:p>
        </p:txBody>
      </p:sp>
      <p:sp>
        <p:nvSpPr>
          <p:cNvPr id="9" name="item-0-0-body">
            <a:extLst xmlns:a="http://schemas.openxmlformats.org/drawingml/2006/main">
              <a:ext uri="{FF2B5EF4-FFF2-40B4-BE49-F238E27FC236}">
                <a16:creationId xmlns:a16="http://schemas.microsoft.com/office/drawing/2014/main" id="{BC2CB891-A697-4947-9BE6-ABBF0023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不少同事已把 AI 用到日常工作中</a:t>
            </a:r>
          </a:p>
        </p:txBody>
      </p:sp>
      <p:sp>
        <p:nvSpPr>
          <p:cNvPr id="10" name="item-0-1-title">
            <a:extLst xmlns:a="http://schemas.openxmlformats.org/drawingml/2006/main">
              <a:ext uri="{FF2B5EF4-FFF2-40B4-BE49-F238E27FC236}">
                <a16:creationId xmlns:a16="http://schemas.microsoft.com/office/drawing/2014/main" id="{CDF7E137-E023-4B54-BDDC-E9319E54E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数据处理是主要场景</a:t>
            </a:r>
          </a:p>
        </p:txBody>
      </p:sp>
      <p:sp>
        <p:nvSpPr>
          <p:cNvPr id="11" name="item-0-1-body">
            <a:extLst xmlns:a="http://schemas.openxmlformats.org/drawingml/2006/main">
              <a:ext uri="{FF2B5EF4-FFF2-40B4-BE49-F238E27FC236}">
                <a16:creationId xmlns:a16="http://schemas.microsoft.com/office/drawing/2014/main" id="{90E7355F-A53B-4F1D-A854-6C351164D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整理明细、汇总报表、解释结果</a:t>
            </a:r>
          </a:p>
        </p:txBody>
      </p:sp>
      <p:sp>
        <p:nvSpPr>
          <p:cNvPr id="12" name="item-0-2-title">
            <a:extLst xmlns:a="http://schemas.openxmlformats.org/drawingml/2006/main">
              <a:ext uri="{FF2B5EF4-FFF2-40B4-BE49-F238E27FC236}">
                <a16:creationId xmlns:a16="http://schemas.microsoft.com/office/drawing/2014/main" id="{1188443A-F80A-4369-929C-D665B7AF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主要仍通过 Chat 完成工作</a:t>
            </a:r>
          </a:p>
        </p:txBody>
      </p:sp>
      <p:sp>
        <p:nvSpPr>
          <p:cNvPr id="13" name="item-0-2-body">
            <a:extLst xmlns:a="http://schemas.openxmlformats.org/drawingml/2006/main">
              <a:ext uri="{FF2B5EF4-FFF2-40B4-BE49-F238E27FC236}">
                <a16:creationId xmlns:a16="http://schemas.microsoft.com/office/drawing/2014/main" id="{8840E031-9781-4517-8930-D8D94928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每次重新说明需求，再反复调整</a:t>
            </a:r>
          </a:p>
        </p:txBody>
      </p:sp>
      <p:sp>
        <p:nvSpPr>
          <p:cNvPr id="14" name="item-0-3-title">
            <a:extLst xmlns:a="http://schemas.openxmlformats.org/drawingml/2006/main">
              <a:ext uri="{FF2B5EF4-FFF2-40B4-BE49-F238E27FC236}">
                <a16:creationId xmlns:a16="http://schemas.microsoft.com/office/drawing/2014/main" id="{9A00E45D-69E6-4382-94F4-0A25AD51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成功经验尚未稳定沉淀</a:t>
            </a:r>
          </a:p>
        </p:txBody>
      </p:sp>
      <p:sp>
        <p:nvSpPr>
          <p:cNvPr id="15" name="item-0-3-body">
            <a:extLst xmlns:a="http://schemas.openxmlformats.org/drawingml/2006/main">
              <a:ext uri="{FF2B5EF4-FFF2-40B4-BE49-F238E27FC236}">
                <a16:creationId xmlns:a16="http://schemas.microsoft.com/office/drawing/2014/main" id="{89D1C267-53E7-4A02-A9B1-2DC3F234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换一个 Chat，往往又要从头解释</a:t>
            </a:r>
          </a:p>
        </p:txBody>
      </p:sp>
      <p:sp>
        <p:nvSpPr>
          <p:cNvPr id="16" name="panel-1">
            <a:extLst xmlns:a="http://schemas.openxmlformats.org/drawingml/2006/main">
              <a:ext uri="{FF2B5EF4-FFF2-40B4-BE49-F238E27FC236}">
                <a16:creationId xmlns:a16="http://schemas.microsoft.com/office/drawing/2014/main" id="{9993A86F-4241-4404-B739-412FF533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panel-1-label-band">
            <a:extLst xmlns:a="http://schemas.openxmlformats.org/drawingml/2006/main">
              <a:ext uri="{FF2B5EF4-FFF2-40B4-BE49-F238E27FC236}">
                <a16:creationId xmlns:a16="http://schemas.microsoft.com/office/drawing/2014/main" id="{2A23AD9B-4B0E-4EAB-A6B1-09626A054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anel-1-label">
            <a:extLst xmlns:a="http://schemas.openxmlformats.org/drawingml/2006/main">
              <a:ext uri="{FF2B5EF4-FFF2-40B4-BE49-F238E27FC236}">
                <a16:creationId xmlns:a16="http://schemas.microsoft.com/office/drawing/2014/main" id="{6499949D-0A20-4E5A-ABD2-88036CF8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下一步目标</a:t>
            </a:r>
          </a:p>
        </p:txBody>
      </p:sp>
      <p:sp>
        <p:nvSpPr>
          <p:cNvPr id="19" name="item-1-0-title">
            <a:extLst xmlns:a="http://schemas.openxmlformats.org/drawingml/2006/main">
              <a:ext uri="{FF2B5EF4-FFF2-40B4-BE49-F238E27FC236}">
                <a16:creationId xmlns:a16="http://schemas.microsoft.com/office/drawing/2014/main" id="{0D84E956-59BB-4F52-8120-1C2FBF9A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感知 Skill 的作用</a:t>
            </a:r>
          </a:p>
        </p:txBody>
      </p:sp>
      <p:sp>
        <p:nvSpPr>
          <p:cNvPr id="20" name="item-1-0-body">
            <a:extLst xmlns:a="http://schemas.openxmlformats.org/drawingml/2006/main">
              <a:ext uri="{FF2B5EF4-FFF2-40B4-BE49-F238E27FC236}">
                <a16:creationId xmlns:a16="http://schemas.microsoft.com/office/drawing/2014/main" id="{1FA8EE60-7624-42B1-8379-62555150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看见流程和规则复用带来的价值</a:t>
            </a:r>
          </a:p>
        </p:txBody>
      </p:sp>
      <p:sp>
        <p:nvSpPr>
          <p:cNvPr id="21" name="item-1-1-title">
            <a:extLst xmlns:a="http://schemas.openxmlformats.org/drawingml/2006/main">
              <a:ext uri="{FF2B5EF4-FFF2-40B4-BE49-F238E27FC236}">
                <a16:creationId xmlns:a16="http://schemas.microsoft.com/office/drawing/2014/main" id="{3D32684C-4551-4930-B5D2-25E8B0BC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一次性完成成为可复用能力</a:t>
            </a:r>
          </a:p>
        </p:txBody>
      </p:sp>
      <p:sp>
        <p:nvSpPr>
          <p:cNvPr id="22" name="item-1-1-body">
            <a:extLst xmlns:a="http://schemas.openxmlformats.org/drawingml/2006/main">
              <a:ext uri="{FF2B5EF4-FFF2-40B4-BE49-F238E27FC236}">
                <a16:creationId xmlns:a16="http://schemas.microsoft.com/office/drawing/2014/main" id="{DC947E01-674E-4B38-9DB3-4F1BB08B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把成功方法留在完整的能力包中</a:t>
            </a:r>
          </a:p>
        </p:txBody>
      </p:sp>
      <p:sp>
        <p:nvSpPr>
          <p:cNvPr id="23" name="item-1-2-title">
            <a:extLst xmlns:a="http://schemas.openxmlformats.org/drawingml/2006/main">
              <a:ext uri="{FF2B5EF4-FFF2-40B4-BE49-F238E27FC236}">
                <a16:creationId xmlns:a16="http://schemas.microsoft.com/office/drawing/2014/main" id="{7EFDC6C8-27B0-4D4F-A20E-525F8567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个人经验成为团队共同方法</a:t>
            </a:r>
          </a:p>
        </p:txBody>
      </p:sp>
      <p:sp>
        <p:nvSpPr>
          <p:cNvPr id="24" name="item-1-2-body">
            <a:extLst xmlns:a="http://schemas.openxmlformats.org/drawingml/2006/main">
              <a:ext uri="{FF2B5EF4-FFF2-40B4-BE49-F238E27FC236}">
                <a16:creationId xmlns:a16="http://schemas.microsoft.com/office/drawing/2014/main" id="{D3D4C08A-5CAB-4A11-828E-7B222351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让另一位同事也能按同一口径完成</a:t>
            </a:r>
          </a:p>
        </p:txBody>
      </p:sp>
      <p:sp>
        <p:nvSpPr>
          <p:cNvPr id="25" name="item-1-3-title">
            <a:extLst xmlns:a="http://schemas.openxmlformats.org/drawingml/2006/main">
              <a:ext uri="{FF2B5EF4-FFF2-40B4-BE49-F238E27FC236}">
                <a16:creationId xmlns:a16="http://schemas.microsoft.com/office/drawing/2014/main" id="{1BF84E8E-9A8B-41BB-B1A5-9462AF54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形成共同的工程语言</a:t>
            </a:r>
          </a:p>
        </p:txBody>
      </p:sp>
      <p:sp>
        <p:nvSpPr>
          <p:cNvPr id="26" name="item-1-3-body">
            <a:extLst xmlns:a="http://schemas.openxmlformats.org/drawingml/2006/main">
              <a:ext uri="{FF2B5EF4-FFF2-40B4-BE49-F238E27FC236}">
                <a16:creationId xmlns:a16="http://schemas.microsoft.com/office/drawing/2014/main" id="{5AEBDD1E-D4A8-4D9F-AE39-967073E3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知道如何设计、执行、验证和改进</a:t>
            </a:r>
          </a:p>
        </p:txBody>
      </p:sp>
      <p:sp>
        <p:nvSpPr>
          <p:cNvPr id="27" name="flow-arrow">
            <a:extLst xmlns:a="http://schemas.openxmlformats.org/drawingml/2006/main">
              <a:ext uri="{FF2B5EF4-FFF2-40B4-BE49-F238E27FC236}">
                <a16:creationId xmlns:a16="http://schemas.microsoft.com/office/drawing/2014/main" id="{9703ED48-6396-4B74-8211-A9EA7C992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05225"/>
            <a:ext cx="342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3090D90F-93EA-4404-A9D4-9CA06711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118664CA-DAEA-4162-B037-1D919932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把 Chat 中成功的方法沉淀为 Skill，再通过验证与复用完善它。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2FECE29B-D2F1-4B41-826B-F722B16F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89523D66-4C24-4755-967A-FA898B85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8431631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CD4E00-D3FE-4C51-B471-60B169E6E7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0964a7f483470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52E0086-8FE2-4C8B-A311-0585F474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9B82C66-A506-4BCB-B5BA-47FFBE7B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从一次数据处理任务说起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0A52ADED-B03E-4CD8-86F0-136FE492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拿到下面这份工单明细，怎样让 AI 把它整理成 10 月 10 日的日报？</a:t>
            </a:r>
          </a:p>
        </p:txBody>
      </p:sp>
      <p:sp>
        <p:nvSpPr>
          <p:cNvPr id="5" name="input-label">
            <a:extLst xmlns:a="http://schemas.openxmlformats.org/drawingml/2006/main">
              <a:ext uri="{FF2B5EF4-FFF2-40B4-BE49-F238E27FC236}">
                <a16:creationId xmlns:a16="http://schemas.microsoft.com/office/drawing/2014/main" id="{06C8DDCF-82FE-496E-B1F9-C59E669C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输入：7 行虚构工单明细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0BD5F4-76E1-46FA-87D8-4FC8DB332133}"/>
              </a:ext>
            </a:extLst>
          </p:cNvPr>
          <p:cNvGraphicFramePr/>
          <p:nvPr/>
        </p:nvGraphicFramePr>
        <p:xfrm>
          <a:off xmlns:a="http://schemas.openxmlformats.org/drawingml/2006/main" x="457200" y="2781300"/>
          <a:ext xmlns:a="http://schemas.openxmlformats.org/drawingml/2006/main" cx="561975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04875"/>
                <a:gridCol w="1676400"/>
                <a:gridCol w="1285875"/>
                <a:gridCol w="1752600"/>
              </a:tblGrid>
              <a:tr h="342900"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工单 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创建日期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耗时 / 分钟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ample-note">
            <a:extLst xmlns:a="http://schemas.openxmlformats.org/drawingml/2006/main">
              <a:ext uri="{FF2B5EF4-FFF2-40B4-BE49-F238E27FC236}">
                <a16:creationId xmlns:a16="http://schemas.microsoft.com/office/drawing/2014/main" id="{814D77AF-D7BC-4A78-BFD2-9D73F506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61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T004 重复一行；T006 属于 10 月 11 日。</a:t>
            </a:r>
          </a:p>
        </p:txBody>
      </p:sp>
      <p:sp>
        <p:nvSpPr>
          <p:cNvPr id="8" name="sample-task">
            <a:extLst xmlns:a="http://schemas.openxmlformats.org/drawingml/2006/main">
              <a:ext uri="{FF2B5EF4-FFF2-40B4-BE49-F238E27FC236}">
                <a16:creationId xmlns:a16="http://schemas.microsoft.com/office/drawing/2014/main" id="{8396330C-DD10-471D-8191-F8E66FEE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9" name="sample-task-label-band">
            <a:extLst xmlns:a="http://schemas.openxmlformats.org/drawingml/2006/main">
              <a:ext uri="{FF2B5EF4-FFF2-40B4-BE49-F238E27FC236}">
                <a16:creationId xmlns:a16="http://schemas.microsoft.com/office/drawing/2014/main" id="{24DF1DA5-9735-4476-B8AE-60807AD7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sample-task-label">
            <a:extLst xmlns:a="http://schemas.openxmlformats.org/drawingml/2006/main">
              <a:ext uri="{FF2B5EF4-FFF2-40B4-BE49-F238E27FC236}">
                <a16:creationId xmlns:a16="http://schemas.microsoft.com/office/drawing/2014/main" id="{DA9C683F-6975-4CD7-8448-3F730326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95550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交给 AI 的任务</a:t>
            </a:r>
          </a:p>
        </p:txBody>
      </p:sp>
      <p:sp>
        <p:nvSpPr>
          <p:cNvPr id="11" name="sample-task-body">
            <a:extLst xmlns:a="http://schemas.openxmlformats.org/drawingml/2006/main">
              <a:ext uri="{FF2B5EF4-FFF2-40B4-BE49-F238E27FC236}">
                <a16:creationId xmlns:a16="http://schemas.microsoft.com/office/drawing/2014/main" id="{06D81096-AD86-4221-922D-7B1E9141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0375"/>
            <a:ext cx="49625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请统计 10 月 10 日创建的工单。相同 ID 完全一致时保留一条，日期、状态或耗时不一致时停下来等我确认。告诉我总数、完成数、待处理数和完成单平均耗时。</a:t>
            </a:r>
          </a:p>
        </p:txBody>
      </p:sp>
      <p:sp>
        <p:nvSpPr>
          <p:cNvPr id="12" name="sample-output">
            <a:extLst xmlns:a="http://schemas.openxmlformats.org/drawingml/2006/main">
              <a:ext uri="{FF2B5EF4-FFF2-40B4-BE49-F238E27FC236}">
                <a16:creationId xmlns:a16="http://schemas.microsoft.com/office/drawing/2014/main" id="{E6FB641D-9071-4780-A52F-7EC42996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ample-output-label-band">
            <a:extLst xmlns:a="http://schemas.openxmlformats.org/drawingml/2006/main">
              <a:ext uri="{FF2B5EF4-FFF2-40B4-BE49-F238E27FC236}">
                <a16:creationId xmlns:a16="http://schemas.microsoft.com/office/drawing/2014/main" id="{31999FE9-228B-42A7-9290-56F04959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sample-output-label">
            <a:extLst xmlns:a="http://schemas.openxmlformats.org/drawingml/2006/main">
              <a:ext uri="{FF2B5EF4-FFF2-40B4-BE49-F238E27FC236}">
                <a16:creationId xmlns:a16="http://schemas.microsoft.com/office/drawing/2014/main" id="{D78B9132-9071-432A-A304-D91C5EE4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14825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应该交回的日报</a:t>
            </a:r>
          </a:p>
        </p:txBody>
      </p:sp>
      <p:sp>
        <p:nvSpPr>
          <p:cNvPr id="15" name="sample-output-0">
            <a:extLst xmlns:a="http://schemas.openxmlformats.org/drawingml/2006/main">
              <a:ext uri="{FF2B5EF4-FFF2-40B4-BE49-F238E27FC236}">
                <a16:creationId xmlns:a16="http://schemas.microsoft.com/office/drawing/2014/main" id="{F1F483CF-F651-4A3F-8F6D-AE20A97C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101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5 单：完成 3 单，待处理 2 单</a:t>
            </a:r>
          </a:p>
        </p:txBody>
      </p:sp>
      <p:sp>
        <p:nvSpPr>
          <p:cNvPr id="16" name="sample-output-1">
            <a:extLst xmlns:a="http://schemas.openxmlformats.org/drawingml/2006/main">
              <a:ext uri="{FF2B5EF4-FFF2-40B4-BE49-F238E27FC236}">
                <a16:creationId xmlns:a16="http://schemas.microsoft.com/office/drawing/2014/main" id="{63668904-3AD6-4931-9B6E-4A387ECA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530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完成单平均：(60 + 45 + 90) ÷ 3 = 65 分钟</a:t>
            </a:r>
          </a:p>
        </p:txBody>
      </p:sp>
      <p:sp>
        <p:nvSpPr>
          <p:cNvPr id="1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DBFFEC4D-95B3-4F20-98FF-8BA01CBD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121D864D-F860-4371-968B-90237A05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这份明细要变成一份日报：去重、按创建日期筛选，再统计数量与完成单平均耗时。</a:t>
            </a:r>
          </a:p>
        </p:txBody>
      </p:sp>
      <p:sp>
        <p:nvSpPr>
          <p:cNvPr id="19" name="byline">
            <a:extLst xmlns:a="http://schemas.openxmlformats.org/drawingml/2006/main">
              <a:ext uri="{FF2B5EF4-FFF2-40B4-BE49-F238E27FC236}">
                <a16:creationId xmlns:a16="http://schemas.microsoft.com/office/drawing/2014/main" id="{4073380F-6CD8-47D0-94F4-C0B895E8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0" name="page">
            <a:extLst xmlns:a="http://schemas.openxmlformats.org/drawingml/2006/main">
              <a:ext uri="{FF2B5EF4-FFF2-40B4-BE49-F238E27FC236}">
                <a16:creationId xmlns:a16="http://schemas.microsoft.com/office/drawing/2014/main" id="{507E8CE8-EAB7-4CB3-892A-BD882F1E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02 / 09</a:t>
            </a:r>
          </a:p>
        </p:txBody>
      </p:sp>
    </p:spTree>
    <p:extLst>
      <p:ext uri="{BB962C8B-B14F-4D97-AF65-F5344CB8AC3E}">
        <p14:creationId xmlns:p14="http://schemas.microsoft.com/office/powerpoint/2010/main" val="8153983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225AB5-F407-4D95-B92E-11DE881513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f983f5e5454de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7C5D319E-8D64-400D-9244-6191EF68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0753AA8-C5B7-4833-A61A-D38447F1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Chat、Skill、Skill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C010FC1C-D3E3-4BE2-B405-A23EEAB4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把一次成功的任务，转化成能跨对话复用、执行关键操作、具备验证机制的工作能力。</a:t>
            </a:r>
          </a:p>
        </p:txBody>
      </p:sp>
      <p:sp>
        <p:nvSpPr>
          <p:cNvPr id="5" name="formula-panel">
            <a:extLst xmlns:a="http://schemas.openxmlformats.org/drawingml/2006/main">
              <a:ext uri="{FF2B5EF4-FFF2-40B4-BE49-F238E27FC236}">
                <a16:creationId xmlns:a16="http://schemas.microsoft.com/office/drawing/2014/main" id="{F1763220-20B1-4178-B959-B983293A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formula">
            <a:extLst xmlns:a="http://schemas.openxmlformats.org/drawingml/2006/main">
              <a:ext uri="{FF2B5EF4-FFF2-40B4-BE49-F238E27FC236}">
                <a16:creationId xmlns:a16="http://schemas.microsoft.com/office/drawing/2014/main" id="{969B2076-19A2-497B-B33B-894E73775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 = Skill Design + Deterministic Execution + Validation + Evaluation + Reuse</a:t>
            </a:r>
          </a:p>
        </p:txBody>
      </p:sp>
      <p:sp>
        <p:nvSpPr>
          <p:cNvPr id="7" name="formula-zh-0">
            <a:extLst xmlns:a="http://schemas.openxmlformats.org/drawingml/2006/main">
              <a:ext uri="{FF2B5EF4-FFF2-40B4-BE49-F238E27FC236}">
                <a16:creationId xmlns:a16="http://schemas.microsoft.com/office/drawing/2014/main" id="{3F3FEC5E-C156-4414-82AA-34669997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技能设计</a:t>
            </a:r>
          </a:p>
        </p:txBody>
      </p:sp>
      <p:sp>
        <p:nvSpPr>
          <p:cNvPr id="8" name="formula-zh-1">
            <a:extLst xmlns:a="http://schemas.openxmlformats.org/drawingml/2006/main">
              <a:ext uri="{FF2B5EF4-FFF2-40B4-BE49-F238E27FC236}">
                <a16:creationId xmlns:a16="http://schemas.microsoft.com/office/drawing/2014/main" id="{823F0D61-BEFB-4FE8-9D04-84F8C641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确定性执行</a:t>
            </a:r>
          </a:p>
        </p:txBody>
      </p:sp>
      <p:sp>
        <p:nvSpPr>
          <p:cNvPr id="9" name="formula-zh-2">
            <a:extLst xmlns:a="http://schemas.openxmlformats.org/drawingml/2006/main">
              <a:ext uri="{FF2B5EF4-FFF2-40B4-BE49-F238E27FC236}">
                <a16:creationId xmlns:a16="http://schemas.microsoft.com/office/drawing/2014/main" id="{10CF96A9-2365-4E1E-B148-F3D5F726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</a:t>
            </a:r>
          </a:p>
        </p:txBody>
      </p:sp>
      <p:sp>
        <p:nvSpPr>
          <p:cNvPr id="10" name="formula-zh-3">
            <a:extLst xmlns:a="http://schemas.openxmlformats.org/drawingml/2006/main">
              <a:ext uri="{FF2B5EF4-FFF2-40B4-BE49-F238E27FC236}">
                <a16:creationId xmlns:a16="http://schemas.microsoft.com/office/drawing/2014/main" id="{2D64ABC2-81C1-42D8-A4DB-9C735321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效果评估</a:t>
            </a:r>
          </a:p>
        </p:txBody>
      </p:sp>
      <p:sp>
        <p:nvSpPr>
          <p:cNvPr id="11" name="formula-zh-4">
            <a:extLst xmlns:a="http://schemas.openxmlformats.org/drawingml/2006/main">
              <a:ext uri="{FF2B5EF4-FFF2-40B4-BE49-F238E27FC236}">
                <a16:creationId xmlns:a16="http://schemas.microsoft.com/office/drawing/2014/main" id="{E31A5B29-7C96-4105-B27A-8AFCC6EF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复用传播</a:t>
            </a:r>
          </a:p>
        </p:txBody>
      </p:sp>
      <p:sp>
        <p:nvSpPr>
          <p:cNvPr id="12" name="progression-0">
            <a:extLst xmlns:a="http://schemas.openxmlformats.org/drawingml/2006/main">
              <a:ext uri="{FF2B5EF4-FFF2-40B4-BE49-F238E27FC236}">
                <a16:creationId xmlns:a16="http://schemas.microsoft.com/office/drawing/2014/main" id="{2C0514EA-8F70-410A-97A5-1868D822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progression-0-title">
            <a:extLst xmlns:a="http://schemas.openxmlformats.org/drawingml/2006/main">
              <a:ext uri="{FF2B5EF4-FFF2-40B4-BE49-F238E27FC236}">
                <a16:creationId xmlns:a16="http://schemas.microsoft.com/office/drawing/2014/main" id="{81E9D871-1809-479D-BEFF-5A7425F0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 使用</a:t>
            </a:r>
          </a:p>
        </p:txBody>
      </p:sp>
      <p:sp>
        <p:nvSpPr>
          <p:cNvPr id="14" name="progression-0-sub">
            <a:extLst xmlns:a="http://schemas.openxmlformats.org/drawingml/2006/main">
              <a:ext uri="{FF2B5EF4-FFF2-40B4-BE49-F238E27FC236}">
                <a16:creationId xmlns:a16="http://schemas.microsoft.com/office/drawing/2014/main" id="{3A499263-1BFD-4A98-8BA5-50314976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单次完成任务</a:t>
            </a:r>
          </a:p>
        </p:txBody>
      </p:sp>
      <p:sp>
        <p:nvSpPr>
          <p:cNvPr id="15" name="progression-0-body">
            <a:extLst xmlns:a="http://schemas.openxmlformats.org/drawingml/2006/main">
              <a:ext uri="{FF2B5EF4-FFF2-40B4-BE49-F238E27FC236}">
                <a16:creationId xmlns:a16="http://schemas.microsoft.com/office/drawing/2014/main" id="{C31878CD-3C26-4BD6-B86C-037E0305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提出问题，获得答案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解决当下的任务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14BF721B-0661-47A8-8E9A-5DBFEFF1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gression-1">
            <a:extLst xmlns:a="http://schemas.openxmlformats.org/drawingml/2006/main">
              <a:ext uri="{FF2B5EF4-FFF2-40B4-BE49-F238E27FC236}">
                <a16:creationId xmlns:a16="http://schemas.microsoft.com/office/drawing/2014/main" id="{27C4BD79-61D5-41E2-82EA-3A79F630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rogression-1-title">
            <a:extLst xmlns:a="http://schemas.openxmlformats.org/drawingml/2006/main">
              <a:ext uri="{FF2B5EF4-FFF2-40B4-BE49-F238E27FC236}">
                <a16:creationId xmlns:a16="http://schemas.microsoft.com/office/drawing/2014/main" id="{55A3769F-1DF1-4643-A9DC-0BF41926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使用</a:t>
            </a:r>
          </a:p>
        </p:txBody>
      </p:sp>
      <p:sp>
        <p:nvSpPr>
          <p:cNvPr id="19" name="progression-1-sub">
            <a:extLst xmlns:a="http://schemas.openxmlformats.org/drawingml/2006/main">
              <a:ext uri="{FF2B5EF4-FFF2-40B4-BE49-F238E27FC236}">
                <a16:creationId xmlns:a16="http://schemas.microsoft.com/office/drawing/2014/main" id="{886ABA3C-F205-4890-9D21-3477B30E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复用已有能力</a:t>
            </a:r>
          </a:p>
        </p:txBody>
      </p:sp>
      <p:sp>
        <p:nvSpPr>
          <p:cNvPr id="20" name="progression-1-body">
            <a:extLst xmlns:a="http://schemas.openxmlformats.org/drawingml/2006/main">
              <a:ext uri="{FF2B5EF4-FFF2-40B4-BE49-F238E27FC236}">
                <a16:creationId xmlns:a16="http://schemas.microsoft.com/office/drawing/2014/main" id="{F36B9C7D-8E75-4B8F-87F2-9C8D22F5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调用已沉淀的流程和资源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按约定方法完成任务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924A063E-5BDB-4C64-BA59-DF476E6F0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gression-2">
            <a:extLst xmlns:a="http://schemas.openxmlformats.org/drawingml/2006/main">
              <a:ext uri="{FF2B5EF4-FFF2-40B4-BE49-F238E27FC236}">
                <a16:creationId xmlns:a16="http://schemas.microsoft.com/office/drawing/2014/main" id="{EB9AC3D1-5B73-44A2-87EE-325BFA89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progression-2-title">
            <a:extLst xmlns:a="http://schemas.openxmlformats.org/drawingml/2006/main">
              <a:ext uri="{FF2B5EF4-FFF2-40B4-BE49-F238E27FC236}">
                <a16:creationId xmlns:a16="http://schemas.microsoft.com/office/drawing/2014/main" id="{030D8E8F-4F05-4EB3-BD94-CE5F6C6A2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</a:t>
            </a:r>
          </a:p>
        </p:txBody>
      </p:sp>
      <p:sp>
        <p:nvSpPr>
          <p:cNvPr id="24" name="progression-2-sub">
            <a:extLst xmlns:a="http://schemas.openxmlformats.org/drawingml/2006/main">
              <a:ext uri="{FF2B5EF4-FFF2-40B4-BE49-F238E27FC236}">
                <a16:creationId xmlns:a16="http://schemas.microsoft.com/office/drawing/2014/main" id="{226EDA50-FB40-410C-A711-1C1F19C8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工程化沉淀与持续优化</a:t>
            </a:r>
          </a:p>
        </p:txBody>
      </p:sp>
      <p:sp>
        <p:nvSpPr>
          <p:cNvPr id="25" name="progression-2-body">
            <a:extLst xmlns:a="http://schemas.openxmlformats.org/drawingml/2006/main">
              <a:ext uri="{FF2B5EF4-FFF2-40B4-BE49-F238E27FC236}">
                <a16:creationId xmlns:a16="http://schemas.microsoft.com/office/drawing/2014/main" id="{A1609B1A-3F23-49A7-BF3F-7BA554F2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分清规则、实现与验证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换对话、换数据、换人复用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8EA4C789-0195-4A6D-905D-C24C789D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2390101F-4B1C-4F0D-BC30-F8A14769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更稳定：新 Chat 也能复现。更可靠：关键计算可验证。更高效：团队可复用、可传播。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907887A5-A3FB-4F02-8C29-73439E92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27F9E4D7-7E98-4DDD-98CF-27D1C31C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03 / 09</a:t>
            </a:r>
          </a:p>
        </p:txBody>
      </p:sp>
    </p:spTree>
    <p:extLst>
      <p:ext uri="{BB962C8B-B14F-4D97-AF65-F5344CB8AC3E}">
        <p14:creationId xmlns:p14="http://schemas.microsoft.com/office/powerpoint/2010/main" val="12869060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DA3384-5454-4D40-98B1-7D90D47789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016fbdbf164bb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B7D922CC-3580-4EF6-8B7D-27CDC926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16279E-977B-4B5D-A7C4-90F8B350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一个数据处理 Skill 的两个部分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73F9DCF5-FD15-415A-984D-C82E19E6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 安排任务怎样推进，Data Processing 完成数据的解析、转换与计算。</a:t>
            </a:r>
          </a:p>
        </p:txBody>
      </p:sp>
      <p:sp>
        <p:nvSpPr>
          <p:cNvPr id="5" name="workflow-label-band">
            <a:extLst xmlns:a="http://schemas.openxmlformats.org/drawingml/2006/main">
              <a:ext uri="{FF2B5EF4-FFF2-40B4-BE49-F238E27FC236}">
                <a16:creationId xmlns:a16="http://schemas.microsoft.com/office/drawing/2014/main" id="{B6869473-EF68-4BBA-A1D8-12D34A94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112776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30E1CD18-7BF0-43F8-A479-B4A504B18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1093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Workflow：任务怎样推进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0B29747A-E8A6-4A57-8414-0FF4EAD9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14FD34C8-2ACA-432A-945C-4CDBB3B8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F62F4EBA-7AF6-4496-B0A9-A52C053F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理解任务</a:t>
            </a:r>
          </a:p>
        </p:txBody>
      </p:sp>
      <p:sp>
        <p:nvSpPr>
          <p:cNvPr id="10" name="step-0-body">
            <a:extLst xmlns:a="http://schemas.openxmlformats.org/drawingml/2006/main">
              <a:ext uri="{FF2B5EF4-FFF2-40B4-BE49-F238E27FC236}">
                <a16:creationId xmlns:a16="http://schemas.microsoft.com/office/drawing/2014/main" id="{1FCBDF9C-97D6-44C4-945C-62DC61A92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确认目标与业务规则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ACE19C12-F191-4739-B0A8-7DDCDDA5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8246416B-46ED-4A7A-AA62-08B9A3AA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1A228874-2562-4B95-96F5-8CA6954F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4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3DEA3FB4-ECF7-4306-AAF6-8F0C403E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检查输入</a:t>
            </a:r>
          </a:p>
        </p:txBody>
      </p:sp>
      <p:sp>
        <p:nvSpPr>
          <p:cNvPr id="15" name="step-1-body">
            <a:extLst xmlns:a="http://schemas.openxmlformats.org/drawingml/2006/main">
              <a:ext uri="{FF2B5EF4-FFF2-40B4-BE49-F238E27FC236}">
                <a16:creationId xmlns:a16="http://schemas.microsoft.com/office/drawing/2014/main" id="{1F23B822-7596-4890-9106-74CEED10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核对字段、类型、日期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E782308D-A0B2-41BC-8ABA-9D01EC60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7047CBCF-72D3-4153-918D-A97D8D00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5A7B0E57-4602-44ED-B04E-524F43E1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9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DB5A2488-F26B-4C04-AAAC-8EE3F5B9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执行处理</a:t>
            </a:r>
          </a:p>
        </p:txBody>
      </p:sp>
      <p:sp>
        <p:nvSpPr>
          <p:cNvPr id="20" name="step-2-body">
            <a:extLst xmlns:a="http://schemas.openxmlformats.org/drawingml/2006/main">
              <a:ext uri="{FF2B5EF4-FFF2-40B4-BE49-F238E27FC236}">
                <a16:creationId xmlns:a16="http://schemas.microsoft.com/office/drawing/2014/main" id="{F4B8AF2D-6986-4B61-ADB1-B911B013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筛选、关联、去重、汇总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A7257866-8AEA-4EBA-A378-95931B7C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C99E4B01-2EE8-4509-8AE1-D4B3F9A6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B441C702-1D69-455D-A5AF-1158062F3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4" name="step-3-title">
            <a:extLst xmlns:a="http://schemas.openxmlformats.org/drawingml/2006/main">
              <a:ext uri="{FF2B5EF4-FFF2-40B4-BE49-F238E27FC236}">
                <a16:creationId xmlns:a16="http://schemas.microsoft.com/office/drawing/2014/main" id="{7819DB54-40B7-4334-893E-B6B8E484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验证结果</a:t>
            </a:r>
          </a:p>
        </p:txBody>
      </p:sp>
      <p:sp>
        <p:nvSpPr>
          <p:cNvPr id="2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D41DAF1E-7FA1-4BD5-846C-168675AD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每次核对，失败停止</a:t>
            </a:r>
          </a:p>
        </p:txBody>
      </p:sp>
      <p:sp>
        <p:nvSpPr>
          <p:cNvPr id="26" name="flow-arrow">
            <a:extLst xmlns:a="http://schemas.openxmlformats.org/drawingml/2006/main">
              <a:ext uri="{FF2B5EF4-FFF2-40B4-BE49-F238E27FC236}">
                <a16:creationId xmlns:a16="http://schemas.microsoft.com/office/drawing/2014/main" id="{09408D66-31D3-46AB-9AE2-B0919C54D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ep-4">
            <a:extLst xmlns:a="http://schemas.openxmlformats.org/drawingml/2006/main">
              <a:ext uri="{FF2B5EF4-FFF2-40B4-BE49-F238E27FC236}">
                <a16:creationId xmlns:a16="http://schemas.microsoft.com/office/drawing/2014/main" id="{48736570-7FE2-4655-BFC7-D921FA3A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8" name="step-4-number">
            <a:extLst xmlns:a="http://schemas.openxmlformats.org/drawingml/2006/main">
              <a:ext uri="{FF2B5EF4-FFF2-40B4-BE49-F238E27FC236}">
                <a16:creationId xmlns:a16="http://schemas.microsoft.com/office/drawing/2014/main" id="{681047F8-8FCA-42FC-8B83-B2D43F6B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29" name="step-4-title">
            <a:extLst xmlns:a="http://schemas.openxmlformats.org/drawingml/2006/main">
              <a:ext uri="{FF2B5EF4-FFF2-40B4-BE49-F238E27FC236}">
                <a16:creationId xmlns:a16="http://schemas.microsoft.com/office/drawing/2014/main" id="{B3F5C514-59E0-4747-9FE6-44D00512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分析交付</a:t>
            </a:r>
          </a:p>
        </p:txBody>
      </p:sp>
      <p:sp>
        <p:nvSpPr>
          <p:cNvPr id="30" name="step-4-body">
            <a:extLst xmlns:a="http://schemas.openxmlformats.org/drawingml/2006/main">
              <a:ext uri="{FF2B5EF4-FFF2-40B4-BE49-F238E27FC236}">
                <a16:creationId xmlns:a16="http://schemas.microsoft.com/office/drawing/2014/main" id="{DFAA2A15-C6E6-4E36-9533-610D2048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解释结果并交付报表</a:t>
            </a:r>
          </a:p>
        </p:txBody>
      </p:sp>
      <p:sp>
        <p:nvSpPr>
          <p:cNvPr id="31" name="workflow-part-0">
            <a:extLst xmlns:a="http://schemas.openxmlformats.org/drawingml/2006/main">
              <a:ext uri="{FF2B5EF4-FFF2-40B4-BE49-F238E27FC236}">
                <a16:creationId xmlns:a16="http://schemas.microsoft.com/office/drawing/2014/main" id="{9AF27AAC-09A3-40D1-8DE1-D1812811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2" name="workflow-part-0-label">
            <a:extLst xmlns:a="http://schemas.openxmlformats.org/drawingml/2006/main">
              <a:ext uri="{FF2B5EF4-FFF2-40B4-BE49-F238E27FC236}">
                <a16:creationId xmlns:a16="http://schemas.microsoft.com/office/drawing/2014/main" id="{DFA8A18F-2494-4DC0-8590-4349EFF84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Workflow（工作流）</a:t>
            </a:r>
          </a:p>
        </p:txBody>
      </p:sp>
      <p:sp>
        <p:nvSpPr>
          <p:cNvPr id="33" name="workflow-part-0-body">
            <a:extLst xmlns:a="http://schemas.openxmlformats.org/drawingml/2006/main">
              <a:ext uri="{FF2B5EF4-FFF2-40B4-BE49-F238E27FC236}">
                <a16:creationId xmlns:a16="http://schemas.microsoft.com/office/drawing/2014/main" id="{D395E7A9-371B-46C4-A0E6-78A82254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决定步骤顺序、如何处理歧义、何时继续、何时停止。</a:t>
            </a:r>
          </a:p>
        </p:txBody>
      </p:sp>
      <p:sp>
        <p:nvSpPr>
          <p:cNvPr id="34" name="workflow-part-1">
            <a:extLst xmlns:a="http://schemas.openxmlformats.org/drawingml/2006/main">
              <a:ext uri="{FF2B5EF4-FFF2-40B4-BE49-F238E27FC236}">
                <a16:creationId xmlns:a16="http://schemas.microsoft.com/office/drawing/2014/main" id="{4AB26D7B-340F-4431-9BB9-E82DD37A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5" name="workflow-part-1-label">
            <a:extLst xmlns:a="http://schemas.openxmlformats.org/drawingml/2006/main">
              <a:ext uri="{FF2B5EF4-FFF2-40B4-BE49-F238E27FC236}">
                <a16:creationId xmlns:a16="http://schemas.microsoft.com/office/drawing/2014/main" id="{B099E945-2259-41EF-976E-EE103EEB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Data Processing（数据处理）</a:t>
            </a:r>
          </a:p>
        </p:txBody>
      </p:sp>
      <p:sp>
        <p:nvSpPr>
          <p:cNvPr id="36" name="workflow-part-1-body">
            <a:extLst xmlns:a="http://schemas.openxmlformats.org/drawingml/2006/main">
              <a:ext uri="{FF2B5EF4-FFF2-40B4-BE49-F238E27FC236}">
                <a16:creationId xmlns:a16="http://schemas.microsoft.com/office/drawing/2014/main" id="{DED599FB-39BD-4265-BC44-88257352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按确认的规则完成运算，并返回结果、异常与校验信息。</a:t>
            </a:r>
          </a:p>
        </p:txBody>
      </p:sp>
      <p:sp>
        <p:nvSpPr>
          <p:cNvPr id="3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914E98ED-BC35-4348-A567-8FBA4598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635575F3-DEF4-433C-8D41-D68EC5D3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Workflow 安排执行与停止；每次运行通过结果校验后，再分析交付。</a:t>
            </a:r>
          </a:p>
        </p:txBody>
      </p:sp>
      <p:sp>
        <p:nvSpPr>
          <p:cNvPr id="39" name="byline">
            <a:extLst xmlns:a="http://schemas.openxmlformats.org/drawingml/2006/main">
              <a:ext uri="{FF2B5EF4-FFF2-40B4-BE49-F238E27FC236}">
                <a16:creationId xmlns:a16="http://schemas.microsoft.com/office/drawing/2014/main" id="{935E6600-1B87-4D73-A086-08586644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40" name="page">
            <a:extLst xmlns:a="http://schemas.openxmlformats.org/drawingml/2006/main">
              <a:ext uri="{FF2B5EF4-FFF2-40B4-BE49-F238E27FC236}">
                <a16:creationId xmlns:a16="http://schemas.microsoft.com/office/drawing/2014/main" id="{AAE646D9-ED77-44ED-BC60-A5B908F2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04 / 09</a:t>
            </a:r>
          </a:p>
        </p:txBody>
      </p:sp>
    </p:spTree>
    <p:extLst>
      <p:ext uri="{BB962C8B-B14F-4D97-AF65-F5344CB8AC3E}">
        <p14:creationId xmlns:p14="http://schemas.microsoft.com/office/powerpoint/2010/main" val="9799333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17BEE7-FF39-4071-AD3E-7325EBCFEA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a2bef5f134e6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A1349287-B5EA-405C-B007-99647C42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59A93AF-5FB9-4413-A0FF-A2027229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AI 推理 vs 确定性执行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2818711F-1B52-4B11-AA96-38071791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在工作流与数据处理两个层次上，分别确定 AI 和固定代码的职责。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8370E-7D15-477D-AB76-3BE5D94CBF51}"/>
              </a:ext>
            </a:extLst>
          </p:cNvPr>
          <p:cNvGraphicFramePr/>
          <p:nvPr/>
        </p:nvGraphicFramePr>
        <p:xfrm>
          <a:off xmlns:a="http://schemas.openxmlformats.org/drawingml/2006/main" x="457200" y="2381250"/>
          <a:ext xmlns:a="http://schemas.openxmlformats.org/drawingml/2006/main" cx="112776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305300"/>
              </a:tblGrid>
              <a:tr h="4953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工作层次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AI 推理负责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确定性实现负责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Workflow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工作流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识别任务意图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判断异常原因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选择处理策略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固定步骤顺序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状态检查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必经校验、停止条件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Data Processing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数据处理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理解字段含义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识别非标准格式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解释异常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筛选、关联、去重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汇总、金额计算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格式验证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6E07097C-FC88-407B-AEB9-7E4B8DDE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F53A1C67-FCB5-49E3-9E08-450ADC7E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让 Agent 处理不确定性，让代码处理确定性，让验证机制决定结果是否可信。</a:t>
            </a:r>
          </a:p>
        </p:txBody>
      </p:sp>
      <p:sp>
        <p:nvSpPr>
          <p:cNvPr id="8" name="byline">
            <a:extLst xmlns:a="http://schemas.openxmlformats.org/drawingml/2006/main">
              <a:ext uri="{FF2B5EF4-FFF2-40B4-BE49-F238E27FC236}">
                <a16:creationId xmlns:a16="http://schemas.microsoft.com/office/drawing/2014/main" id="{6612A7CB-7EEA-4030-8944-BA7D1AAF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19FB9C4F-8A7F-4A9F-AC58-EBF95474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05 / 09</a:t>
            </a:r>
          </a:p>
        </p:txBody>
      </p:sp>
    </p:spTree>
    <p:extLst>
      <p:ext uri="{BB962C8B-B14F-4D97-AF65-F5344CB8AC3E}">
        <p14:creationId xmlns:p14="http://schemas.microsoft.com/office/powerpoint/2010/main" val="8661927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BF1ABD-0934-4BB6-8EC3-E652FC1F4C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c3bd874aa8465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98A0AFF0-0EDC-45EC-B762-E7F0998B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627F7A-C91A-4606-8A6B-DD3DC58F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一个好的 Skill 长什么样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D067EF6E-C322-46F1-9629-2A64EAEA3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SKILL.md 保留入口与行为契约，详细 Spec 与 Implementation 按职责分开。</a:t>
            </a:r>
          </a:p>
        </p:txBody>
      </p:sp>
      <p:sp>
        <p:nvSpPr>
          <p:cNvPr id="5" name="skill-root">
            <a:extLst xmlns:a="http://schemas.openxmlformats.org/drawingml/2006/main">
              <a:ext uri="{FF2B5EF4-FFF2-40B4-BE49-F238E27FC236}">
                <a16:creationId xmlns:a16="http://schemas.microsoft.com/office/drawing/2014/main" id="{A25D2492-AB3D-432B-8406-C8FF6D18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4638675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3F2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skill-root-label">
            <a:extLst xmlns:a="http://schemas.openxmlformats.org/drawingml/2006/main">
              <a:ext uri="{FF2B5EF4-FFF2-40B4-BE49-F238E27FC236}">
                <a16:creationId xmlns:a16="http://schemas.microsoft.com/office/drawing/2014/main" id="{E1F39A04-9450-4595-8064-147E28D3E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90775"/>
            <a:ext cx="43719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ticket-daily-report/</a:t>
            </a:r>
          </a:p>
        </p:txBody>
      </p:sp>
      <p:sp>
        <p:nvSpPr>
          <p:cNvPr id="7" name="root-stem">
            <a:extLst xmlns:a="http://schemas.openxmlformats.org/drawingml/2006/main">
              <a:ext uri="{FF2B5EF4-FFF2-40B4-BE49-F238E27FC236}">
                <a16:creationId xmlns:a16="http://schemas.microsoft.com/office/drawing/2014/main" id="{310DD316-C775-486F-B793-0AFB331D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90825"/>
            <a:ext cx="285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rectory-branch">
            <a:extLst xmlns:a="http://schemas.openxmlformats.org/drawingml/2006/main">
              <a:ext uri="{FF2B5EF4-FFF2-40B4-BE49-F238E27FC236}">
                <a16:creationId xmlns:a16="http://schemas.microsoft.com/office/drawing/2014/main" id="{5F19E30D-B285-464E-A20D-74ADC263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990850"/>
            <a:ext cx="8782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rectory-stem-0">
            <a:extLst xmlns:a="http://schemas.openxmlformats.org/drawingml/2006/main">
              <a:ext uri="{FF2B5EF4-FFF2-40B4-BE49-F238E27FC236}">
                <a16:creationId xmlns:a16="http://schemas.microsoft.com/office/drawing/2014/main" id="{D19BA01C-BC3E-46B0-BD62-C89A74FE3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rectory-stem-1">
            <a:extLst xmlns:a="http://schemas.openxmlformats.org/drawingml/2006/main">
              <a:ext uri="{FF2B5EF4-FFF2-40B4-BE49-F238E27FC236}">
                <a16:creationId xmlns:a16="http://schemas.microsoft.com/office/drawing/2014/main" id="{00CD63F7-C164-4AF1-B6FA-DD4B3942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irectory-stem-2">
            <a:extLst xmlns:a="http://schemas.openxmlformats.org/drawingml/2006/main">
              <a:ext uri="{FF2B5EF4-FFF2-40B4-BE49-F238E27FC236}">
                <a16:creationId xmlns:a16="http://schemas.microsoft.com/office/drawing/2014/main" id="{1ECB29F7-5DA0-4B37-BFD1-C1F36080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irectory-stem-3">
            <a:extLst xmlns:a="http://schemas.openxmlformats.org/drawingml/2006/main">
              <a:ext uri="{FF2B5EF4-FFF2-40B4-BE49-F238E27FC236}">
                <a16:creationId xmlns:a16="http://schemas.microsoft.com/office/drawing/2014/main" id="{DCB3CD3F-697F-4F12-A14E-13C15214D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ory-0">
            <a:extLst xmlns:a="http://schemas.openxmlformats.org/drawingml/2006/main">
              <a:ext uri="{FF2B5EF4-FFF2-40B4-BE49-F238E27FC236}">
                <a16:creationId xmlns:a16="http://schemas.microsoft.com/office/drawing/2014/main" id="{617FD463-0D34-4938-A8DC-E4EC0AE51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directory-0-label">
            <a:extLst xmlns:a="http://schemas.openxmlformats.org/drawingml/2006/main">
              <a:ext uri="{FF2B5EF4-FFF2-40B4-BE49-F238E27FC236}">
                <a16:creationId xmlns:a16="http://schemas.microsoft.com/office/drawing/2014/main" id="{43BF985A-A869-4133-BA77-07D5FDC3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SKILL.md</a:t>
            </a:r>
          </a:p>
        </p:txBody>
      </p:sp>
      <p:sp>
        <p:nvSpPr>
          <p:cNvPr id="15" name="directory-0-sub">
            <a:extLst xmlns:a="http://schemas.openxmlformats.org/drawingml/2006/main">
              <a:ext uri="{FF2B5EF4-FFF2-40B4-BE49-F238E27FC236}">
                <a16:creationId xmlns:a16="http://schemas.microsoft.com/office/drawing/2014/main" id="{36D12176-9548-4D56-BA41-24555157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执行入口与行为契约</a:t>
            </a:r>
          </a:p>
        </p:txBody>
      </p:sp>
      <p:sp>
        <p:nvSpPr>
          <p:cNvPr id="16" name="directory-0-body">
            <a:extLst xmlns:a="http://schemas.openxmlformats.org/drawingml/2006/main">
              <a:ext uri="{FF2B5EF4-FFF2-40B4-BE49-F238E27FC236}">
                <a16:creationId xmlns:a16="http://schemas.microsoft.com/office/drawing/2014/main" id="{387E1DDE-83BE-4441-9BA0-02015A36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何时使用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执行路径与分支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完成与停止条件</a:t>
            </a:r>
          </a:p>
        </p:txBody>
      </p:sp>
      <p:sp>
        <p:nvSpPr>
          <p:cNvPr id="17" name="directory-1">
            <a:extLst xmlns:a="http://schemas.openxmlformats.org/drawingml/2006/main">
              <a:ext uri="{FF2B5EF4-FFF2-40B4-BE49-F238E27FC236}">
                <a16:creationId xmlns:a16="http://schemas.microsoft.com/office/drawing/2014/main" id="{5C12A284-4E73-4ED3-A912-28B435C06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directory-1-label">
            <a:extLst xmlns:a="http://schemas.openxmlformats.org/drawingml/2006/main">
              <a:ext uri="{FF2B5EF4-FFF2-40B4-BE49-F238E27FC236}">
                <a16:creationId xmlns:a16="http://schemas.microsoft.com/office/drawing/2014/main" id="{B3591AC6-9B52-45BC-92D7-39C9D0EE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references/</a:t>
            </a:r>
          </a:p>
        </p:txBody>
      </p:sp>
      <p:sp>
        <p:nvSpPr>
          <p:cNvPr id="19" name="directory-1-sub">
            <a:extLst xmlns:a="http://schemas.openxmlformats.org/drawingml/2006/main">
              <a:ext uri="{FF2B5EF4-FFF2-40B4-BE49-F238E27FC236}">
                <a16:creationId xmlns:a16="http://schemas.microsoft.com/office/drawing/2014/main" id="{FFBB6F26-78D8-4109-988C-D69BC792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业务与技术 Spec</a:t>
            </a:r>
          </a:p>
        </p:txBody>
      </p:sp>
      <p:sp>
        <p:nvSpPr>
          <p:cNvPr id="20" name="directory-1-body">
            <a:extLst xmlns:a="http://schemas.openxmlformats.org/drawingml/2006/main">
              <a:ext uri="{FF2B5EF4-FFF2-40B4-BE49-F238E27FC236}">
                <a16:creationId xmlns:a16="http://schemas.microsoft.com/office/drawing/2014/main" id="{F7C801F7-128F-48BA-B7CC-E4228B55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data-contract.md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business-rules.md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workflow-spec.md</a:t>
            </a:r>
          </a:p>
        </p:txBody>
      </p:sp>
      <p:sp>
        <p:nvSpPr>
          <p:cNvPr id="21" name="directory-2">
            <a:extLst xmlns:a="http://schemas.openxmlformats.org/drawingml/2006/main">
              <a:ext uri="{FF2B5EF4-FFF2-40B4-BE49-F238E27FC236}">
                <a16:creationId xmlns:a16="http://schemas.microsoft.com/office/drawing/2014/main" id="{3BAF8D4F-E94C-4DE7-8DAE-9F125B91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2" name="directory-2-label">
            <a:extLst xmlns:a="http://schemas.openxmlformats.org/drawingml/2006/main">
              <a:ext uri="{FF2B5EF4-FFF2-40B4-BE49-F238E27FC236}">
                <a16:creationId xmlns:a16="http://schemas.microsoft.com/office/drawing/2014/main" id="{EA2E776F-BA1B-4CDA-9936-E26954EE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scripts/</a:t>
            </a:r>
          </a:p>
        </p:txBody>
      </p:sp>
      <p:sp>
        <p:nvSpPr>
          <p:cNvPr id="23" name="directory-2-sub">
            <a:extLst xmlns:a="http://schemas.openxmlformats.org/drawingml/2006/main">
              <a:ext uri="{FF2B5EF4-FFF2-40B4-BE49-F238E27FC236}">
                <a16:creationId xmlns:a16="http://schemas.microsoft.com/office/drawing/2014/main" id="{9B2661D0-4EB4-44ED-99A5-B05CFEDB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确定性实现</a:t>
            </a:r>
          </a:p>
        </p:txBody>
      </p:sp>
      <p:sp>
        <p:nvSpPr>
          <p:cNvPr id="24" name="directory-2-body">
            <a:extLst xmlns:a="http://schemas.openxmlformats.org/drawingml/2006/main">
              <a:ext uri="{FF2B5EF4-FFF2-40B4-BE49-F238E27FC236}">
                <a16:creationId xmlns:a16="http://schemas.microsoft.com/office/drawing/2014/main" id="{D5429A42-C606-499A-82FA-5378F6B3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输入检查 inspect.py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数据处理 transform.py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 validate.py</a:t>
            </a:r>
          </a:p>
        </p:txBody>
      </p:sp>
      <p:sp>
        <p:nvSpPr>
          <p:cNvPr id="25" name="directory-3">
            <a:extLst xmlns:a="http://schemas.openxmlformats.org/drawingml/2006/main">
              <a:ext uri="{FF2B5EF4-FFF2-40B4-BE49-F238E27FC236}">
                <a16:creationId xmlns:a16="http://schemas.microsoft.com/office/drawing/2014/main" id="{8D48EA65-643A-47CD-8FAC-52FCB540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333750"/>
            <a:ext cx="2505075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directory-3-label">
            <a:extLst xmlns:a="http://schemas.openxmlformats.org/drawingml/2006/main">
              <a:ext uri="{FF2B5EF4-FFF2-40B4-BE49-F238E27FC236}">
                <a16:creationId xmlns:a16="http://schemas.microsoft.com/office/drawing/2014/main" id="{EC7156F5-0D37-4E4E-82FD-EB35D6A6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14725"/>
            <a:ext cx="22002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assets/</a:t>
            </a:r>
          </a:p>
        </p:txBody>
      </p:sp>
      <p:sp>
        <p:nvSpPr>
          <p:cNvPr id="27" name="directory-3-sub">
            <a:extLst xmlns:a="http://schemas.openxmlformats.org/drawingml/2006/main">
              <a:ext uri="{FF2B5EF4-FFF2-40B4-BE49-F238E27FC236}">
                <a16:creationId xmlns:a16="http://schemas.microsoft.com/office/drawing/2014/main" id="{3ED21863-BDB2-418B-A8EE-966B94349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933825"/>
            <a:ext cx="22002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模板与静态资源</a:t>
            </a:r>
          </a:p>
        </p:txBody>
      </p:sp>
      <p:sp>
        <p:nvSpPr>
          <p:cNvPr id="28" name="directory-3-body">
            <a:extLst xmlns:a="http://schemas.openxmlformats.org/drawingml/2006/main">
              <a:ext uri="{FF2B5EF4-FFF2-40B4-BE49-F238E27FC236}">
                <a16:creationId xmlns:a16="http://schemas.microsoft.com/office/drawing/2014/main" id="{06AE847E-6362-448B-821A-CD3B51A3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333875"/>
            <a:ext cx="22002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报表模板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实际需要的图片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其他输出资源</a:t>
            </a:r>
          </a:p>
        </p:txBody>
      </p:sp>
      <p:sp>
        <p:nvSpPr>
          <p:cNvPr id="29" name="optional-directories">
            <a:extLst xmlns:a="http://schemas.openxmlformats.org/drawingml/2006/main">
              <a:ext uri="{FF2B5EF4-FFF2-40B4-BE49-F238E27FC236}">
                <a16:creationId xmlns:a16="http://schemas.microsoft.com/office/drawing/2014/main" id="{91199664-653F-43E3-95DC-49A7E240B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3525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常见扩展：tests/ 放程序测试，evals/ 放 AI 任务评估场景与判定标准。</a:t>
            </a:r>
          </a:p>
        </p:txBody>
      </p:sp>
      <p:sp>
        <p:nvSpPr>
          <p:cNvPr id="30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30778D37-0759-4E31-A5FA-59949B0E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1" name="takeaway">
            <a:extLst xmlns:a="http://schemas.openxmlformats.org/drawingml/2006/main">
              <a:ext uri="{FF2B5EF4-FFF2-40B4-BE49-F238E27FC236}">
                <a16:creationId xmlns:a16="http://schemas.microsoft.com/office/drawing/2014/main" id="{A3064C35-F641-487A-94BF-8D15AA01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主文件简洁，细节按需加载（Progressive Disclosure）。简单任务可以只有 SKILL.md。</a:t>
            </a:r>
          </a:p>
        </p:txBody>
      </p:sp>
      <p:sp>
        <p:nvSpPr>
          <p:cNvPr id="32" name="byline">
            <a:extLst xmlns:a="http://schemas.openxmlformats.org/drawingml/2006/main">
              <a:ext uri="{FF2B5EF4-FFF2-40B4-BE49-F238E27FC236}">
                <a16:creationId xmlns:a16="http://schemas.microsoft.com/office/drawing/2014/main" id="{BE95D554-C2A2-4343-9B97-AEA30219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3" name="page">
            <a:extLst xmlns:a="http://schemas.openxmlformats.org/drawingml/2006/main">
              <a:ext uri="{FF2B5EF4-FFF2-40B4-BE49-F238E27FC236}">
                <a16:creationId xmlns:a16="http://schemas.microsoft.com/office/drawing/2014/main" id="{BADE2BB0-8357-4759-93A4-B2921AAC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06 / 09</a:t>
            </a:r>
          </a:p>
        </p:txBody>
      </p:sp>
    </p:spTree>
    <p:extLst>
      <p:ext uri="{BB962C8B-B14F-4D97-AF65-F5344CB8AC3E}">
        <p14:creationId xmlns:p14="http://schemas.microsoft.com/office/powerpoint/2010/main" val="19283555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05F3CC-87BF-4ECD-8EB9-E90573E11B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1fde3dd65430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1E4DED0D-AED8-4E62-A0CA-1CEEA1DB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5EBC59-0C4A-4619-B7BD-186002CE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Qoder 实操：沉淀一个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5E6D8C26-8626-4B41-B552-9176B435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以已经做对的工单日报为起点，把任务方法整理成能独立执行的能力包。</a:t>
            </a:r>
          </a:p>
        </p:txBody>
      </p:sp>
      <p:sp>
        <p:nvSpPr>
          <p:cNvPr id="5" name="qoder-step-0">
            <a:extLst xmlns:a="http://schemas.openxmlformats.org/drawingml/2006/main">
              <a:ext uri="{FF2B5EF4-FFF2-40B4-BE49-F238E27FC236}">
                <a16:creationId xmlns:a16="http://schemas.microsoft.com/office/drawing/2014/main" id="{FA48B750-E4B1-4223-B2C5-62B493AB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qoder-step-0-number">
            <a:extLst xmlns:a="http://schemas.openxmlformats.org/drawingml/2006/main">
              <a:ext uri="{FF2B5EF4-FFF2-40B4-BE49-F238E27FC236}">
                <a16:creationId xmlns:a16="http://schemas.microsoft.com/office/drawing/2014/main" id="{19DF1820-D5E8-4B9A-91E4-4E58A100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7" name="qoder-step-0-label">
            <a:extLst xmlns:a="http://schemas.openxmlformats.org/drawingml/2006/main">
              <a:ext uri="{FF2B5EF4-FFF2-40B4-BE49-F238E27FC236}">
                <a16:creationId xmlns:a16="http://schemas.microsoft.com/office/drawing/2014/main" id="{661317F1-F870-427E-B3B8-82B9495A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成功任务</a:t>
            </a:r>
          </a:p>
        </p:txBody>
      </p:sp>
      <p:sp>
        <p:nvSpPr>
          <p:cNvPr id="8" name="qoder-step-0-body">
            <a:extLst xmlns:a="http://schemas.openxmlformats.org/drawingml/2006/main">
              <a:ext uri="{FF2B5EF4-FFF2-40B4-BE49-F238E27FC236}">
                <a16:creationId xmlns:a16="http://schemas.microsoft.com/office/drawing/2014/main" id="{E4505E38-FA00-4103-B0DC-1618E49F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保存输入、口径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和核对过的结果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A463C4BB-BEB1-48C0-AD85-9BD80444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qoder-step-1">
            <a:extLst xmlns:a="http://schemas.openxmlformats.org/drawingml/2006/main">
              <a:ext uri="{FF2B5EF4-FFF2-40B4-BE49-F238E27FC236}">
                <a16:creationId xmlns:a16="http://schemas.microsoft.com/office/drawing/2014/main" id="{559344EB-F49D-475F-9A51-BC21D635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qoder-step-1-number">
            <a:extLst xmlns:a="http://schemas.openxmlformats.org/drawingml/2006/main">
              <a:ext uri="{FF2B5EF4-FFF2-40B4-BE49-F238E27FC236}">
                <a16:creationId xmlns:a16="http://schemas.microsoft.com/office/drawing/2014/main" id="{A6ACD58E-FAC3-4871-987A-5A7AFB62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qoder-step-1-label">
            <a:extLst xmlns:a="http://schemas.openxmlformats.org/drawingml/2006/main">
              <a:ext uri="{FF2B5EF4-FFF2-40B4-BE49-F238E27FC236}">
                <a16:creationId xmlns:a16="http://schemas.microsoft.com/office/drawing/2014/main" id="{E75BE514-480A-4E23-A93F-B499F8BB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提炼 Skill</a:t>
            </a:r>
          </a:p>
        </p:txBody>
      </p:sp>
      <p:sp>
        <p:nvSpPr>
          <p:cNvPr id="13" name="qoder-step-1-body">
            <a:extLst xmlns:a="http://schemas.openxmlformats.org/drawingml/2006/main">
              <a:ext uri="{FF2B5EF4-FFF2-40B4-BE49-F238E27FC236}">
                <a16:creationId xmlns:a16="http://schemas.microsoft.com/office/drawing/2014/main" id="{99D7550D-C7E1-4EDB-9CA8-ED7DC0B7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写清契约与流程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保存关键处理脚本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3593B119-C456-4E9F-BA9F-872E41FE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qoder-step-2">
            <a:extLst xmlns:a="http://schemas.openxmlformats.org/drawingml/2006/main">
              <a:ext uri="{FF2B5EF4-FFF2-40B4-BE49-F238E27FC236}">
                <a16:creationId xmlns:a16="http://schemas.microsoft.com/office/drawing/2014/main" id="{0A32C9E1-6884-46B2-A894-877A4E93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qoder-step-2-number">
            <a:extLst xmlns:a="http://schemas.openxmlformats.org/drawingml/2006/main">
              <a:ext uri="{FF2B5EF4-FFF2-40B4-BE49-F238E27FC236}">
                <a16:creationId xmlns:a16="http://schemas.microsoft.com/office/drawing/2014/main" id="{C3EC900C-1783-453B-8E7A-2D9D57EC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7" name="qoder-step-2-label">
            <a:extLst xmlns:a="http://schemas.openxmlformats.org/drawingml/2006/main">
              <a:ext uri="{FF2B5EF4-FFF2-40B4-BE49-F238E27FC236}">
                <a16:creationId xmlns:a16="http://schemas.microsoft.com/office/drawing/2014/main" id="{E5D00F6A-578A-485F-8BB0-613DF523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导入完整包</a:t>
            </a:r>
          </a:p>
        </p:txBody>
      </p:sp>
      <p:sp>
        <p:nvSpPr>
          <p:cNvPr id="18" name="qoder-step-2-body">
            <a:extLst xmlns:a="http://schemas.openxmlformats.org/drawingml/2006/main">
              <a:ext uri="{FF2B5EF4-FFF2-40B4-BE49-F238E27FC236}">
                <a16:creationId xmlns:a16="http://schemas.microsoft.com/office/drawing/2014/main" id="{F879832A-A02B-4335-ADF3-0F1B54DA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在技能管理中导入 ZIP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确认出现在已安装中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647E5247-6C3E-4097-A527-8F48A884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oder-step-3">
            <a:extLst xmlns:a="http://schemas.openxmlformats.org/drawingml/2006/main">
              <a:ext uri="{FF2B5EF4-FFF2-40B4-BE49-F238E27FC236}">
                <a16:creationId xmlns:a16="http://schemas.microsoft.com/office/drawing/2014/main" id="{B84F9274-D396-4370-925C-D8911013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1" name="qoder-step-3-number">
            <a:extLst xmlns:a="http://schemas.openxmlformats.org/drawingml/2006/main">
              <a:ext uri="{FF2B5EF4-FFF2-40B4-BE49-F238E27FC236}">
                <a16:creationId xmlns:a16="http://schemas.microsoft.com/office/drawing/2014/main" id="{8EDF5043-04B8-456B-A051-106D7DB1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2" name="qoder-step-3-label">
            <a:extLst xmlns:a="http://schemas.openxmlformats.org/drawingml/2006/main">
              <a:ext uri="{FF2B5EF4-FFF2-40B4-BE49-F238E27FC236}">
                <a16:creationId xmlns:a16="http://schemas.microsoft.com/office/drawing/2014/main" id="{729F395B-E430-4DB6-BF02-F90F9CB3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新 Chat 运行</a:t>
            </a:r>
          </a:p>
        </p:txBody>
      </p:sp>
      <p:sp>
        <p:nvSpPr>
          <p:cNvPr id="23" name="qoder-step-3-body">
            <a:extLst xmlns:a="http://schemas.openxmlformats.org/drawingml/2006/main">
              <a:ext uri="{FF2B5EF4-FFF2-40B4-BE49-F238E27FC236}">
                <a16:creationId xmlns:a16="http://schemas.microsoft.com/office/drawing/2014/main" id="{4A94DF20-5D58-499D-B83F-53805379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用 / 选择 Skill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只给本次必要输入</a:t>
            </a:r>
          </a:p>
        </p:txBody>
      </p:sp>
      <p:sp>
        <p:nvSpPr>
          <p:cNvPr id="24" name="create-prompt">
            <a:extLst xmlns:a="http://schemas.openxmlformats.org/drawingml/2006/main">
              <a:ext uri="{FF2B5EF4-FFF2-40B4-BE49-F238E27FC236}">
                <a16:creationId xmlns:a16="http://schemas.microsoft.com/office/drawing/2014/main" id="{746AEEC1-FBB0-4D90-BF8F-5142A721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给 Qoder 的提示词：把刚才做对的日报方法整理成完整 Skill ZIP，保存规则和处理脚本，让新 Chat 只给数据、日期和输出位置就能复用。</a:t>
            </a:r>
          </a:p>
        </p:txBody>
      </p:sp>
      <p:sp>
        <p:nvSpPr>
          <p:cNvPr id="2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6B4DB59F-B0C2-469F-BB3A-9BD7444F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958CA0DD-F0C0-478C-B74C-18A945A1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先手动选择验证执行，再用自然语言验证触发。Qoder 操作入口按当前产品版本核对。</a:t>
            </a:r>
          </a:p>
        </p:txBody>
      </p:sp>
      <p:sp>
        <p:nvSpPr>
          <p:cNvPr id="27" name="byline">
            <a:extLst xmlns:a="http://schemas.openxmlformats.org/drawingml/2006/main">
              <a:ext uri="{FF2B5EF4-FFF2-40B4-BE49-F238E27FC236}">
                <a16:creationId xmlns:a16="http://schemas.microsoft.com/office/drawing/2014/main" id="{8FFDB049-C14D-4843-9E1B-B82BF98C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8" name="page">
            <a:extLst xmlns:a="http://schemas.openxmlformats.org/drawingml/2006/main">
              <a:ext uri="{FF2B5EF4-FFF2-40B4-BE49-F238E27FC236}">
                <a16:creationId xmlns:a16="http://schemas.microsoft.com/office/drawing/2014/main" id="{7D70CC09-B9B6-4FFF-A48F-2DD9F6A5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07 / 09</a:t>
            </a:r>
          </a:p>
        </p:txBody>
      </p:sp>
    </p:spTree>
    <p:extLst>
      <p:ext uri="{BB962C8B-B14F-4D97-AF65-F5344CB8AC3E}">
        <p14:creationId xmlns:p14="http://schemas.microsoft.com/office/powerpoint/2010/main" val="7208171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119376-3FDE-40C2-B06F-1F428FD8BE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93e620f4d4d8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B5B97E98-5278-4A82-8CD8-B5EC7BE4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740E906-1777-4C4C-A0C6-F0A1686B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如何验证并改进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A2CC102B-A4E8-4046-872D-A7125E78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Tests 判定任务是否成功，Evals 帮助观察触发、任务表现和真实使用效果。</a:t>
            </a:r>
          </a:p>
        </p:txBody>
      </p:sp>
      <p:sp>
        <p:nvSpPr>
          <p:cNvPr id="5" name="verification-0">
            <a:extLst xmlns:a="http://schemas.openxmlformats.org/drawingml/2006/main">
              <a:ext uri="{FF2B5EF4-FFF2-40B4-BE49-F238E27FC236}">
                <a16:creationId xmlns:a16="http://schemas.microsoft.com/office/drawing/2014/main" id="{BFD0FEC2-CC5B-44D2-B597-07BBDF52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verification-0-label">
            <a:extLst xmlns:a="http://schemas.openxmlformats.org/drawingml/2006/main">
              <a:ext uri="{FF2B5EF4-FFF2-40B4-BE49-F238E27FC236}">
                <a16:creationId xmlns:a16="http://schemas.microsoft.com/office/drawing/2014/main" id="{AB712FE4-A65D-463F-846F-BE37B7E3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Trigger Evals</a:t>
            </a:r>
          </a:p>
        </p:txBody>
      </p:sp>
      <p:sp>
        <p:nvSpPr>
          <p:cNvPr id="7" name="verification-0-sub">
            <a:extLst xmlns:a="http://schemas.openxmlformats.org/drawingml/2006/main">
              <a:ext uri="{FF2B5EF4-FFF2-40B4-BE49-F238E27FC236}">
                <a16:creationId xmlns:a16="http://schemas.microsoft.com/office/drawing/2014/main" id="{7860DE24-CF4B-4587-9995-5F2F43BB1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正确触发，避免误触发</a:t>
            </a:r>
          </a:p>
        </p:txBody>
      </p:sp>
      <p:sp>
        <p:nvSpPr>
          <p:cNvPr id="8" name="verification-0-body">
            <a:extLst xmlns:a="http://schemas.openxmlformats.org/drawingml/2006/main">
              <a:ext uri="{FF2B5EF4-FFF2-40B4-BE49-F238E27FC236}">
                <a16:creationId xmlns:a16="http://schemas.microsoft.com/office/drawing/2014/main" id="{2AB6B8F2-B878-4FCB-9EE8-ECA26636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检查真实请求的触发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属于基础验证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2BEBF6F2-AD73-4362-9FBC-53F1F8CAC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erification-1">
            <a:extLst xmlns:a="http://schemas.openxmlformats.org/drawingml/2006/main">
              <a:ext uri="{FF2B5EF4-FFF2-40B4-BE49-F238E27FC236}">
                <a16:creationId xmlns:a16="http://schemas.microsoft.com/office/drawing/2014/main" id="{FD21B72E-5A29-4984-B30C-726063E0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verification-1-label">
            <a:extLst xmlns:a="http://schemas.openxmlformats.org/drawingml/2006/main">
              <a:ext uri="{FF2B5EF4-FFF2-40B4-BE49-F238E27FC236}">
                <a16:creationId xmlns:a16="http://schemas.microsoft.com/office/drawing/2014/main" id="{EEAD8D30-3AE8-4CBB-A972-616EC886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Task Evals</a:t>
            </a:r>
          </a:p>
        </p:txBody>
      </p:sp>
      <p:sp>
        <p:nvSpPr>
          <p:cNvPr id="12" name="verification-1-sub">
            <a:extLst xmlns:a="http://schemas.openxmlformats.org/drawingml/2006/main">
              <a:ext uri="{FF2B5EF4-FFF2-40B4-BE49-F238E27FC236}">
                <a16:creationId xmlns:a16="http://schemas.microsoft.com/office/drawing/2014/main" id="{C4729862-1383-46D8-925A-8055D2FA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同一批任务，比较版本</a:t>
            </a:r>
          </a:p>
        </p:txBody>
      </p:sp>
      <p:sp>
        <p:nvSpPr>
          <p:cNvPr id="13" name="verification-1-body">
            <a:extLst xmlns:a="http://schemas.openxmlformats.org/drawingml/2006/main">
              <a:ext uri="{FF2B5EF4-FFF2-40B4-BE49-F238E27FC236}">
                <a16:creationId xmlns:a16="http://schemas.microsoft.com/office/drawing/2014/main" id="{852709D9-BB08-43EC-94C7-228E0A3A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 Tests 判定成功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比较质量、耗时、Token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F9AE4E27-EC15-4F60-94DB-1ECBD2A6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ification-2">
            <a:extLst xmlns:a="http://schemas.openxmlformats.org/drawingml/2006/main">
              <a:ext uri="{FF2B5EF4-FFF2-40B4-BE49-F238E27FC236}">
                <a16:creationId xmlns:a16="http://schemas.microsoft.com/office/drawing/2014/main" id="{E7D129F1-C622-41DC-B813-2DCCE824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verification-2-label">
            <a:extLst xmlns:a="http://schemas.openxmlformats.org/drawingml/2006/main">
              <a:ext uri="{FF2B5EF4-FFF2-40B4-BE49-F238E27FC236}">
                <a16:creationId xmlns:a16="http://schemas.microsoft.com/office/drawing/2014/main" id="{4CD867EB-445B-44B9-8063-503038D5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Production Evals</a:t>
            </a:r>
          </a:p>
        </p:txBody>
      </p:sp>
      <p:sp>
        <p:nvSpPr>
          <p:cNvPr id="17" name="verification-2-sub">
            <a:extLst xmlns:a="http://schemas.openxmlformats.org/drawingml/2006/main">
              <a:ext uri="{FF2B5EF4-FFF2-40B4-BE49-F238E27FC236}">
                <a16:creationId xmlns:a16="http://schemas.microsoft.com/office/drawing/2014/main" id="{58396D08-441D-4C79-A52D-BE6B5A55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真实使用中持续观察</a:t>
            </a:r>
          </a:p>
        </p:txBody>
      </p:sp>
      <p:sp>
        <p:nvSpPr>
          <p:cNvPr id="18" name="verification-2-body">
            <a:extLst xmlns:a="http://schemas.openxmlformats.org/drawingml/2006/main">
              <a:ext uri="{FF2B5EF4-FFF2-40B4-BE49-F238E27FC236}">
                <a16:creationId xmlns:a16="http://schemas.microsoft.com/office/drawing/2014/main" id="{1435B5EC-967E-4DA4-8441-287E3861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记录失败与人工接管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跟踪质量、耗时和成本</a:t>
            </a:r>
          </a:p>
        </p:txBody>
      </p:sp>
      <p:sp>
        <p:nvSpPr>
          <p:cNvPr id="19" name="case-0">
            <a:extLst xmlns:a="http://schemas.openxmlformats.org/drawingml/2006/main">
              <a:ext uri="{FF2B5EF4-FFF2-40B4-BE49-F238E27FC236}">
                <a16:creationId xmlns:a16="http://schemas.microsoft.com/office/drawing/2014/main" id="{21A4A81C-91DA-4275-9C56-F824F4322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0" name="case-0-name">
            <a:extLst xmlns:a="http://schemas.openxmlformats.org/drawingml/2006/main">
              <a:ext uri="{FF2B5EF4-FFF2-40B4-BE49-F238E27FC236}">
                <a16:creationId xmlns:a16="http://schemas.microsoft.com/office/drawing/2014/main" id="{5246574A-7416-439A-A81C-BD7A8192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Golden Tasks</a:t>
            </a:r>
          </a:p>
        </p:txBody>
      </p:sp>
      <p:sp>
        <p:nvSpPr>
          <p:cNvPr id="21" name="case-0-expected">
            <a:extLst xmlns:a="http://schemas.openxmlformats.org/drawingml/2006/main">
              <a:ext uri="{FF2B5EF4-FFF2-40B4-BE49-F238E27FC236}">
                <a16:creationId xmlns:a16="http://schemas.microsoft.com/office/drawing/2014/main" id="{6B72C0E1-53B6-4610-976E-7B50C8C79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10 个真实端到端需求</a:t>
            </a:r>
          </a:p>
        </p:txBody>
      </p:sp>
      <p:sp>
        <p:nvSpPr>
          <p:cNvPr id="22" name="case-1">
            <a:extLst xmlns:a="http://schemas.openxmlformats.org/drawingml/2006/main">
              <a:ext uri="{FF2B5EF4-FFF2-40B4-BE49-F238E27FC236}">
                <a16:creationId xmlns:a16="http://schemas.microsoft.com/office/drawing/2014/main" id="{DD078DD5-1851-46AE-B685-ED8C4458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case-1-name">
            <a:extLst xmlns:a="http://schemas.openxmlformats.org/drawingml/2006/main">
              <a:ext uri="{FF2B5EF4-FFF2-40B4-BE49-F238E27FC236}">
                <a16:creationId xmlns:a16="http://schemas.microsoft.com/office/drawing/2014/main" id="{C91C8EBE-5B46-4072-92C4-752737AAE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V1 / V2（假设）</a:t>
            </a:r>
          </a:p>
        </p:txBody>
      </p:sp>
      <p:sp>
        <p:nvSpPr>
          <p:cNvPr id="24" name="case-1-expected">
            <a:extLst xmlns:a="http://schemas.openxmlformats.org/drawingml/2006/main">
              <a:ext uri="{FF2B5EF4-FFF2-40B4-BE49-F238E27FC236}">
                <a16:creationId xmlns:a16="http://schemas.microsoft.com/office/drawing/2014/main" id="{49C2790F-47BF-4B42-8868-32749489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成功率 60% / 80%</a:t>
            </a:r>
          </a:p>
        </p:txBody>
      </p:sp>
      <p:sp>
        <p:nvSpPr>
          <p:cNvPr id="25" name="case-2">
            <a:extLst xmlns:a="http://schemas.openxmlformats.org/drawingml/2006/main">
              <a:ext uri="{FF2B5EF4-FFF2-40B4-BE49-F238E27FC236}">
                <a16:creationId xmlns:a16="http://schemas.microsoft.com/office/drawing/2014/main" id="{36685872-A4D3-4B61-8653-FC749A48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76775"/>
            <a:ext cx="3333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case-2-name">
            <a:extLst xmlns:a="http://schemas.openxmlformats.org/drawingml/2006/main">
              <a:ext uri="{FF2B5EF4-FFF2-40B4-BE49-F238E27FC236}">
                <a16:creationId xmlns:a16="http://schemas.microsoft.com/office/drawing/2014/main" id="{1DF8134E-400F-4A0C-B6A7-FD26E1EF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91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相同 Tests 判定</a:t>
            </a:r>
          </a:p>
        </p:txBody>
      </p:sp>
      <p:sp>
        <p:nvSpPr>
          <p:cNvPr id="27" name="case-2-expected">
            <a:extLst xmlns:a="http://schemas.openxmlformats.org/drawingml/2006/main">
              <a:ext uri="{FF2B5EF4-FFF2-40B4-BE49-F238E27FC236}">
                <a16:creationId xmlns:a16="http://schemas.microsoft.com/office/drawing/2014/main" id="{2CBD1BE0-07DA-4EA3-BA15-7B333342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7207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提升 20 个百分点（假设）</a:t>
            </a:r>
          </a:p>
        </p:txBody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C15B4D07-494D-4D7D-A28D-942D6EE6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2F4F9622-1D54-4E33-806D-AC67415A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同一任务、同一 Tests 判定，比较质量与成本。示例需重复运行并控制其他变量。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0CDA5FC9-2834-4311-955B-752ECFAF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664F5022-7C44-4118-9F8E-A3AF337E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08 / 09</a:t>
            </a:r>
          </a:p>
        </p:txBody>
      </p:sp>
    </p:spTree>
    <p:extLst>
      <p:ext uri="{BB962C8B-B14F-4D97-AF65-F5344CB8AC3E}">
        <p14:creationId xmlns:p14="http://schemas.microsoft.com/office/powerpoint/2010/main" val="17672021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5043FD-D531-4CA1-907F-001BE2F9773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e2892cf18342c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B422040B-D2DA-4421-84C9-68B6F332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03FF5A-EFB8-4358-9C4D-DD2C46A7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开始实践与问题反馈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3F240D73-902B-45C9-A77D-5ACB1B44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把日常工作中的一个成功方法，变成下一次可以继续使用的 Skill。</a:t>
            </a:r>
          </a:p>
        </p:txBody>
      </p:sp>
      <p:sp>
        <p:nvSpPr>
          <p:cNvPr id="5" name="practice-path">
            <a:extLst xmlns:a="http://schemas.openxmlformats.org/drawingml/2006/main">
              <a:ext uri="{FF2B5EF4-FFF2-40B4-BE49-F238E27FC236}">
                <a16:creationId xmlns:a16="http://schemas.microsoft.com/office/drawing/2014/main" id="{C9359857-E87B-47D8-BE04-38B1FEC26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ractice-path-label-band">
            <a:extLst xmlns:a="http://schemas.openxmlformats.org/drawingml/2006/main">
              <a:ext uri="{FF2B5EF4-FFF2-40B4-BE49-F238E27FC236}">
                <a16:creationId xmlns:a16="http://schemas.microsoft.com/office/drawing/2014/main" id="{CE08090C-1D51-41E6-9EF7-87DF2479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ractice-path-label">
            <a:extLst xmlns:a="http://schemas.openxmlformats.org/drawingml/2006/main">
              <a:ext uri="{FF2B5EF4-FFF2-40B4-BE49-F238E27FC236}">
                <a16:creationId xmlns:a16="http://schemas.microsoft.com/office/drawing/2014/main" id="{6966413F-0875-450F-8A48-D555D36C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今天就可以开始的一次实践</a:t>
            </a:r>
          </a:p>
        </p:txBody>
      </p:sp>
      <p:sp>
        <p:nvSpPr>
          <p:cNvPr id="8" name="practice-0-number">
            <a:extLst xmlns:a="http://schemas.openxmlformats.org/drawingml/2006/main">
              <a:ext uri="{FF2B5EF4-FFF2-40B4-BE49-F238E27FC236}">
                <a16:creationId xmlns:a16="http://schemas.microsoft.com/office/drawing/2014/main" id="{25FE5724-04FE-4798-9AAD-EE03D36F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practice-0-label">
            <a:extLst xmlns:a="http://schemas.openxmlformats.org/drawingml/2006/main">
              <a:ext uri="{FF2B5EF4-FFF2-40B4-BE49-F238E27FC236}">
                <a16:creationId xmlns:a16="http://schemas.microsoft.com/office/drawing/2014/main" id="{4DA21CAD-BEB3-4CC2-9A1E-E6A9047C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051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选任务并自评</a:t>
            </a:r>
          </a:p>
        </p:txBody>
      </p:sp>
      <p:sp>
        <p:nvSpPr>
          <p:cNvPr id="10" name="practice-0-body">
            <a:extLst xmlns:a="http://schemas.openxmlformats.org/drawingml/2006/main">
              <a:ext uri="{FF2B5EF4-FFF2-40B4-BE49-F238E27FC236}">
                <a16:creationId xmlns:a16="http://schemas.microsoft.com/office/drawing/2014/main" id="{2062820F-9177-4AE8-B8AE-61B55E07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671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规则清楚，先确认验收依据</a:t>
            </a:r>
          </a:p>
        </p:txBody>
      </p:sp>
      <p:sp>
        <p:nvSpPr>
          <p:cNvPr id="11" name="practice-1-number">
            <a:extLst xmlns:a="http://schemas.openxmlformats.org/drawingml/2006/main">
              <a:ext uri="{FF2B5EF4-FFF2-40B4-BE49-F238E27FC236}">
                <a16:creationId xmlns:a16="http://schemas.microsoft.com/office/drawing/2014/main" id="{7C1E179B-0811-483C-8F68-F5D1EF54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290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practice-1-label">
            <a:extLst xmlns:a="http://schemas.openxmlformats.org/drawingml/2006/main">
              <a:ext uri="{FF2B5EF4-FFF2-40B4-BE49-F238E27FC236}">
                <a16:creationId xmlns:a16="http://schemas.microsoft.com/office/drawing/2014/main" id="{5CECB826-5377-4148-B319-6BDAB411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8290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完成三类验证</a:t>
            </a:r>
          </a:p>
        </p:txBody>
      </p:sp>
      <p:sp>
        <p:nvSpPr>
          <p:cNvPr id="13" name="practice-1-body">
            <a:extLst xmlns:a="http://schemas.openxmlformats.org/drawingml/2006/main">
              <a:ext uri="{FF2B5EF4-FFF2-40B4-BE49-F238E27FC236}">
                <a16:creationId xmlns:a16="http://schemas.microsoft.com/office/drawing/2014/main" id="{D3AF108A-9E10-4E5A-B0F7-6DF98118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910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正常、变化、异常，核对结果与停止</a:t>
            </a:r>
          </a:p>
        </p:txBody>
      </p:sp>
      <p:sp>
        <p:nvSpPr>
          <p:cNvPr id="14" name="practice-2-number">
            <a:extLst xmlns:a="http://schemas.openxmlformats.org/drawingml/2006/main">
              <a:ext uri="{FF2B5EF4-FFF2-40B4-BE49-F238E27FC236}">
                <a16:creationId xmlns:a16="http://schemas.microsoft.com/office/drawing/2014/main" id="{1C21A48A-8DCA-4D1E-8398-2D758FEA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529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5" name="practice-2-label">
            <a:extLst xmlns:a="http://schemas.openxmlformats.org/drawingml/2006/main">
              <a:ext uri="{FF2B5EF4-FFF2-40B4-BE49-F238E27FC236}">
                <a16:creationId xmlns:a16="http://schemas.microsoft.com/office/drawing/2014/main" id="{A41FB1E2-8EFF-4C9B-A62C-7DA8698C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529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换人复用并迭代</a:t>
            </a:r>
          </a:p>
        </p:txBody>
      </p:sp>
      <p:sp>
        <p:nvSpPr>
          <p:cNvPr id="16" name="practice-2-body">
            <a:extLst xmlns:a="http://schemas.openxmlformats.org/drawingml/2006/main">
              <a:ext uri="{FF2B5EF4-FFF2-40B4-BE49-F238E27FC236}">
                <a16:creationId xmlns:a16="http://schemas.microsoft.com/office/drawing/2014/main" id="{60F650D4-7F39-4BC0-8047-CBC5FCA7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149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同版本再试，把新问题补进用例</a:t>
            </a:r>
          </a:p>
        </p:txBody>
      </p:sp>
      <p:sp>
        <p:nvSpPr>
          <p:cNvPr id="17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BBA6A006-FF5E-406F-A653-E8E56763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feedback-panel-label-band">
            <a:extLst xmlns:a="http://schemas.openxmlformats.org/drawingml/2006/main">
              <a:ext uri="{FF2B5EF4-FFF2-40B4-BE49-F238E27FC236}">
                <a16:creationId xmlns:a16="http://schemas.microsoft.com/office/drawing/2014/main" id="{5D28D3A5-4913-4134-93AB-7E6A15C0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feedback-panel-label">
            <a:extLst xmlns:a="http://schemas.openxmlformats.org/drawingml/2006/main">
              <a:ext uri="{FF2B5EF4-FFF2-40B4-BE49-F238E27FC236}">
                <a16:creationId xmlns:a16="http://schemas.microsoft.com/office/drawing/2014/main" id="{4FFF7877-7F1D-48CB-B825-07A7B30B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14600"/>
            <a:ext cx="4829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问题反馈</a:t>
            </a:r>
          </a:p>
        </p:txBody>
      </p:sp>
      <p:sp>
        <p:nvSpPr>
          <p:cNvPr id="20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A70D887C-31A1-48F2-9D32-7BB8DD2FA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4752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遇到问题，联系张坚、李琦</a:t>
            </a:r>
          </a:p>
        </p:txBody>
      </p:sp>
      <p:sp>
        <p:nvSpPr>
          <p:cNvPr id="21" name="feedback-item-0">
            <a:extLst xmlns:a="http://schemas.openxmlformats.org/drawingml/2006/main">
              <a:ext uri="{FF2B5EF4-FFF2-40B4-BE49-F238E27FC236}">
                <a16:creationId xmlns:a16="http://schemas.microsoft.com/office/drawing/2014/main" id="{8394C5D7-DD7A-44F2-8009-C63BBCEA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15290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脱敏输入样例</a:t>
            </a:r>
          </a:p>
        </p:txBody>
      </p:sp>
      <p:sp>
        <p:nvSpPr>
          <p:cNvPr id="22" name="feedback-item-1">
            <a:extLst xmlns:a="http://schemas.openxmlformats.org/drawingml/2006/main">
              <a:ext uri="{FF2B5EF4-FFF2-40B4-BE49-F238E27FC236}">
                <a16:creationId xmlns:a16="http://schemas.microsoft.com/office/drawing/2014/main" id="{8F1E4E5E-91CE-4F6F-AEFE-CC26847E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86275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预期结果与实际结果</a:t>
            </a:r>
          </a:p>
        </p:txBody>
      </p:sp>
      <p:sp>
        <p:nvSpPr>
          <p:cNvPr id="23" name="feedback-item-2">
            <a:extLst xmlns:a="http://schemas.openxmlformats.org/drawingml/2006/main">
              <a:ext uri="{FF2B5EF4-FFF2-40B4-BE49-F238E27FC236}">
                <a16:creationId xmlns:a16="http://schemas.microsoft.com/office/drawing/2014/main" id="{8472CDA2-C516-4FDA-8219-C896E001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81965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出错截图与校验记录</a:t>
            </a:r>
          </a:p>
        </p:txBody>
      </p:sp>
      <p:sp>
        <p:nvSpPr>
          <p:cNvPr id="24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24E2ECA8-1A71-45C3-AF51-05F08792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69932D9D-7CE2-4424-A596-74A0DDA5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业务同事沉淀方法与验收标准，技术同事协助固定关键处理，团队共同验证和改进。</a:t>
            </a:r>
          </a:p>
        </p:txBody>
      </p:sp>
      <p:sp>
        <p:nvSpPr>
          <p:cNvPr id="26" name="byline">
            <a:extLst xmlns:a="http://schemas.openxmlformats.org/drawingml/2006/main">
              <a:ext uri="{FF2B5EF4-FFF2-40B4-BE49-F238E27FC236}">
                <a16:creationId xmlns:a16="http://schemas.microsoft.com/office/drawing/2014/main" id="{06A30C6B-4ECA-4663-A413-770CB7E6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7" name="page">
            <a:extLst xmlns:a="http://schemas.openxmlformats.org/drawingml/2006/main">
              <a:ext uri="{FF2B5EF4-FFF2-40B4-BE49-F238E27FC236}">
                <a16:creationId xmlns:a16="http://schemas.microsoft.com/office/drawing/2014/main" id="{9EAE7AB1-576D-4931-8EA4-82E676B5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09 / 09</a:t>
            </a:r>
          </a:p>
        </p:txBody>
      </p:sp>
    </p:spTree>
    <p:extLst>
      <p:ext uri="{BB962C8B-B14F-4D97-AF65-F5344CB8AC3E}">
        <p14:creationId xmlns:p14="http://schemas.microsoft.com/office/powerpoint/2010/main" val="12863731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2026-10-13T03:23:27.4950000Z</dcterms:created>
  <dcterms:modified xsi:type="dcterms:W3CDTF">2026-10-13T03:23:27.4950000Z</dcterms:modified>
</coreProperties>
</file>