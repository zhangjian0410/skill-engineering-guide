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c307e12f90d4655" /><Relationship Type="http://schemas.openxmlformats.org/officeDocument/2006/relationships/extended-properties" Target="/docProps/app.xml" Id="R3cca398cc4604341" /><Relationship Type="http://schemas.openxmlformats.org/officeDocument/2006/relationships/officeDocument" Target="/ppt/presentation.xml" Id="Rb287255ec099479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604bc05c4745b9"/>
  </p:sldMasterIdLst>
  <p:notesMasterIdLst>
    <p:notesMasterId xmlns:r="http://schemas.openxmlformats.org/officeDocument/2006/relationships" r:id="Ra44171356fab476a"/>
  </p:notesMasterIdLst>
  <p:sldIdLst>
    <p:sldId xmlns:r="http://schemas.openxmlformats.org/officeDocument/2006/relationships" id="256" r:id="Rb6dd0aef5c014289"/>
    <p:sldId xmlns:r="http://schemas.openxmlformats.org/officeDocument/2006/relationships" id="257" r:id="R542422e7c97d482d"/>
    <p:sldId xmlns:r="http://schemas.openxmlformats.org/officeDocument/2006/relationships" id="258" r:id="R76d042072e314d35"/>
    <p:sldId xmlns:r="http://schemas.openxmlformats.org/officeDocument/2006/relationships" id="259" r:id="R9c1c5bb3e6a14574"/>
    <p:sldId xmlns:r="http://schemas.openxmlformats.org/officeDocument/2006/relationships" id="260" r:id="R632e97b1c27c4f01"/>
    <p:sldId xmlns:r="http://schemas.openxmlformats.org/officeDocument/2006/relationships" id="261" r:id="R96bbe0a1b9af494f"/>
    <p:sldId xmlns:r="http://schemas.openxmlformats.org/officeDocument/2006/relationships" id="262" r:id="Rb3fd597d0ceb46db"/>
    <p:sldId xmlns:r="http://schemas.openxmlformats.org/officeDocument/2006/relationships" id="263" r:id="R5eb45eac139b4b8d"/>
    <p:sldId xmlns:r="http://schemas.openxmlformats.org/officeDocument/2006/relationships" id="264" r:id="Rfcb6c2f75429449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495dd952e13459d" /><Relationship Type="http://schemas.openxmlformats.org/officeDocument/2006/relationships/slideMaster" Target="/ppt/slideMasters/slideMaster1.xml" Id="Rec604bc05c4745b9" /><Relationship Type="http://schemas.openxmlformats.org/officeDocument/2006/relationships/notesMaster" Target="/ppt/notesMasters/notesMaster1.xml" Id="Ra44171356fab476a" /><Relationship Type="http://schemas.openxmlformats.org/officeDocument/2006/relationships/presProps" Target="/ppt/presProps.xml" Id="Rb2beac041e3348f1" /><Relationship Type="http://schemas.openxmlformats.org/officeDocument/2006/relationships/tableStyles" Target="/ppt/tableStyles.xml" Id="Rd9a8c1036b494469" /><Relationship Type="http://schemas.openxmlformats.org/officeDocument/2006/relationships/slide" Target="/ppt/slides/slide1.xml" Id="Rb6dd0aef5c014289" /><Relationship Type="http://schemas.openxmlformats.org/officeDocument/2006/relationships/slide" Target="/ppt/slides/slide2.xml" Id="R542422e7c97d482d" /><Relationship Type="http://schemas.openxmlformats.org/officeDocument/2006/relationships/slide" Target="/ppt/slides/slide3.xml" Id="R76d042072e314d35" /><Relationship Type="http://schemas.openxmlformats.org/officeDocument/2006/relationships/slide" Target="/ppt/slides/slide4.xml" Id="R9c1c5bb3e6a14574" /><Relationship Type="http://schemas.openxmlformats.org/officeDocument/2006/relationships/slide" Target="/ppt/slides/slide5.xml" Id="R632e97b1c27c4f01" /><Relationship Type="http://schemas.openxmlformats.org/officeDocument/2006/relationships/slide" Target="/ppt/slides/slide6.xml" Id="R96bbe0a1b9af494f" /><Relationship Type="http://schemas.openxmlformats.org/officeDocument/2006/relationships/slide" Target="/ppt/slides/slide7.xml" Id="Rb3fd597d0ceb46db" /><Relationship Type="http://schemas.openxmlformats.org/officeDocument/2006/relationships/slide" Target="/ppt/slides/slide8.xml" Id="R5eb45eac139b4b8d" /><Relationship Type="http://schemas.openxmlformats.org/officeDocument/2006/relationships/slide" Target="/ppt/slides/slide9.xml" Id="Rfcb6c2f75429449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5dca2d8f03648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079310115e449a" /><Relationship Type="http://schemas.openxmlformats.org/officeDocument/2006/relationships/notesMaster" Target="/ppt/notesMasters/notesMaster1.xml" Id="R2a6d659456674b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8ea669a9be44a55" /><Relationship Type="http://schemas.openxmlformats.org/officeDocument/2006/relationships/notesMaster" Target="/ppt/notesMasters/notesMaster1.xml" Id="R301731135e5b477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4cc96f227b043a2" /><Relationship Type="http://schemas.openxmlformats.org/officeDocument/2006/relationships/notesMaster" Target="/ppt/notesMasters/notesMaster1.xml" Id="R8c12ca150a96424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b087770ce6471a" /><Relationship Type="http://schemas.openxmlformats.org/officeDocument/2006/relationships/notesMaster" Target="/ppt/notesMasters/notesMaster1.xml" Id="R348fbe3ace6942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b849df4cb824aee" /><Relationship Type="http://schemas.openxmlformats.org/officeDocument/2006/relationships/notesMaster" Target="/ppt/notesMasters/notesMaster1.xml" Id="Rc7f19e6036da41b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e95ad9fef90468f" /><Relationship Type="http://schemas.openxmlformats.org/officeDocument/2006/relationships/notesMaster" Target="/ppt/notesMasters/notesMaster1.xml" Id="Ref2a57adfc0a4d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f626decab94722" /><Relationship Type="http://schemas.openxmlformats.org/officeDocument/2006/relationships/notesMaster" Target="/ppt/notesMasters/notesMaster1.xml" Id="Rf6a132e39ab6496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f170da99f814f38" /><Relationship Type="http://schemas.openxmlformats.org/officeDocument/2006/relationships/notesMaster" Target="/ppt/notesMasters/notesMaster1.xml" Id="R82f58c151ccd4c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92d58763c614b55" /><Relationship Type="http://schemas.openxmlformats.org/officeDocument/2006/relationships/notesMaster" Target="/ppt/notesMasters/notesMaster1.xml" Id="R14e534c2042743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本页讲解：比如，今天花了几轮对话把日报做好，明天换个 Chat，同样的日期、去重和平均耗时又得重新解释。我们可以把今天用过的数据、确认的规则和核对过的结果留下来，再请 AI 把处理方法整理成 Skill。以后拿到同类数据，就有一套现成的方法可以继续用。交给同事时，他也能顺着这些资料看懂这份日报是怎么算出来、怎么验过的。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继续阅读：deep.html#practice-route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02 的当前现象与下一步目标；分享对话中用户的 Qoder 使用观察。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本页讲解：这 7 行就是我们交给 AI 的原始明细。T004 出现了两次，同一张工单只能算一次；T006 是 10 月 11 日创建的，也不该进入 10 日的日报。处理后剩下 5 张工单，其中 3 张已完成、2 张待处理。完成的 3 张分别用了 60、45、90 分钟，加起来 195 分钟，除以 3，平均就是 65 分钟。我们希望 AI 把明细整理成这样的日报，并让人能核对它怎么算的。把这些规则保存成 Skill，下次拿到新数据，就有了可以沿用的方法。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继续阅读：deep.html#ticket-practice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来源与对应：同一份虚构 practice/ticket-daily-report/tests/fixtures/normal.json 的完整 7 行；按 business-rules.md 及已确认 tests/expected/2026-10-10.json 核对。表格仅转换阅读标签，未改变原始数据。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本页讲解：刚才那份日报，在一个 Chat 里做对，就完成了当次任务。把规则和处理脚本保存成 Skill，下一次便有了可调用的方法。不过，另一位同事拿到新数据，也能做对吗？还要实际试一试。我们讲的 Skill Engineering，就是在沉淀方法之后，继续检查换对话、换数据、遇到异常时会发生什么。这样才知道，保存的方法离开原来的聊天还能不能工作。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继续阅读：deep.html#validation-scope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来源与对应：原海报、原横版课件 01 与 03 的核心公式、三步进阶与价值；价值表述为工程目标，未声称已测量收益。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本页讲解：算出 65 分钟之前，还有不少判断要做。统计哪一天、字段齐不齐、重复工单能不能合并，都影响最后的结果。假如同一个 ID 的两行耗时不同，就要停下来弄清原因，不能悄悄选一个。图里的 Workflow 管这些推进和停止的决定，Data Processing 按确认的规则去重、筛选和计算。两部分接起来，结果验过了，才把日报交出去。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来源与对应：分享对话中的二维模型与五步工单日报流程；恢复上一版遗漏的两层与两种执行方式的区分。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本页讲解：拿刚才的平均耗时来说，195 除以 3，适合交给固定脚本，下一次也按同一规则计算。AI 则可以帮助理解需求：客户说的日期是创建日期，还是完成日期？字段名称换了，含义是否相同？把这些问题说清楚之后，再交给工具执行。脚本也可能写错分母，所以我们还要拿已知结果的样例核对，不能因为用了代码就省掉验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继续阅读：deep.html#workflow-and-code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来源与对应：原横版课件 04 的完整二维分工矩阵与核心原则。关键口径仍由业务负责人确认；可变业务规则不全部写死在程序中。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本页讲解：参考包的入口 SKILL.md 说明何时使用、怎样完成和停止；业务规则在 references，处理代码在 scripts/pipeline.py。tests 保存程序检查、输入样例和已确认答案；evals/evals.json 保存让 Agent 完成的任务与核对项，直接引用 tests 的样例和答案。它可以由人或负责评审的 LLM 读取。任务实际执行后，再把输出和工具执行记录交给评审方；仅有配置文件不会产生评估结果。当前参考包没有自动评估程序，tests/check-regression.py 只检查固定脚本。简单任务仍可只有 SKILL.md，模板等资源按需放 assets。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继续阅读：deep.html#directories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来源与对应：用实际 ticket-daily-report 参考包目录说明职责。assets/ 可按需增加。Agent Skills 规范仅要求 SKILL.md；tests/evals 为按需扩展。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目录中的脚本是职责示例。真实下载练习按三阶段 pipeline.py 执行，未安装或验证目标同事的 Qoder。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本页讲解：先在普通 Chat 中做对日报，再把规则和实际使用的脚本整理成 Skill ZIP，安装后开新 Chat。第一次还没保存规则，需要把业务口径说明白；安装后只需说“用 normal.json 生成 2026-10-10 的工单日报，保存到新的结果文件夹”。每次都重讲算法，就无法看出 Skill 是否真的保存了方法。先用 / 选择技能检查执行，再不选择技能，用自然语言试它能否自动找到。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继续阅读：deep.html#qoder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来源与对应：普通 Chat 完成、提炼、安装、新 Chat 验证的四步跟练；Qoder 官方技能指南。Agent Skills 评估指南要求场景使用真实用户会说的任务提示。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本页讲解：工单跟练先验证结果与安装复用。更完整的 Task Evals 使用固定的真实任务和相同 Tests 比较版本：10 个 Golden Tasks 覆盖登录、支付、权限、超时和异常处理；假设 V1 完成 6 个、V2 完成 8 个，成功率从 60% 到 80%，提升 20 个百分点，同时比较质量、耗时、Token 和失败原因。数字仅为示例，需重复运行并控制模型、工具、数据和环境。评分可用程序、人工或 LLM。例如，参考包正常任务完成后，另开评审 Chat，提供 evals.json 的场景 1、已确认答案、实际日报及工具执行记录，请它逐项给出结论和证据。日报为 65，但没有实际调用日志时，调用项应为 UNKNOWN；日报为 39 时，数字项为 FAIL。只让 LLM 核对已有材料不会重跑任务，当前没有自动评估程序。Trigger 看正确触发，Production 持续观察真实质量、成本与失败。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继续阅读：deep.html#eval-walkthrough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来源与对应：用户给定 Golden Tasks 理论示例：10 个真实 E2E 需求，V1 假设 6/10、V2 假设 8/10，相同 Tests 判定。Trigger、Task、Production 为本课教学视角，并非统一强制分类。Agent Skills 评估指南 https://agentskills.io/skill-creation/evaluating-skills 与 Anthropic Agent evals https://www.anthropic.com/engineering/demystifying-evals-for-ai-agents 支持真实任务、基线比较、程序/模型/人工评分和生产观察。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本页讲解：从一件重复工作开始。已有 Skill 时，先用只读自评定位缺口；没有 Skill 时先完成前面的四步。检查计划只列场景、输入和标准，不会生成测试文件。确认计划后，再要求 AI 补齐 tests 与 evals，检查文件是否齐全、引用是否正确，再分别运行程序检查和 Agent 任务。未确认的口径先留待确认，生成文件本身不算通过。准备分享时，请同事拿同版本重做正常、变化和异常案例。把脱敏输入、预期与实际和执行记录交给张坚、李琦，便于重现和修复。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继续阅读：deep.html#verification-prep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来源与对应：用户取消五期培训安排后的自主实践与反馈要求；本会话指定张坚、李琦作为反馈联系人。</a:t>
            </a:r>
          </a:p>
          <a:p xmlns:a="http://schemas.openxmlformats.org/drawingml/2006/main">
            <a:r>
              <a:t>本课件依据原分享对话和原图片，用户要求保留知识主线与视觉。参考： https://agentskills.io/specification https://docs.qoder.com/zh/qoder/skills https://platform.claude.com/docs/en/agents-and-tools/agent-skills/best-practices 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ea15c078fe4c1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6c8dd2bbc24a5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1661efa48d40b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a542bf32e94e3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a95ad983c7435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66419c5cf943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45FC2B6-D527-49E0-8B60-C9B69782365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7D96741-637C-452C-96E7-01DED0A6549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BC9C6FE-4BA2-4DCD-B66C-C63298F26A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18B754D-BD73-48C4-AE8F-12746B2F92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9D7F8A7-BF6A-456A-B20B-633527BBD0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915DF09-718D-43BA-9AB0-A7E19B8770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150E2F4-E3DB-486C-AA73-830B27F2943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11F4A7E-38C3-4BBE-ADF7-28F41528CCA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3DAC573-CC91-4225-A221-A3804C5B00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DBDBB7F-3E04-445A-AF29-61029B61ADA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9801a90f78454b" /><Relationship Type="http://schemas.openxmlformats.org/officeDocument/2006/relationships/slideLayout" Target="/ppt/slideLayouts/slideLayout1.xml" Id="Rec98f8f50efd4305" /><Relationship Type="http://schemas.openxmlformats.org/officeDocument/2006/relationships/slideLayout" Target="/ppt/slideLayouts/slideLayout2.xml" Id="Rb68ffb9983d14863" /><Relationship Type="http://schemas.openxmlformats.org/officeDocument/2006/relationships/slideLayout" Target="/ppt/slideLayouts/slideLayout3.xml" Id="R3d11c53807f742d6" /><Relationship Type="http://schemas.openxmlformats.org/officeDocument/2006/relationships/slideLayout" Target="/ppt/slideLayouts/slideLayout4.xml" Id="Rdfd741c15e7d40f5" /><Relationship Type="http://schemas.openxmlformats.org/officeDocument/2006/relationships/slideLayout" Target="/ppt/slideLayouts/slideLayout5.xml" Id="R853fca9b5ece4427" /><Relationship Type="http://schemas.openxmlformats.org/officeDocument/2006/relationships/slideLayout" Target="/ppt/slideLayouts/slideLayout6.xml" Id="R05728c78a0b048e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c98f8f50efd4305"/>
    <p:sldLayoutId xmlns:r="http://schemas.openxmlformats.org/officeDocument/2006/relationships" id="2147483650" r:id="Rb68ffb9983d14863"/>
    <p:sldLayoutId xmlns:r="http://schemas.openxmlformats.org/officeDocument/2006/relationships" id="2147483651" r:id="R3d11c53807f742d6"/>
    <p:sldLayoutId xmlns:r="http://schemas.openxmlformats.org/officeDocument/2006/relationships" id="2147483652" r:id="Rdfd741c15e7d40f5"/>
    <p:sldLayoutId xmlns:r="http://schemas.openxmlformats.org/officeDocument/2006/relationships" id="2147483653" r:id="R853fca9b5ece4427"/>
    <p:sldLayoutId xmlns:r="http://schemas.openxmlformats.org/officeDocument/2006/relationships" id="2147483654" r:id="R05728c78a0b048e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07b95e98a034bf9" /><Relationship Type="http://schemas.openxmlformats.org/officeDocument/2006/relationships/image" Target="/ppt/media/image.png" Id="R771054d7c0b84703" /><Relationship Type="http://schemas.openxmlformats.org/officeDocument/2006/relationships/notesSlide" Target="/ppt/notesSlides/notesSlide1.xml" Id="R7199fa452319493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8e0356150d4c59" /><Relationship Type="http://schemas.openxmlformats.org/officeDocument/2006/relationships/image" Target="/ppt/media/image2.png" Id="Rf8658545e35e4b12" /><Relationship Type="http://schemas.openxmlformats.org/officeDocument/2006/relationships/notesSlide" Target="/ppt/notesSlides/notesSlide2.xml" Id="Rb7c3ac254c734f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72d9b30c13454f" /><Relationship Type="http://schemas.openxmlformats.org/officeDocument/2006/relationships/image" Target="/ppt/media/image3.png" Id="R22335d7110434369" /><Relationship Type="http://schemas.openxmlformats.org/officeDocument/2006/relationships/notesSlide" Target="/ppt/notesSlides/notesSlide3.xml" Id="R7f7324c020774ee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29a417b91e54576" /><Relationship Type="http://schemas.openxmlformats.org/officeDocument/2006/relationships/image" Target="/ppt/media/image4.png" Id="R41fc13d34d2a48a9" /><Relationship Type="http://schemas.openxmlformats.org/officeDocument/2006/relationships/notesSlide" Target="/ppt/notesSlides/notesSlide4.xml" Id="R8da89653cc0e4e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6e6f9a4c5b48db" /><Relationship Type="http://schemas.openxmlformats.org/officeDocument/2006/relationships/image" Target="/ppt/media/image5.png" Id="R5a40e46eb19c4ef6" /><Relationship Type="http://schemas.openxmlformats.org/officeDocument/2006/relationships/notesSlide" Target="/ppt/notesSlides/notesSlide5.xml" Id="Rfd444c1ac89f4fb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8ab4bd610d4058" /><Relationship Type="http://schemas.openxmlformats.org/officeDocument/2006/relationships/image" Target="/ppt/media/image6.png" Id="R8da983ce09e743ce" /><Relationship Type="http://schemas.openxmlformats.org/officeDocument/2006/relationships/notesSlide" Target="/ppt/notesSlides/notesSlide6.xml" Id="R88403886c41543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302fde0f65410c" /><Relationship Type="http://schemas.openxmlformats.org/officeDocument/2006/relationships/image" Target="/ppt/media/image7.png" Id="R68b5839913d54d9d" /><Relationship Type="http://schemas.openxmlformats.org/officeDocument/2006/relationships/notesSlide" Target="/ppt/notesSlides/notesSlide7.xml" Id="R9b0a2a45f3d7407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74cf72119b4c88" /><Relationship Type="http://schemas.openxmlformats.org/officeDocument/2006/relationships/image" Target="/ppt/media/image8.png" Id="Rc163e6fa52764a55" /><Relationship Type="http://schemas.openxmlformats.org/officeDocument/2006/relationships/notesSlide" Target="/ppt/notesSlides/notesSlide8.xml" Id="Raf0cb1de9fa74d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d2368fa2f84191" /><Relationship Type="http://schemas.openxmlformats.org/officeDocument/2006/relationships/image" Target="/ppt/media/image9.png" Id="R6e2349f8f0404e4c" /><Relationship Type="http://schemas.openxmlformats.org/officeDocument/2006/relationships/notesSlide" Target="/ppt/notesSlides/notesSlide9.xml" Id="Rb3ff686b4b774c4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460D3D-D107-4DA0-831F-4ADFDD9E4F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1054d7c0b84703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A5CB6589-8FF3-4920-9CBE-A04468EF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B610A64-E71B-4EC2-ADE4-8EE580682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为什么需要 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7EFD01AB-F358-4C30-966B-36D91DA6E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让一次成功的任务，沉淀为可复用、可验证、可迭代的团队能力</a:t>
            </a:r>
          </a:p>
        </p:txBody>
      </p:sp>
      <p:sp>
        <p:nvSpPr>
          <p:cNvPr id="5" name="panel-0">
            <a:extLst xmlns:a="http://schemas.openxmlformats.org/drawingml/2006/main">
              <a:ext uri="{FF2B5EF4-FFF2-40B4-BE49-F238E27FC236}">
                <a16:creationId xmlns:a16="http://schemas.microsoft.com/office/drawing/2014/main" id="{63C2773B-F02A-4A02-8B49-80A5E63B9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anel-0-label-band">
            <a:extLst xmlns:a="http://schemas.openxmlformats.org/drawingml/2006/main">
              <a:ext uri="{FF2B5EF4-FFF2-40B4-BE49-F238E27FC236}">
                <a16:creationId xmlns:a16="http://schemas.microsoft.com/office/drawing/2014/main" id="{A2BC0F39-DEDE-4E19-BA1F-6762434AE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anel-0-label">
            <a:extLst xmlns:a="http://schemas.openxmlformats.org/drawingml/2006/main">
              <a:ext uri="{FF2B5EF4-FFF2-40B4-BE49-F238E27FC236}">
                <a16:creationId xmlns:a16="http://schemas.microsoft.com/office/drawing/2014/main" id="{CDC35BC7-15C9-489E-A5CA-16C0FFBAE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当前现象</a:t>
            </a:r>
          </a:p>
        </p:txBody>
      </p:sp>
      <p:sp>
        <p:nvSpPr>
          <p:cNvPr id="8" name="item-0-0-title">
            <a:extLst xmlns:a="http://schemas.openxmlformats.org/drawingml/2006/main">
              <a:ext uri="{FF2B5EF4-FFF2-40B4-BE49-F238E27FC236}">
                <a16:creationId xmlns:a16="http://schemas.microsoft.com/office/drawing/2014/main" id="{0D7530E4-56C8-4EE4-A9B5-662C7B1B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已经开始使用 Qoder</a:t>
            </a:r>
          </a:p>
        </p:txBody>
      </p:sp>
      <p:sp>
        <p:nvSpPr>
          <p:cNvPr id="9" name="item-0-0-body">
            <a:extLst xmlns:a="http://schemas.openxmlformats.org/drawingml/2006/main">
              <a:ext uri="{FF2B5EF4-FFF2-40B4-BE49-F238E27FC236}">
                <a16:creationId xmlns:a16="http://schemas.microsoft.com/office/drawing/2014/main" id="{BCB9B873-1178-4DFF-AD94-1F37FDE09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不少同事已把 AI 用到日常工作中</a:t>
            </a:r>
          </a:p>
        </p:txBody>
      </p:sp>
      <p:sp>
        <p:nvSpPr>
          <p:cNvPr id="10" name="item-0-1-title">
            <a:extLst xmlns:a="http://schemas.openxmlformats.org/drawingml/2006/main">
              <a:ext uri="{FF2B5EF4-FFF2-40B4-BE49-F238E27FC236}">
                <a16:creationId xmlns:a16="http://schemas.microsoft.com/office/drawing/2014/main" id="{289897D5-9ECC-40FC-8FCA-EB148866D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数据处理是主要场景</a:t>
            </a:r>
          </a:p>
        </p:txBody>
      </p:sp>
      <p:sp>
        <p:nvSpPr>
          <p:cNvPr id="11" name="item-0-1-body">
            <a:extLst xmlns:a="http://schemas.openxmlformats.org/drawingml/2006/main">
              <a:ext uri="{FF2B5EF4-FFF2-40B4-BE49-F238E27FC236}">
                <a16:creationId xmlns:a16="http://schemas.microsoft.com/office/drawing/2014/main" id="{8787F016-4D17-4B93-819B-CFC2A0B9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整理明细、汇总报表、解释结果</a:t>
            </a:r>
          </a:p>
        </p:txBody>
      </p:sp>
      <p:sp>
        <p:nvSpPr>
          <p:cNvPr id="12" name="item-0-2-title">
            <a:extLst xmlns:a="http://schemas.openxmlformats.org/drawingml/2006/main">
              <a:ext uri="{FF2B5EF4-FFF2-40B4-BE49-F238E27FC236}">
                <a16:creationId xmlns:a16="http://schemas.microsoft.com/office/drawing/2014/main" id="{C41578D6-64A9-4D5A-928C-BB42C9BC8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主要仍通过 Chat 完成工作</a:t>
            </a:r>
          </a:p>
        </p:txBody>
      </p:sp>
      <p:sp>
        <p:nvSpPr>
          <p:cNvPr id="13" name="item-0-2-body">
            <a:extLst xmlns:a="http://schemas.openxmlformats.org/drawingml/2006/main">
              <a:ext uri="{FF2B5EF4-FFF2-40B4-BE49-F238E27FC236}">
                <a16:creationId xmlns:a16="http://schemas.microsoft.com/office/drawing/2014/main" id="{1BCD4D77-7139-40CF-A7FE-60D4EA25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每次重新说明需求，再反复调整</a:t>
            </a:r>
          </a:p>
        </p:txBody>
      </p:sp>
      <p:sp>
        <p:nvSpPr>
          <p:cNvPr id="14" name="item-0-3-title">
            <a:extLst xmlns:a="http://schemas.openxmlformats.org/drawingml/2006/main">
              <a:ext uri="{FF2B5EF4-FFF2-40B4-BE49-F238E27FC236}">
                <a16:creationId xmlns:a16="http://schemas.microsoft.com/office/drawing/2014/main" id="{1A2E8DD4-AD08-424E-8935-0847D5314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成功经验尚未稳定沉淀</a:t>
            </a:r>
          </a:p>
        </p:txBody>
      </p:sp>
      <p:sp>
        <p:nvSpPr>
          <p:cNvPr id="15" name="item-0-3-body">
            <a:extLst xmlns:a="http://schemas.openxmlformats.org/drawingml/2006/main">
              <a:ext uri="{FF2B5EF4-FFF2-40B4-BE49-F238E27FC236}">
                <a16:creationId xmlns:a16="http://schemas.microsoft.com/office/drawing/2014/main" id="{C379D2D3-27E5-4F85-9487-2CBBFA80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换一个 Chat，往往又要从头解释</a:t>
            </a:r>
          </a:p>
        </p:txBody>
      </p:sp>
      <p:sp>
        <p:nvSpPr>
          <p:cNvPr id="16" name="panel-1">
            <a:extLst xmlns:a="http://schemas.openxmlformats.org/drawingml/2006/main">
              <a:ext uri="{FF2B5EF4-FFF2-40B4-BE49-F238E27FC236}">
                <a16:creationId xmlns:a16="http://schemas.microsoft.com/office/drawing/2014/main" id="{0244ED78-493C-44FA-BC81-7257AF15B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29718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7" name="panel-1-label-band">
            <a:extLst xmlns:a="http://schemas.openxmlformats.org/drawingml/2006/main">
              <a:ext uri="{FF2B5EF4-FFF2-40B4-BE49-F238E27FC236}">
                <a16:creationId xmlns:a16="http://schemas.microsoft.com/office/drawing/2014/main" id="{CC83033A-A504-44A2-B490-CF6875A63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53530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anel-1-label">
            <a:extLst xmlns:a="http://schemas.openxmlformats.org/drawingml/2006/main">
              <a:ext uri="{FF2B5EF4-FFF2-40B4-BE49-F238E27FC236}">
                <a16:creationId xmlns:a16="http://schemas.microsoft.com/office/drawing/2014/main" id="{12E11229-F7E1-434C-BF65-3EA4E28FB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95550"/>
            <a:ext cx="5010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下一步目标</a:t>
            </a:r>
          </a:p>
        </p:txBody>
      </p:sp>
      <p:sp>
        <p:nvSpPr>
          <p:cNvPr id="19" name="item-1-0-title">
            <a:extLst xmlns:a="http://schemas.openxmlformats.org/drawingml/2006/main">
              <a:ext uri="{FF2B5EF4-FFF2-40B4-BE49-F238E27FC236}">
                <a16:creationId xmlns:a16="http://schemas.microsoft.com/office/drawing/2014/main" id="{B9B4EEB7-6328-40F6-A2D8-EDD67916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09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感知 Skill 的作用</a:t>
            </a:r>
          </a:p>
        </p:txBody>
      </p:sp>
      <p:sp>
        <p:nvSpPr>
          <p:cNvPr id="20" name="item-1-0-body">
            <a:extLst xmlns:a="http://schemas.openxmlformats.org/drawingml/2006/main">
              <a:ext uri="{FF2B5EF4-FFF2-40B4-BE49-F238E27FC236}">
                <a16:creationId xmlns:a16="http://schemas.microsoft.com/office/drawing/2014/main" id="{8461C619-DB8A-4DC6-9C91-EFCBDBC59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276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看见流程和规则复用带来的价值</a:t>
            </a:r>
          </a:p>
        </p:txBody>
      </p:sp>
      <p:sp>
        <p:nvSpPr>
          <p:cNvPr id="21" name="item-1-1-title">
            <a:extLst xmlns:a="http://schemas.openxmlformats.org/drawingml/2006/main">
              <a:ext uri="{FF2B5EF4-FFF2-40B4-BE49-F238E27FC236}">
                <a16:creationId xmlns:a16="http://schemas.microsoft.com/office/drawing/2014/main" id="{C3EE48CE-31C8-4623-97A5-1708AD271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81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一次性完成成为可复用能力</a:t>
            </a:r>
          </a:p>
        </p:txBody>
      </p:sp>
      <p:sp>
        <p:nvSpPr>
          <p:cNvPr id="22" name="item-1-1-body">
            <a:extLst xmlns:a="http://schemas.openxmlformats.org/drawingml/2006/main">
              <a:ext uri="{FF2B5EF4-FFF2-40B4-BE49-F238E27FC236}">
                <a16:creationId xmlns:a16="http://schemas.microsoft.com/office/drawing/2014/main" id="{418FD037-A828-4C04-A892-9964D89BE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848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把成功方法留在完整的能力包中</a:t>
            </a:r>
          </a:p>
        </p:txBody>
      </p:sp>
      <p:sp>
        <p:nvSpPr>
          <p:cNvPr id="23" name="item-1-2-title">
            <a:extLst xmlns:a="http://schemas.openxmlformats.org/drawingml/2006/main">
              <a:ext uri="{FF2B5EF4-FFF2-40B4-BE49-F238E27FC236}">
                <a16:creationId xmlns:a16="http://schemas.microsoft.com/office/drawing/2014/main" id="{1C56D2FC-31CF-4FC4-B997-5AD635711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1529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个人经验成为团队共同方法</a:t>
            </a:r>
          </a:p>
        </p:txBody>
      </p:sp>
      <p:sp>
        <p:nvSpPr>
          <p:cNvPr id="24" name="item-1-2-body">
            <a:extLst xmlns:a="http://schemas.openxmlformats.org/drawingml/2006/main">
              <a:ext uri="{FF2B5EF4-FFF2-40B4-BE49-F238E27FC236}">
                <a16:creationId xmlns:a16="http://schemas.microsoft.com/office/drawing/2014/main" id="{7F25A8FE-5E83-485F-A5CC-AFFE4705E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196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让另一位同事也能按同一口径完成</a:t>
            </a:r>
          </a:p>
        </p:txBody>
      </p:sp>
      <p:sp>
        <p:nvSpPr>
          <p:cNvPr id="25" name="item-1-3-title">
            <a:extLst xmlns:a="http://schemas.openxmlformats.org/drawingml/2006/main">
              <a:ext uri="{FF2B5EF4-FFF2-40B4-BE49-F238E27FC236}">
                <a16:creationId xmlns:a16="http://schemas.microsoft.com/office/drawing/2014/main" id="{7642C699-5CE1-480D-8C14-90110DB6B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24400"/>
            <a:ext cx="4933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形成共同的工程语言</a:t>
            </a:r>
          </a:p>
        </p:txBody>
      </p:sp>
      <p:sp>
        <p:nvSpPr>
          <p:cNvPr id="26" name="item-1-3-body">
            <a:extLst xmlns:a="http://schemas.openxmlformats.org/drawingml/2006/main">
              <a:ext uri="{FF2B5EF4-FFF2-40B4-BE49-F238E27FC236}">
                <a16:creationId xmlns:a16="http://schemas.microsoft.com/office/drawing/2014/main" id="{255E4019-4146-4F25-A41E-311342A4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991100"/>
            <a:ext cx="493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知道如何设计、执行、验证和改进</a:t>
            </a:r>
          </a:p>
        </p:txBody>
      </p:sp>
      <p:sp>
        <p:nvSpPr>
          <p:cNvPr id="27" name="flow-arrow">
            <a:extLst xmlns:a="http://schemas.openxmlformats.org/drawingml/2006/main">
              <a:ext uri="{FF2B5EF4-FFF2-40B4-BE49-F238E27FC236}">
                <a16:creationId xmlns:a16="http://schemas.microsoft.com/office/drawing/2014/main" id="{1896AB5F-6764-4A79-967B-BD2BF2206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3705225"/>
            <a:ext cx="34290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8B695581-9518-496F-A3F9-5B8FE0ECA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9" name="takeaway">
            <a:extLst xmlns:a="http://schemas.openxmlformats.org/drawingml/2006/main">
              <a:ext uri="{FF2B5EF4-FFF2-40B4-BE49-F238E27FC236}">
                <a16:creationId xmlns:a16="http://schemas.microsoft.com/office/drawing/2014/main" id="{65DC66AF-3CFC-45C8-AA54-56AB94E8C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把 Chat 中成功的方法沉淀为 Skill，再通过验证与复用完善它。</a:t>
            </a:r>
          </a:p>
        </p:txBody>
      </p:sp>
      <p:sp>
        <p:nvSpPr>
          <p:cNvPr id="30" name="byline">
            <a:extLst xmlns:a="http://schemas.openxmlformats.org/drawingml/2006/main">
              <a:ext uri="{FF2B5EF4-FFF2-40B4-BE49-F238E27FC236}">
                <a16:creationId xmlns:a16="http://schemas.microsoft.com/office/drawing/2014/main" id="{151DD17B-F026-4851-9EC6-418FFDD3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1" name="page">
            <a:extLst xmlns:a="http://schemas.openxmlformats.org/drawingml/2006/main">
              <a:ext uri="{FF2B5EF4-FFF2-40B4-BE49-F238E27FC236}">
                <a16:creationId xmlns:a16="http://schemas.microsoft.com/office/drawing/2014/main" id="{B359C03C-40A2-409D-A4C1-1E25F682C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01 / 09</a:t>
            </a:r>
          </a:p>
        </p:txBody>
      </p:sp>
    </p:spTree>
    <p:extLst>
      <p:ext uri="{BB962C8B-B14F-4D97-AF65-F5344CB8AC3E}">
        <p14:creationId xmlns:p14="http://schemas.microsoft.com/office/powerpoint/2010/main" val="21258616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76C940-8B1F-49AC-8F47-38A670F477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658545e35e4b12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CC5F6EEB-7161-45AA-9EC3-B91001733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A9EBBF8-73B7-40A6-B725-153DC3ED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从一次数据处理任务说起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DCE4D2CF-883E-4D30-9A29-C419E0993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拿到下面这份工单明细，怎样让 AI 把它整理成 10 月 10 日的日报？</a:t>
            </a:r>
          </a:p>
        </p:txBody>
      </p:sp>
      <p:sp>
        <p:nvSpPr>
          <p:cNvPr id="5" name="input-label">
            <a:extLst xmlns:a="http://schemas.openxmlformats.org/drawingml/2006/main">
              <a:ext uri="{FF2B5EF4-FFF2-40B4-BE49-F238E27FC236}">
                <a16:creationId xmlns:a16="http://schemas.microsoft.com/office/drawing/2014/main" id="{E4E0EEE0-B2E4-42FD-A83F-CFCB96417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561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输入：7 行虚构工单明细</a:t>
            </a:r>
          </a:p>
        </p:txBody>
      </p:sp>
      <p:graphicFrame>
        <p:nvGraphicFrame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41CDE2-72A8-4862-B147-906752F766D4}"/>
              </a:ext>
            </a:extLst>
          </p:cNvPr>
          <p:cNvGraphicFramePr/>
          <p:nvPr/>
        </p:nvGraphicFramePr>
        <p:xfrm>
          <a:off xmlns:a="http://schemas.openxmlformats.org/drawingml/2006/main" x="457200" y="2781300"/>
          <a:ext xmlns:a="http://schemas.openxmlformats.org/drawingml/2006/main" cx="5619750" cy="25431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1676400"/>
                <a:gridCol w="1285875"/>
                <a:gridCol w="1752600"/>
              </a:tblGrid>
              <a:tr h="342900"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工单 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创建日期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状态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425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耗时 / 分钟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T001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60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T002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T003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45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T004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90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T005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待处理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14325"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T006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2026-10-11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已完成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57150" tIns="57150" rIns="57150" bIns="57150"/>
                    <a:lstStyle/>
                    <a:p>
                      <a:r>
                        <a:rPr sz="1350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30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ample-note">
            <a:extLst xmlns:a="http://schemas.openxmlformats.org/drawingml/2006/main">
              <a:ext uri="{FF2B5EF4-FFF2-40B4-BE49-F238E27FC236}">
                <a16:creationId xmlns:a16="http://schemas.microsoft.com/office/drawing/2014/main" id="{8E91FB38-C54B-4507-8AE5-1A0A6F0C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29250"/>
            <a:ext cx="561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35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T004 重复一行；T006 属于 10 月 11 日。</a:t>
            </a:r>
          </a:p>
        </p:txBody>
      </p:sp>
      <p:sp>
        <p:nvSpPr>
          <p:cNvPr id="8" name="sample-task">
            <a:extLst xmlns:a="http://schemas.openxmlformats.org/drawingml/2006/main">
              <a:ext uri="{FF2B5EF4-FFF2-40B4-BE49-F238E27FC236}">
                <a16:creationId xmlns:a16="http://schemas.microsoft.com/office/drawing/2014/main" id="{1FFC5355-9CBD-4548-B055-C3DD5F802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9" name="sample-task-label-band">
            <a:extLst xmlns:a="http://schemas.openxmlformats.org/drawingml/2006/main">
              <a:ext uri="{FF2B5EF4-FFF2-40B4-BE49-F238E27FC236}">
                <a16:creationId xmlns:a16="http://schemas.microsoft.com/office/drawing/2014/main" id="{78E245E9-ED8C-4A01-99FB-3C8F23010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419350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0" name="sample-task-label">
            <a:extLst xmlns:a="http://schemas.openxmlformats.org/drawingml/2006/main">
              <a:ext uri="{FF2B5EF4-FFF2-40B4-BE49-F238E27FC236}">
                <a16:creationId xmlns:a16="http://schemas.microsoft.com/office/drawing/2014/main" id="{17168071-6089-48D8-8DF0-382561B0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495550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交给 AI 的任务</a:t>
            </a:r>
          </a:p>
        </p:txBody>
      </p:sp>
      <p:sp>
        <p:nvSpPr>
          <p:cNvPr id="11" name="sample-task-body">
            <a:extLst xmlns:a="http://schemas.openxmlformats.org/drawingml/2006/main">
              <a:ext uri="{FF2B5EF4-FFF2-40B4-BE49-F238E27FC236}">
                <a16:creationId xmlns:a16="http://schemas.microsoft.com/office/drawing/2014/main" id="{839875F7-3D79-4745-8C1B-AC4A6D80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962525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请统计 10 月 10 日创建的工单。相同 ID 完全一致时保留一条，日期、状态或耗时不一致时停下来等我确认。告诉我总数、完成数、待处理数和完成单平均耗时。</a:t>
            </a:r>
          </a:p>
        </p:txBody>
      </p:sp>
      <p:sp>
        <p:nvSpPr>
          <p:cNvPr id="12" name="sample-output">
            <a:extLst xmlns:a="http://schemas.openxmlformats.org/drawingml/2006/main">
              <a:ext uri="{FF2B5EF4-FFF2-40B4-BE49-F238E27FC236}">
                <a16:creationId xmlns:a16="http://schemas.microsoft.com/office/drawing/2014/main" id="{1A297953-9573-4D5C-AC8B-A2DCF358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ample-output-label-band">
            <a:extLst xmlns:a="http://schemas.openxmlformats.org/drawingml/2006/main">
              <a:ext uri="{FF2B5EF4-FFF2-40B4-BE49-F238E27FC236}">
                <a16:creationId xmlns:a16="http://schemas.microsoft.com/office/drawing/2014/main" id="{E3486EED-0C22-4786-9A4E-A2AC0C77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238625"/>
            <a:ext cx="530542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4" name="sample-output-label">
            <a:extLst xmlns:a="http://schemas.openxmlformats.org/drawingml/2006/main">
              <a:ext uri="{FF2B5EF4-FFF2-40B4-BE49-F238E27FC236}">
                <a16:creationId xmlns:a16="http://schemas.microsoft.com/office/drawing/2014/main" id="{484BF129-1931-4A64-AFFB-FE9EA2E36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14825"/>
            <a:ext cx="49625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应该交回的日报</a:t>
            </a:r>
          </a:p>
        </p:txBody>
      </p:sp>
      <p:sp>
        <p:nvSpPr>
          <p:cNvPr id="15" name="sample-output-0">
            <a:extLst xmlns:a="http://schemas.openxmlformats.org/drawingml/2006/main">
              <a:ext uri="{FF2B5EF4-FFF2-40B4-BE49-F238E27FC236}">
                <a16:creationId xmlns:a16="http://schemas.microsoft.com/office/drawing/2014/main" id="{796A8BF3-8FE3-4178-94D3-F9F6F2E7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8101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5 单：完成 3 单，待处理 2 单</a:t>
            </a:r>
          </a:p>
        </p:txBody>
      </p:sp>
      <p:sp>
        <p:nvSpPr>
          <p:cNvPr id="16" name="sample-output-1">
            <a:extLst xmlns:a="http://schemas.openxmlformats.org/drawingml/2006/main">
              <a:ext uri="{FF2B5EF4-FFF2-40B4-BE49-F238E27FC236}">
                <a16:creationId xmlns:a16="http://schemas.microsoft.com/office/drawing/2014/main" id="{9750FCE6-2B76-4C46-B435-72F6270A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153025"/>
            <a:ext cx="4962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完成单平均：(60 + 45 + 90) ÷ 3 = 65 分钟</a:t>
            </a:r>
          </a:p>
        </p:txBody>
      </p:sp>
      <p:sp>
        <p:nvSpPr>
          <p:cNvPr id="1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F1B24527-FE1F-46C4-A0B8-6A08A4DE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takeaway">
            <a:extLst xmlns:a="http://schemas.openxmlformats.org/drawingml/2006/main">
              <a:ext uri="{FF2B5EF4-FFF2-40B4-BE49-F238E27FC236}">
                <a16:creationId xmlns:a16="http://schemas.microsoft.com/office/drawing/2014/main" id="{B7F49B24-1ECE-4443-B79B-B30712482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这份明细要变成一份日报：去重、按创建日期筛选，再统计数量与完成单平均耗时。</a:t>
            </a:r>
          </a:p>
        </p:txBody>
      </p:sp>
      <p:sp>
        <p:nvSpPr>
          <p:cNvPr id="19" name="byline">
            <a:extLst xmlns:a="http://schemas.openxmlformats.org/drawingml/2006/main">
              <a:ext uri="{FF2B5EF4-FFF2-40B4-BE49-F238E27FC236}">
                <a16:creationId xmlns:a16="http://schemas.microsoft.com/office/drawing/2014/main" id="{1998D749-B2F5-4404-94EA-1C43C8DB2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0" name="page">
            <a:extLst xmlns:a="http://schemas.openxmlformats.org/drawingml/2006/main">
              <a:ext uri="{FF2B5EF4-FFF2-40B4-BE49-F238E27FC236}">
                <a16:creationId xmlns:a16="http://schemas.microsoft.com/office/drawing/2014/main" id="{420FFEB4-B557-410F-BF9D-DE963329A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02 / 09</a:t>
            </a:r>
          </a:p>
        </p:txBody>
      </p:sp>
    </p:spTree>
    <p:extLst>
      <p:ext uri="{BB962C8B-B14F-4D97-AF65-F5344CB8AC3E}">
        <p14:creationId xmlns:p14="http://schemas.microsoft.com/office/powerpoint/2010/main" val="8613048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176FDC-A743-4A94-9DFE-5928699454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335d711043436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59306949-65B9-40D6-8A16-16FB48FB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2210239-3E4E-4BC7-8E6E-6E5F482F1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Chat、Skill、Skill Engineering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55850617-C839-431F-A713-A99F6059F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把一次成功的任务，转化成能跨对话复用、执行关键操作、具备验证机制的工作能力。</a:t>
            </a:r>
          </a:p>
        </p:txBody>
      </p:sp>
      <p:sp>
        <p:nvSpPr>
          <p:cNvPr id="5" name="formula-panel">
            <a:extLst xmlns:a="http://schemas.openxmlformats.org/drawingml/2006/main">
              <a:ext uri="{FF2B5EF4-FFF2-40B4-BE49-F238E27FC236}">
                <a16:creationId xmlns:a16="http://schemas.microsoft.com/office/drawing/2014/main" id="{6972CFBC-345E-4449-8BD4-07ADCEEC0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43150"/>
            <a:ext cx="11277600" cy="942975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3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formula">
            <a:extLst xmlns:a="http://schemas.openxmlformats.org/drawingml/2006/main">
              <a:ext uri="{FF2B5EF4-FFF2-40B4-BE49-F238E27FC236}">
                <a16:creationId xmlns:a16="http://schemas.microsoft.com/office/drawing/2014/main" id="{E2C7C234-1B03-4BCB-B983-041A57175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57450"/>
            <a:ext cx="11001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 = Skill Design + Deterministic Execution + Validation + Evaluation + Reuse</a:t>
            </a:r>
          </a:p>
        </p:txBody>
      </p:sp>
      <p:sp>
        <p:nvSpPr>
          <p:cNvPr id="7" name="formula-zh-0">
            <a:extLst xmlns:a="http://schemas.openxmlformats.org/drawingml/2006/main">
              <a:ext uri="{FF2B5EF4-FFF2-40B4-BE49-F238E27FC236}">
                <a16:creationId xmlns:a16="http://schemas.microsoft.com/office/drawing/2014/main" id="{2DE25FF6-A175-41BE-AD3B-F9213D63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技能设计</a:t>
            </a:r>
          </a:p>
        </p:txBody>
      </p:sp>
      <p:sp>
        <p:nvSpPr>
          <p:cNvPr id="8" name="formula-zh-1">
            <a:extLst xmlns:a="http://schemas.openxmlformats.org/drawingml/2006/main">
              <a:ext uri="{FF2B5EF4-FFF2-40B4-BE49-F238E27FC236}">
                <a16:creationId xmlns:a16="http://schemas.microsoft.com/office/drawing/2014/main" id="{BB7DC55E-8D6F-4019-980F-3EB11C3BC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82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确定性执行</a:t>
            </a:r>
          </a:p>
        </p:txBody>
      </p:sp>
      <p:sp>
        <p:nvSpPr>
          <p:cNvPr id="9" name="formula-zh-2">
            <a:extLst xmlns:a="http://schemas.openxmlformats.org/drawingml/2006/main">
              <a:ext uri="{FF2B5EF4-FFF2-40B4-BE49-F238E27FC236}">
                <a16:creationId xmlns:a16="http://schemas.microsoft.com/office/drawing/2014/main" id="{BEBB78A5-00B9-486A-A3B1-1CBA4B1DA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055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结果验证</a:t>
            </a:r>
          </a:p>
        </p:txBody>
      </p:sp>
      <p:sp>
        <p:nvSpPr>
          <p:cNvPr id="10" name="formula-zh-3">
            <a:extLst xmlns:a="http://schemas.openxmlformats.org/drawingml/2006/main">
              <a:ext uri="{FF2B5EF4-FFF2-40B4-BE49-F238E27FC236}">
                <a16:creationId xmlns:a16="http://schemas.microsoft.com/office/drawing/2014/main" id="{0D79D75B-44B3-45D5-95A5-296F90A2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效果评估</a:t>
            </a:r>
          </a:p>
        </p:txBody>
      </p:sp>
      <p:sp>
        <p:nvSpPr>
          <p:cNvPr id="11" name="formula-zh-4">
            <a:extLst xmlns:a="http://schemas.openxmlformats.org/drawingml/2006/main">
              <a:ext uri="{FF2B5EF4-FFF2-40B4-BE49-F238E27FC236}">
                <a16:creationId xmlns:a16="http://schemas.microsoft.com/office/drawing/2014/main" id="{AF7D9509-5099-4AA0-ADE3-12421C32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0275" y="28956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复用传播</a:t>
            </a:r>
          </a:p>
        </p:txBody>
      </p:sp>
      <p:sp>
        <p:nvSpPr>
          <p:cNvPr id="12" name="progression-0">
            <a:extLst xmlns:a="http://schemas.openxmlformats.org/drawingml/2006/main">
              <a:ext uri="{FF2B5EF4-FFF2-40B4-BE49-F238E27FC236}">
                <a16:creationId xmlns:a16="http://schemas.microsoft.com/office/drawing/2014/main" id="{448AC59B-C6F8-4A6F-86E7-40ABB3EC0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progression-0-title">
            <a:extLst xmlns:a="http://schemas.openxmlformats.org/drawingml/2006/main">
              <a:ext uri="{FF2B5EF4-FFF2-40B4-BE49-F238E27FC236}">
                <a16:creationId xmlns:a16="http://schemas.microsoft.com/office/drawing/2014/main" id="{9A101C6D-AB7B-4452-859E-D62A5230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Chat 使用</a:t>
            </a:r>
          </a:p>
        </p:txBody>
      </p:sp>
      <p:sp>
        <p:nvSpPr>
          <p:cNvPr id="14" name="progression-0-sub">
            <a:extLst xmlns:a="http://schemas.openxmlformats.org/drawingml/2006/main">
              <a:ext uri="{FF2B5EF4-FFF2-40B4-BE49-F238E27FC236}">
                <a16:creationId xmlns:a16="http://schemas.microsoft.com/office/drawing/2014/main" id="{0A448B4F-95EE-4576-911C-9FE610D3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单次完成任务</a:t>
            </a:r>
          </a:p>
        </p:txBody>
      </p:sp>
      <p:sp>
        <p:nvSpPr>
          <p:cNvPr id="15" name="progression-0-body">
            <a:extLst xmlns:a="http://schemas.openxmlformats.org/drawingml/2006/main">
              <a:ext uri="{FF2B5EF4-FFF2-40B4-BE49-F238E27FC236}">
                <a16:creationId xmlns:a16="http://schemas.microsoft.com/office/drawing/2014/main" id="{2279746E-00E6-4F54-A4E3-43F5FFE1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提出问题，获得答案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解决当下的任务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5791FDEA-B641-4F99-A4D0-AD387B8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progression-1">
            <a:extLst xmlns:a="http://schemas.openxmlformats.org/drawingml/2006/main">
              <a:ext uri="{FF2B5EF4-FFF2-40B4-BE49-F238E27FC236}">
                <a16:creationId xmlns:a16="http://schemas.microsoft.com/office/drawing/2014/main" id="{D26F6BD4-9B3A-48C8-8317-40464ABE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progression-1-title">
            <a:extLst xmlns:a="http://schemas.openxmlformats.org/drawingml/2006/main">
              <a:ext uri="{FF2B5EF4-FFF2-40B4-BE49-F238E27FC236}">
                <a16:creationId xmlns:a16="http://schemas.microsoft.com/office/drawing/2014/main" id="{4FE3CDF9-5849-4EB6-88C7-D69F0432B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使用</a:t>
            </a:r>
          </a:p>
        </p:txBody>
      </p:sp>
      <p:sp>
        <p:nvSpPr>
          <p:cNvPr id="19" name="progression-1-sub">
            <a:extLst xmlns:a="http://schemas.openxmlformats.org/drawingml/2006/main">
              <a:ext uri="{FF2B5EF4-FFF2-40B4-BE49-F238E27FC236}">
                <a16:creationId xmlns:a16="http://schemas.microsoft.com/office/drawing/2014/main" id="{C6FC14E2-8803-4C38-963E-CE3D58A7A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复用已有能力</a:t>
            </a:r>
          </a:p>
        </p:txBody>
      </p:sp>
      <p:sp>
        <p:nvSpPr>
          <p:cNvPr id="20" name="progression-1-body">
            <a:extLst xmlns:a="http://schemas.openxmlformats.org/drawingml/2006/main">
              <a:ext uri="{FF2B5EF4-FFF2-40B4-BE49-F238E27FC236}">
                <a16:creationId xmlns:a16="http://schemas.microsoft.com/office/drawing/2014/main" id="{ADA614CC-34C8-4BE1-9183-09F49A3E7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调用已沉淀的流程和资源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按约定方法完成任务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D32C3694-5C6C-4A98-9D8A-20FADF9F8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324350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rogression-2">
            <a:extLst xmlns:a="http://schemas.openxmlformats.org/drawingml/2006/main">
              <a:ext uri="{FF2B5EF4-FFF2-40B4-BE49-F238E27FC236}">
                <a16:creationId xmlns:a16="http://schemas.microsoft.com/office/drawing/2014/main" id="{9C285628-966E-41DB-93B6-876E31D8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33337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progression-2-title">
            <a:extLst xmlns:a="http://schemas.openxmlformats.org/drawingml/2006/main">
              <a:ext uri="{FF2B5EF4-FFF2-40B4-BE49-F238E27FC236}">
                <a16:creationId xmlns:a16="http://schemas.microsoft.com/office/drawing/2014/main" id="{CA1F9C77-B016-468F-9C21-A23972D9A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867150"/>
            <a:ext cx="3105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 Engineering</a:t>
            </a:r>
          </a:p>
        </p:txBody>
      </p:sp>
      <p:sp>
        <p:nvSpPr>
          <p:cNvPr id="24" name="progression-2-sub">
            <a:extLst xmlns:a="http://schemas.openxmlformats.org/drawingml/2006/main">
              <a:ext uri="{FF2B5EF4-FFF2-40B4-BE49-F238E27FC236}">
                <a16:creationId xmlns:a16="http://schemas.microsoft.com/office/drawing/2014/main" id="{EAA49C21-4234-4E95-8B6D-4CD85553D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4305300"/>
            <a:ext cx="3048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工程化沉淀与持续优化</a:t>
            </a:r>
          </a:p>
        </p:txBody>
      </p:sp>
      <p:sp>
        <p:nvSpPr>
          <p:cNvPr id="25" name="progression-2-body">
            <a:extLst xmlns:a="http://schemas.openxmlformats.org/drawingml/2006/main">
              <a:ext uri="{FF2B5EF4-FFF2-40B4-BE49-F238E27FC236}">
                <a16:creationId xmlns:a16="http://schemas.microsoft.com/office/drawing/2014/main" id="{B3F122DF-58E2-4CC0-8668-EBB73E01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4762500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分清规则、实现与验证</a:t>
            </a:r>
          </a:p>
          <a:p xmlns:a="http://schemas.openxmlformats.org/drawingml/2006/main">
            <a:pPr algn="ctr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换对话、换数据、换人复用</a:t>
            </a:r>
          </a:p>
        </p:txBody>
      </p:sp>
      <p:sp>
        <p:nvSpPr>
          <p:cNvPr id="2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A9BAB7AB-54A5-4C6D-A691-8BB64E407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takeaway">
            <a:extLst xmlns:a="http://schemas.openxmlformats.org/drawingml/2006/main">
              <a:ext uri="{FF2B5EF4-FFF2-40B4-BE49-F238E27FC236}">
                <a16:creationId xmlns:a16="http://schemas.microsoft.com/office/drawing/2014/main" id="{4BD493C4-43E4-48C1-AE95-CA913A7B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更稳定：新 Chat 也能复现。更可靠：关键计算可验证。更高效：团队可复用、可传播。</a:t>
            </a:r>
          </a:p>
        </p:txBody>
      </p:sp>
      <p:sp>
        <p:nvSpPr>
          <p:cNvPr id="28" name="byline">
            <a:extLst xmlns:a="http://schemas.openxmlformats.org/drawingml/2006/main">
              <a:ext uri="{FF2B5EF4-FFF2-40B4-BE49-F238E27FC236}">
                <a16:creationId xmlns:a16="http://schemas.microsoft.com/office/drawing/2014/main" id="{D93C607B-0A42-4993-A852-1C88434FB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9" name="page">
            <a:extLst xmlns:a="http://schemas.openxmlformats.org/drawingml/2006/main">
              <a:ext uri="{FF2B5EF4-FFF2-40B4-BE49-F238E27FC236}">
                <a16:creationId xmlns:a16="http://schemas.microsoft.com/office/drawing/2014/main" id="{6E41A4E4-D414-4D94-94D6-93953F33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03 / 09</a:t>
            </a:r>
          </a:p>
        </p:txBody>
      </p:sp>
    </p:spTree>
    <p:extLst>
      <p:ext uri="{BB962C8B-B14F-4D97-AF65-F5344CB8AC3E}">
        <p14:creationId xmlns:p14="http://schemas.microsoft.com/office/powerpoint/2010/main" val="29732421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D44B15-5E79-4D1F-930C-4073DBAF46D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c13d34d2a48a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E8B0A9D9-CB9B-4434-AB23-81AD94489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78E6216-0332-4CB0-A8B6-732F8D85A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一个数据处理 Skill 的两个部分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AA2F27D1-7080-4987-927C-F9C5CFA9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Workflow 安排任务怎样推进，Data Processing 完成数据的解析、转换与计算。</a:t>
            </a:r>
          </a:p>
        </p:txBody>
      </p:sp>
      <p:sp>
        <p:nvSpPr>
          <p:cNvPr id="5" name="workflow-label-band">
            <a:extLst xmlns:a="http://schemas.openxmlformats.org/drawingml/2006/main">
              <a:ext uri="{FF2B5EF4-FFF2-40B4-BE49-F238E27FC236}">
                <a16:creationId xmlns:a16="http://schemas.microsoft.com/office/drawing/2014/main" id="{687B85FE-CBD7-45FD-8FC5-1290A42C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33625"/>
            <a:ext cx="112776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workflow-label">
            <a:extLst xmlns:a="http://schemas.openxmlformats.org/drawingml/2006/main">
              <a:ext uri="{FF2B5EF4-FFF2-40B4-BE49-F238E27FC236}">
                <a16:creationId xmlns:a16="http://schemas.microsoft.com/office/drawing/2014/main" id="{9FD5B8B9-8BB2-4039-9E4A-9F01A0EE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09825"/>
            <a:ext cx="10934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Workflow：任务怎样推进</a:t>
            </a:r>
          </a:p>
        </p:txBody>
      </p:sp>
      <p:sp>
        <p:nvSpPr>
          <p:cNvPr id="7" name="step-0">
            <a:extLst xmlns:a="http://schemas.openxmlformats.org/drawingml/2006/main">
              <a:ext uri="{FF2B5EF4-FFF2-40B4-BE49-F238E27FC236}">
                <a16:creationId xmlns:a16="http://schemas.microsoft.com/office/drawing/2014/main" id="{23EEF9BF-C15E-4DE5-8072-6BF7A378A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8" name="step-0-number">
            <a:extLst xmlns:a="http://schemas.openxmlformats.org/drawingml/2006/main">
              <a:ext uri="{FF2B5EF4-FFF2-40B4-BE49-F238E27FC236}">
                <a16:creationId xmlns:a16="http://schemas.microsoft.com/office/drawing/2014/main" id="{F2E03227-08FA-4F10-AABD-84691DFC6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step-0-title">
            <a:extLst xmlns:a="http://schemas.openxmlformats.org/drawingml/2006/main">
              <a:ext uri="{FF2B5EF4-FFF2-40B4-BE49-F238E27FC236}">
                <a16:creationId xmlns:a16="http://schemas.microsoft.com/office/drawing/2014/main" id="{B7375300-BDA0-4D1D-B4D8-A1CEECC8A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理解任务</a:t>
            </a:r>
          </a:p>
        </p:txBody>
      </p:sp>
      <p:sp>
        <p:nvSpPr>
          <p:cNvPr id="10" name="step-0-body">
            <a:extLst xmlns:a="http://schemas.openxmlformats.org/drawingml/2006/main">
              <a:ext uri="{FF2B5EF4-FFF2-40B4-BE49-F238E27FC236}">
                <a16:creationId xmlns:a16="http://schemas.microsoft.com/office/drawing/2014/main" id="{A3D3163F-A4DF-44BD-A0D4-438D706B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确认目标与业务规则</a:t>
            </a:r>
          </a:p>
        </p:txBody>
      </p:sp>
      <p:sp>
        <p:nvSpPr>
          <p:cNvPr id="11" name="flow-arrow">
            <a:extLst xmlns:a="http://schemas.openxmlformats.org/drawingml/2006/main">
              <a:ext uri="{FF2B5EF4-FFF2-40B4-BE49-F238E27FC236}">
                <a16:creationId xmlns:a16="http://schemas.microsoft.com/office/drawing/2014/main" id="{6A757F97-F0D7-418A-A3FD-FC0FD6495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tep-1">
            <a:extLst xmlns:a="http://schemas.openxmlformats.org/drawingml/2006/main">
              <a:ext uri="{FF2B5EF4-FFF2-40B4-BE49-F238E27FC236}">
                <a16:creationId xmlns:a16="http://schemas.microsoft.com/office/drawing/2014/main" id="{F5F35576-06D0-4837-ABBC-7CA45ED8A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3" name="step-1-number">
            <a:extLst xmlns:a="http://schemas.openxmlformats.org/drawingml/2006/main">
              <a:ext uri="{FF2B5EF4-FFF2-40B4-BE49-F238E27FC236}">
                <a16:creationId xmlns:a16="http://schemas.microsoft.com/office/drawing/2014/main" id="{C7E7E9C7-BAD0-4947-B98E-A0EF3A7F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4" name="step-1-title">
            <a:extLst xmlns:a="http://schemas.openxmlformats.org/drawingml/2006/main">
              <a:ext uri="{FF2B5EF4-FFF2-40B4-BE49-F238E27FC236}">
                <a16:creationId xmlns:a16="http://schemas.microsoft.com/office/drawing/2014/main" id="{FB3CB47D-A9FD-480C-BE98-25CB7211E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检查输入</a:t>
            </a:r>
          </a:p>
        </p:txBody>
      </p:sp>
      <p:sp>
        <p:nvSpPr>
          <p:cNvPr id="15" name="step-1-body">
            <a:extLst xmlns:a="http://schemas.openxmlformats.org/drawingml/2006/main">
              <a:ext uri="{FF2B5EF4-FFF2-40B4-BE49-F238E27FC236}">
                <a16:creationId xmlns:a16="http://schemas.microsoft.com/office/drawing/2014/main" id="{E2D5B4F0-EAE7-4A0B-BC1B-59F27297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核对字段、类型、日期</a:t>
            </a:r>
          </a:p>
        </p:txBody>
      </p:sp>
      <p:sp>
        <p:nvSpPr>
          <p:cNvPr id="16" name="flow-arrow">
            <a:extLst xmlns:a="http://schemas.openxmlformats.org/drawingml/2006/main">
              <a:ext uri="{FF2B5EF4-FFF2-40B4-BE49-F238E27FC236}">
                <a16:creationId xmlns:a16="http://schemas.microsoft.com/office/drawing/2014/main" id="{077735B2-82FA-4256-9736-E93401A13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step-2">
            <a:extLst xmlns:a="http://schemas.openxmlformats.org/drawingml/2006/main">
              <a:ext uri="{FF2B5EF4-FFF2-40B4-BE49-F238E27FC236}">
                <a16:creationId xmlns:a16="http://schemas.microsoft.com/office/drawing/2014/main" id="{4C1209BD-6494-439D-A5A0-AE4563C89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step-2-number">
            <a:extLst xmlns:a="http://schemas.openxmlformats.org/drawingml/2006/main">
              <a:ext uri="{FF2B5EF4-FFF2-40B4-BE49-F238E27FC236}">
                <a16:creationId xmlns:a16="http://schemas.microsoft.com/office/drawing/2014/main" id="{42BF5806-458B-4F60-BD96-7E651139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9" name="step-2-title">
            <a:extLst xmlns:a="http://schemas.openxmlformats.org/drawingml/2006/main">
              <a:ext uri="{FF2B5EF4-FFF2-40B4-BE49-F238E27FC236}">
                <a16:creationId xmlns:a16="http://schemas.microsoft.com/office/drawing/2014/main" id="{FA165650-EB91-4D0F-A057-D96C41B3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执行处理</a:t>
            </a:r>
          </a:p>
        </p:txBody>
      </p:sp>
      <p:sp>
        <p:nvSpPr>
          <p:cNvPr id="20" name="step-2-body">
            <a:extLst xmlns:a="http://schemas.openxmlformats.org/drawingml/2006/main">
              <a:ext uri="{FF2B5EF4-FFF2-40B4-BE49-F238E27FC236}">
                <a16:creationId xmlns:a16="http://schemas.microsoft.com/office/drawing/2014/main" id="{3BC2F049-62DB-4552-BB2F-840D31303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筛选、关联、去重、汇总</a:t>
            </a:r>
          </a:p>
        </p:txBody>
      </p:sp>
      <p:sp>
        <p:nvSpPr>
          <p:cNvPr id="21" name="flow-arrow">
            <a:extLst xmlns:a="http://schemas.openxmlformats.org/drawingml/2006/main">
              <a:ext uri="{FF2B5EF4-FFF2-40B4-BE49-F238E27FC236}">
                <a16:creationId xmlns:a16="http://schemas.microsoft.com/office/drawing/2014/main" id="{0D8F9339-F595-4601-AFBE-BCA89DB20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ep-3">
            <a:extLst xmlns:a="http://schemas.openxmlformats.org/drawingml/2006/main">
              <a:ext uri="{FF2B5EF4-FFF2-40B4-BE49-F238E27FC236}">
                <a16:creationId xmlns:a16="http://schemas.microsoft.com/office/drawing/2014/main" id="{A3563FCB-0CEB-4797-990F-33BDCC6F8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step-3-number">
            <a:extLst xmlns:a="http://schemas.openxmlformats.org/drawingml/2006/main">
              <a:ext uri="{FF2B5EF4-FFF2-40B4-BE49-F238E27FC236}">
                <a16:creationId xmlns:a16="http://schemas.microsoft.com/office/drawing/2014/main" id="{2DBC4705-94C1-47A2-8F81-BC6B22E46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4" name="step-3-title">
            <a:extLst xmlns:a="http://schemas.openxmlformats.org/drawingml/2006/main">
              <a:ext uri="{FF2B5EF4-FFF2-40B4-BE49-F238E27FC236}">
                <a16:creationId xmlns:a16="http://schemas.microsoft.com/office/drawing/2014/main" id="{FC295D50-14B3-4D92-B532-E046476F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验证结果</a:t>
            </a:r>
          </a:p>
        </p:txBody>
      </p:sp>
      <p:sp>
        <p:nvSpPr>
          <p:cNvPr id="25" name="step-3-body">
            <a:extLst xmlns:a="http://schemas.openxmlformats.org/drawingml/2006/main">
              <a:ext uri="{FF2B5EF4-FFF2-40B4-BE49-F238E27FC236}">
                <a16:creationId xmlns:a16="http://schemas.microsoft.com/office/drawing/2014/main" id="{32022333-FD2A-4FD9-9DBA-D752A17B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每次核对，失败停止</a:t>
            </a:r>
          </a:p>
        </p:txBody>
      </p:sp>
      <p:sp>
        <p:nvSpPr>
          <p:cNvPr id="26" name="flow-arrow">
            <a:extLst xmlns:a="http://schemas.openxmlformats.org/drawingml/2006/main">
              <a:ext uri="{FF2B5EF4-FFF2-40B4-BE49-F238E27FC236}">
                <a16:creationId xmlns:a16="http://schemas.microsoft.com/office/drawing/2014/main" id="{B3638C39-6B31-4A22-B96E-DF49F50FD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495675"/>
            <a:ext cx="238125" cy="2857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step-4">
            <a:extLst xmlns:a="http://schemas.openxmlformats.org/drawingml/2006/main">
              <a:ext uri="{FF2B5EF4-FFF2-40B4-BE49-F238E27FC236}">
                <a16:creationId xmlns:a16="http://schemas.microsoft.com/office/drawing/2014/main" id="{6AB1A891-54E3-4522-B111-D6748824F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943225"/>
            <a:ext cx="19812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8" name="step-4-number">
            <a:extLst xmlns:a="http://schemas.openxmlformats.org/drawingml/2006/main">
              <a:ext uri="{FF2B5EF4-FFF2-40B4-BE49-F238E27FC236}">
                <a16:creationId xmlns:a16="http://schemas.microsoft.com/office/drawing/2014/main" id="{CD3C44E4-5D0F-44EF-B960-B6162317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0670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3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05</a:t>
            </a:r>
          </a:p>
        </p:txBody>
      </p:sp>
      <p:sp>
        <p:nvSpPr>
          <p:cNvPr id="29" name="step-4-title">
            <a:extLst xmlns:a="http://schemas.openxmlformats.org/drawingml/2006/main">
              <a:ext uri="{FF2B5EF4-FFF2-40B4-BE49-F238E27FC236}">
                <a16:creationId xmlns:a16="http://schemas.microsoft.com/office/drawing/2014/main" id="{030FD7DE-7996-4143-8CD2-5B5A93FC4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419475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0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0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分析交付</a:t>
            </a:r>
          </a:p>
        </p:txBody>
      </p:sp>
      <p:sp>
        <p:nvSpPr>
          <p:cNvPr id="30" name="step-4-body">
            <a:extLst xmlns:a="http://schemas.openxmlformats.org/drawingml/2006/main">
              <a:ext uri="{FF2B5EF4-FFF2-40B4-BE49-F238E27FC236}">
                <a16:creationId xmlns:a16="http://schemas.microsoft.com/office/drawing/2014/main" id="{5D552D8E-89CD-45A5-AA7F-2E82E73F4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3867150"/>
            <a:ext cx="1695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解释结果并交付报表</a:t>
            </a:r>
          </a:p>
        </p:txBody>
      </p:sp>
      <p:sp>
        <p:nvSpPr>
          <p:cNvPr id="31" name="workflow-part-0">
            <a:extLst xmlns:a="http://schemas.openxmlformats.org/drawingml/2006/main">
              <a:ext uri="{FF2B5EF4-FFF2-40B4-BE49-F238E27FC236}">
                <a16:creationId xmlns:a16="http://schemas.microsoft.com/office/drawing/2014/main" id="{198E41E2-CA95-485B-8DCF-770868C4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2" name="workflow-part-0-label">
            <a:extLst xmlns:a="http://schemas.openxmlformats.org/drawingml/2006/main">
              <a:ext uri="{FF2B5EF4-FFF2-40B4-BE49-F238E27FC236}">
                <a16:creationId xmlns:a16="http://schemas.microsoft.com/office/drawing/2014/main" id="{7264E878-CC04-4E0D-9C79-7172DD2A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Workflow（工作流）</a:t>
            </a:r>
          </a:p>
        </p:txBody>
      </p:sp>
      <p:sp>
        <p:nvSpPr>
          <p:cNvPr id="33" name="workflow-part-0-body">
            <a:extLst xmlns:a="http://schemas.openxmlformats.org/drawingml/2006/main">
              <a:ext uri="{FF2B5EF4-FFF2-40B4-BE49-F238E27FC236}">
                <a16:creationId xmlns:a16="http://schemas.microsoft.com/office/drawing/2014/main" id="{EBDA19F4-F59C-42B9-881E-3AA85DDA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决定步骤顺序、如何处理歧义、何时继续、何时停止。</a:t>
            </a:r>
          </a:p>
        </p:txBody>
      </p:sp>
      <p:sp>
        <p:nvSpPr>
          <p:cNvPr id="34" name="workflow-part-1">
            <a:extLst xmlns:a="http://schemas.openxmlformats.org/drawingml/2006/main">
              <a:ext uri="{FF2B5EF4-FFF2-40B4-BE49-F238E27FC236}">
                <a16:creationId xmlns:a16="http://schemas.microsoft.com/office/drawing/2014/main" id="{6A57FDE7-590E-434F-B119-C8478AD4B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91050"/>
            <a:ext cx="5467350" cy="923925"/>
          </a:xfrm>
          <a:prstGeom xmlns:a="http://schemas.openxmlformats.org/drawingml/2006/main" prst="roundRect">
            <a:avLst>
              <a:gd name="adj" fmla="val 12371"/>
            </a:avLst>
          </a:prstGeom>
          <a:solidFill xmlns:a="http://schemas.openxmlformats.org/drawingml/2006/main">
            <a:srgbClr val="F6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5" name="workflow-part-1-label">
            <a:extLst xmlns:a="http://schemas.openxmlformats.org/drawingml/2006/main">
              <a:ext uri="{FF2B5EF4-FFF2-40B4-BE49-F238E27FC236}">
                <a16:creationId xmlns:a16="http://schemas.microsoft.com/office/drawing/2014/main" id="{A605539E-425A-46DD-8DC1-66AEE5D30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695825"/>
            <a:ext cx="51244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Data Processing（数据处理）</a:t>
            </a:r>
          </a:p>
        </p:txBody>
      </p:sp>
      <p:sp>
        <p:nvSpPr>
          <p:cNvPr id="36" name="workflow-part-1-body">
            <a:extLst xmlns:a="http://schemas.openxmlformats.org/drawingml/2006/main">
              <a:ext uri="{FF2B5EF4-FFF2-40B4-BE49-F238E27FC236}">
                <a16:creationId xmlns:a16="http://schemas.microsoft.com/office/drawing/2014/main" id="{DA2A7122-8181-412F-981F-76A9567F2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048250"/>
            <a:ext cx="5124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按确认的规则完成运算，并返回结果、异常与校验信息。</a:t>
            </a:r>
          </a:p>
        </p:txBody>
      </p:sp>
      <p:sp>
        <p:nvSpPr>
          <p:cNvPr id="37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0068877F-3A79-412F-BCB2-204B140F2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8" name="takeaway">
            <a:extLst xmlns:a="http://schemas.openxmlformats.org/drawingml/2006/main">
              <a:ext uri="{FF2B5EF4-FFF2-40B4-BE49-F238E27FC236}">
                <a16:creationId xmlns:a16="http://schemas.microsoft.com/office/drawing/2014/main" id="{62526098-4A3F-4155-8304-C44E06FC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Workflow 安排执行与停止；每次运行通过结果校验后，再分析交付。</a:t>
            </a:r>
          </a:p>
        </p:txBody>
      </p:sp>
      <p:sp>
        <p:nvSpPr>
          <p:cNvPr id="39" name="byline">
            <a:extLst xmlns:a="http://schemas.openxmlformats.org/drawingml/2006/main">
              <a:ext uri="{FF2B5EF4-FFF2-40B4-BE49-F238E27FC236}">
                <a16:creationId xmlns:a16="http://schemas.microsoft.com/office/drawing/2014/main" id="{EAB05C2C-DB63-4760-BC24-4FD529E90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40" name="page">
            <a:extLst xmlns:a="http://schemas.openxmlformats.org/drawingml/2006/main">
              <a:ext uri="{FF2B5EF4-FFF2-40B4-BE49-F238E27FC236}">
                <a16:creationId xmlns:a16="http://schemas.microsoft.com/office/drawing/2014/main" id="{4336D93C-5727-4371-9F73-93EA6318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04 / 09</a:t>
            </a:r>
          </a:p>
        </p:txBody>
      </p:sp>
    </p:spTree>
    <p:extLst>
      <p:ext uri="{BB962C8B-B14F-4D97-AF65-F5344CB8AC3E}">
        <p14:creationId xmlns:p14="http://schemas.microsoft.com/office/powerpoint/2010/main" val="119810145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1C7CA2-6CB2-4F96-AF5B-288604DB743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40e46eb19c4ef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38C6A94E-81E7-4313-9FA0-70E7F1BF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A09438-7158-429A-86DC-DBDAB1378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AI 推理 vs 确定性执行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67847286-123E-4087-BE27-10FE7EA5D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在工作流与数据处理两个层次上，分别确定 AI 和固定代码的职责。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14068-4E24-45A7-B52D-FB229F8ED909}"/>
              </a:ext>
            </a:extLst>
          </p:cNvPr>
          <p:cNvGraphicFramePr/>
          <p:nvPr/>
        </p:nvGraphicFramePr>
        <p:xfrm>
          <a:off xmlns:a="http://schemas.openxmlformats.org/drawingml/2006/main" x="457200" y="2381250"/>
          <a:ext xmlns:a="http://schemas.openxmlformats.org/drawingml/2006/main" cx="11277600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4305300"/>
                <a:gridCol w="4305300"/>
              </a:tblGrid>
              <a:tr h="49530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工作层次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AI 推理负责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Heiti TC"/>
                          <a:ea typeface="Heiti TC"/>
                          <a:cs typeface="Heiti TC"/>
                        </a:rPr>
                        <a:t>确定性实现负责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T w="9525">
                      <a:solidFill>
                        <a:srgbClr val="BCDDFB"/>
                      </a:solidFill>
                      <a:prstDash val="solid"/>
                    </a:lnT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1669DB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Workflow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工作流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识别任务意图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判断异常原因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选择处理策略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固定步骤顺序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状态检查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必经校验、停止条件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52550"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Data Processing</a:t>
                      </a:r>
                    </a:p>
                    <a:p>
                      <a:r>
                        <a:rPr sz="1725" b="1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数据处理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BCDDFB"/>
                      </a:solidFill>
                      <a:prstDash val="solid"/>
                    </a:lnL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EEF7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理解字段含义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识别非标准格式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解释异常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lIns="152400" tIns="152400" rIns="152400" bIns="152400"/>
                    <a:lstStyle/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筛选、关联、去重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汇总、金额计算</a:t>
                      </a:r>
                    </a:p>
                    <a:p>
                      <a:r>
                        <a:rPr sz="1725" b="0">
                          <a:solidFill>
                            <a:srgbClr val="082F75"/>
                          </a:solidFill>
                          <a:latin typeface="Heiti TC"/>
                          <a:ea typeface="Heiti TC"/>
                          <a:cs typeface="Heiti TC"/>
                        </a:rPr>
                        <a:t>格式验证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BCDDFB"/>
                      </a:solidFill>
                      <a:prstDash val="solid"/>
                    </a:lnR>
                    <a:lnB w="9525">
                      <a:solidFill>
                        <a:srgbClr val="BCDDFB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8EE5E6AD-CB9D-4F2D-B73B-34AA260F4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takeaway">
            <a:extLst xmlns:a="http://schemas.openxmlformats.org/drawingml/2006/main">
              <a:ext uri="{FF2B5EF4-FFF2-40B4-BE49-F238E27FC236}">
                <a16:creationId xmlns:a16="http://schemas.microsoft.com/office/drawing/2014/main" id="{EB8E1DB8-F6BE-4838-A4BE-4F396D8FB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让 Agent 处理不确定性，让代码处理确定性，让验证机制决定结果是否可信。</a:t>
            </a:r>
          </a:p>
        </p:txBody>
      </p:sp>
      <p:sp>
        <p:nvSpPr>
          <p:cNvPr id="8" name="byline">
            <a:extLst xmlns:a="http://schemas.openxmlformats.org/drawingml/2006/main">
              <a:ext uri="{FF2B5EF4-FFF2-40B4-BE49-F238E27FC236}">
                <a16:creationId xmlns:a16="http://schemas.microsoft.com/office/drawing/2014/main" id="{BD4360ED-A572-406A-8979-83351958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9" name="page">
            <a:extLst xmlns:a="http://schemas.openxmlformats.org/drawingml/2006/main">
              <a:ext uri="{FF2B5EF4-FFF2-40B4-BE49-F238E27FC236}">
                <a16:creationId xmlns:a16="http://schemas.microsoft.com/office/drawing/2014/main" id="{2BC5C38D-82DB-464B-85AA-A4E34666B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05 / 09</a:t>
            </a:r>
          </a:p>
        </p:txBody>
      </p:sp>
    </p:spTree>
    <p:extLst>
      <p:ext uri="{BB962C8B-B14F-4D97-AF65-F5344CB8AC3E}">
        <p14:creationId xmlns:p14="http://schemas.microsoft.com/office/powerpoint/2010/main" val="185353432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1563B56-B459-41E4-9831-CA70029685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a983ce09e743c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B5D01578-544C-446B-AE77-07BC4D551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1D7F96E-F17A-4264-9D0C-DA4785198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一个好的 Skill 长什么样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41C12990-EF32-4122-8740-CAE7AC46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参考工单 Skill：入口、规则、实现、测试和评估场景各有用途。</a:t>
            </a:r>
          </a:p>
        </p:txBody>
      </p:sp>
      <p:sp>
        <p:nvSpPr>
          <p:cNvPr id="5" name="skill-root">
            <a:extLst xmlns:a="http://schemas.openxmlformats.org/drawingml/2006/main">
              <a:ext uri="{FF2B5EF4-FFF2-40B4-BE49-F238E27FC236}">
                <a16:creationId xmlns:a16="http://schemas.microsoft.com/office/drawing/2014/main" id="{64823107-D3F7-468E-A846-1332C34D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14575"/>
            <a:ext cx="4638675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3F2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skill-root-label">
            <a:extLst xmlns:a="http://schemas.openxmlformats.org/drawingml/2006/main">
              <a:ext uri="{FF2B5EF4-FFF2-40B4-BE49-F238E27FC236}">
                <a16:creationId xmlns:a16="http://schemas.microsoft.com/office/drawing/2014/main" id="{3D2A2AE0-5D25-488D-9C3C-C853FEDC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390775"/>
            <a:ext cx="43719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ctr">
              <a:defRPr sz="217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ticket-daily-report/</a:t>
            </a:r>
          </a:p>
        </p:txBody>
      </p:sp>
      <p:sp>
        <p:nvSpPr>
          <p:cNvPr id="7" name="root-stem">
            <a:extLst xmlns:a="http://schemas.openxmlformats.org/drawingml/2006/main">
              <a:ext uri="{FF2B5EF4-FFF2-40B4-BE49-F238E27FC236}">
                <a16:creationId xmlns:a16="http://schemas.microsoft.com/office/drawing/2014/main" id="{AEFF97E3-AC98-49A1-9377-4B896C7A4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790825"/>
            <a:ext cx="28575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directory-branch">
            <a:extLst xmlns:a="http://schemas.openxmlformats.org/drawingml/2006/main">
              <a:ext uri="{FF2B5EF4-FFF2-40B4-BE49-F238E27FC236}">
                <a16:creationId xmlns:a16="http://schemas.microsoft.com/office/drawing/2014/main" id="{2041B000-53C7-4BD4-8B80-61B6580FE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2990850"/>
            <a:ext cx="920496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directory-stem-0">
            <a:extLst xmlns:a="http://schemas.openxmlformats.org/drawingml/2006/main">
              <a:ext uri="{FF2B5EF4-FFF2-40B4-BE49-F238E27FC236}">
                <a16:creationId xmlns:a16="http://schemas.microsoft.com/office/drawing/2014/main" id="{C94B36EC-A7D8-4F61-87F4-A9C369AF1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directory-stem-1">
            <a:extLst xmlns:a="http://schemas.openxmlformats.org/drawingml/2006/main">
              <a:ext uri="{FF2B5EF4-FFF2-40B4-BE49-F238E27FC236}">
                <a16:creationId xmlns:a16="http://schemas.microsoft.com/office/drawing/2014/main" id="{1A94D2E1-D17D-4E39-A228-08A4CB036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476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directory-stem-2">
            <a:extLst xmlns:a="http://schemas.openxmlformats.org/drawingml/2006/main">
              <a:ext uri="{FF2B5EF4-FFF2-40B4-BE49-F238E27FC236}">
                <a16:creationId xmlns:a16="http://schemas.microsoft.com/office/drawing/2014/main" id="{0B204985-3BF6-46C8-AD35-2DB675C8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directory-stem-3">
            <a:extLst xmlns:a="http://schemas.openxmlformats.org/drawingml/2006/main">
              <a:ext uri="{FF2B5EF4-FFF2-40B4-BE49-F238E27FC236}">
                <a16:creationId xmlns:a16="http://schemas.microsoft.com/office/drawing/2014/main" id="{13CC5010-8C0D-46A1-8C52-5962DBB8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724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directory-stem-4">
            <a:extLst xmlns:a="http://schemas.openxmlformats.org/drawingml/2006/main">
              <a:ext uri="{FF2B5EF4-FFF2-40B4-BE49-F238E27FC236}">
                <a16:creationId xmlns:a16="http://schemas.microsoft.com/office/drawing/2014/main" id="{0BDC560E-06A3-4FD1-A1E1-911CEA45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480" y="3009900"/>
            <a:ext cx="285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directory-0">
            <a:extLst xmlns:a="http://schemas.openxmlformats.org/drawingml/2006/main">
              <a:ext uri="{FF2B5EF4-FFF2-40B4-BE49-F238E27FC236}">
                <a16:creationId xmlns:a16="http://schemas.microsoft.com/office/drawing/2014/main" id="{C34668C9-B0C0-4988-8BEC-208931F13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5" name="directory-0-label">
            <a:extLst xmlns:a="http://schemas.openxmlformats.org/drawingml/2006/main">
              <a:ext uri="{FF2B5EF4-FFF2-40B4-BE49-F238E27FC236}">
                <a16:creationId xmlns:a16="http://schemas.microsoft.com/office/drawing/2014/main" id="{A2CFD133-91E8-4ACF-9FB8-A1BB80D61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SKILL.md</a:t>
            </a:r>
          </a:p>
        </p:txBody>
      </p:sp>
      <p:sp>
        <p:nvSpPr>
          <p:cNvPr id="16" name="directory-0-sub">
            <a:extLst xmlns:a="http://schemas.openxmlformats.org/drawingml/2006/main">
              <a:ext uri="{FF2B5EF4-FFF2-40B4-BE49-F238E27FC236}">
                <a16:creationId xmlns:a16="http://schemas.microsoft.com/office/drawing/2014/main" id="{13889986-EB58-4BCF-926E-D4EAE7ED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执行入口与行为契约</a:t>
            </a:r>
          </a:p>
        </p:txBody>
      </p:sp>
      <p:sp>
        <p:nvSpPr>
          <p:cNvPr id="17" name="directory-0-body">
            <a:extLst xmlns:a="http://schemas.openxmlformats.org/drawingml/2006/main">
              <a:ext uri="{FF2B5EF4-FFF2-40B4-BE49-F238E27FC236}">
                <a16:creationId xmlns:a16="http://schemas.microsoft.com/office/drawing/2014/main" id="{BEFFEB14-7DAF-4581-A1C2-C99F546B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使用条件与输入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执行路径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完成与停止条件</a:t>
            </a:r>
          </a:p>
        </p:txBody>
      </p:sp>
      <p:sp>
        <p:nvSpPr>
          <p:cNvPr id="18" name="directory-1">
            <a:extLst xmlns:a="http://schemas.openxmlformats.org/drawingml/2006/main">
              <a:ext uri="{FF2B5EF4-FFF2-40B4-BE49-F238E27FC236}">
                <a16:creationId xmlns:a16="http://schemas.microsoft.com/office/drawing/2014/main" id="{01B8A919-8DFB-4097-8CB8-D78D25B09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844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directory-1-label">
            <a:extLst xmlns:a="http://schemas.openxmlformats.org/drawingml/2006/main">
              <a:ext uri="{FF2B5EF4-FFF2-40B4-BE49-F238E27FC236}">
                <a16:creationId xmlns:a16="http://schemas.microsoft.com/office/drawing/2014/main" id="{A0F71C9C-9CA9-4600-A5B0-D1DC9C04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references/</a:t>
            </a:r>
          </a:p>
        </p:txBody>
      </p:sp>
      <p:sp>
        <p:nvSpPr>
          <p:cNvPr id="20" name="directory-1-sub">
            <a:extLst xmlns:a="http://schemas.openxmlformats.org/drawingml/2006/main">
              <a:ext uri="{FF2B5EF4-FFF2-40B4-BE49-F238E27FC236}">
                <a16:creationId xmlns:a16="http://schemas.microsoft.com/office/drawing/2014/main" id="{3400CFF7-D946-4D42-892C-38F91CCA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业务规则与数据契约</a:t>
            </a:r>
          </a:p>
        </p:txBody>
      </p:sp>
      <p:sp>
        <p:nvSpPr>
          <p:cNvPr id="21" name="directory-1-body">
            <a:extLst xmlns:a="http://schemas.openxmlformats.org/drawingml/2006/main">
              <a:ext uri="{FF2B5EF4-FFF2-40B4-BE49-F238E27FC236}">
                <a16:creationId xmlns:a16="http://schemas.microsoft.com/office/drawing/2014/main" id="{E0992EA3-8CB0-4607-8B2F-8A75A937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084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data-contract.md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business-rules.md</a:t>
            </a:r>
          </a:p>
        </p:txBody>
      </p:sp>
      <p:sp>
        <p:nvSpPr>
          <p:cNvPr id="22" name="directory-2">
            <a:extLst xmlns:a="http://schemas.openxmlformats.org/drawingml/2006/main">
              <a:ext uri="{FF2B5EF4-FFF2-40B4-BE49-F238E27FC236}">
                <a16:creationId xmlns:a16="http://schemas.microsoft.com/office/drawing/2014/main" id="{D2A6B022-63FC-4034-A8D5-2CEDAF153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968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directory-2-label">
            <a:extLst xmlns:a="http://schemas.openxmlformats.org/drawingml/2006/main">
              <a:ext uri="{FF2B5EF4-FFF2-40B4-BE49-F238E27FC236}">
                <a16:creationId xmlns:a16="http://schemas.microsoft.com/office/drawing/2014/main" id="{B8D52891-1CC2-4232-A828-722F8BC2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scripts/</a:t>
            </a:r>
          </a:p>
        </p:txBody>
      </p:sp>
      <p:sp>
        <p:nvSpPr>
          <p:cNvPr id="24" name="directory-2-sub">
            <a:extLst xmlns:a="http://schemas.openxmlformats.org/drawingml/2006/main">
              <a:ext uri="{FF2B5EF4-FFF2-40B4-BE49-F238E27FC236}">
                <a16:creationId xmlns:a16="http://schemas.microsoft.com/office/drawing/2014/main" id="{01882CEA-EC5A-4327-87F5-BDC0FC494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确定性实现</a:t>
            </a:r>
          </a:p>
        </p:txBody>
      </p:sp>
      <p:sp>
        <p:nvSpPr>
          <p:cNvPr id="25" name="directory-2-body">
            <a:extLst xmlns:a="http://schemas.openxmlformats.org/drawingml/2006/main">
              <a:ext uri="{FF2B5EF4-FFF2-40B4-BE49-F238E27FC236}">
                <a16:creationId xmlns:a16="http://schemas.microsoft.com/office/drawing/2014/main" id="{677A350F-08E1-4D83-94A7-66A51C69E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pipeline.py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检查、计算、校验</a:t>
            </a:r>
          </a:p>
        </p:txBody>
      </p:sp>
      <p:sp>
        <p:nvSpPr>
          <p:cNvPr id="26" name="directory-3">
            <a:extLst xmlns:a="http://schemas.openxmlformats.org/drawingml/2006/main">
              <a:ext uri="{FF2B5EF4-FFF2-40B4-BE49-F238E27FC236}">
                <a16:creationId xmlns:a16="http://schemas.microsoft.com/office/drawing/2014/main" id="{55E60725-F456-45F4-B913-F3E0F4517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92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7" name="directory-3-label">
            <a:extLst xmlns:a="http://schemas.openxmlformats.org/drawingml/2006/main">
              <a:ext uri="{FF2B5EF4-FFF2-40B4-BE49-F238E27FC236}">
                <a16:creationId xmlns:a16="http://schemas.microsoft.com/office/drawing/2014/main" id="{79AA1D68-A148-4672-9C46-2AA3D7CAF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tests/</a:t>
            </a:r>
          </a:p>
        </p:txBody>
      </p:sp>
      <p:sp>
        <p:nvSpPr>
          <p:cNvPr id="28" name="directory-3-sub">
            <a:extLst xmlns:a="http://schemas.openxmlformats.org/drawingml/2006/main">
              <a:ext uri="{FF2B5EF4-FFF2-40B4-BE49-F238E27FC236}">
                <a16:creationId xmlns:a16="http://schemas.microsoft.com/office/drawing/2014/main" id="{7CE1B99F-40FD-4443-8713-0C676B21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程序测试与共用样例</a:t>
            </a:r>
          </a:p>
        </p:txBody>
      </p:sp>
      <p:sp>
        <p:nvSpPr>
          <p:cNvPr id="29" name="directory-3-body">
            <a:extLst xmlns:a="http://schemas.openxmlformats.org/drawingml/2006/main">
              <a:ext uri="{FF2B5EF4-FFF2-40B4-BE49-F238E27FC236}">
                <a16:creationId xmlns:a16="http://schemas.microsoft.com/office/drawing/2014/main" id="{77424A8A-4AEA-4DA8-9C80-2AD9803BB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332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fixtures/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expected/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check-regression.py</a:t>
            </a:r>
          </a:p>
        </p:txBody>
      </p:sp>
      <p:sp>
        <p:nvSpPr>
          <p:cNvPr id="30" name="directory-4">
            <a:extLst xmlns:a="http://schemas.openxmlformats.org/drawingml/2006/main">
              <a:ext uri="{FF2B5EF4-FFF2-40B4-BE49-F238E27FC236}">
                <a16:creationId xmlns:a16="http://schemas.microsoft.com/office/drawing/2014/main" id="{E255B575-0A6B-42C8-9230-9590811E6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2160" y="3333750"/>
            <a:ext cx="207264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1" name="directory-4-label">
            <a:extLst xmlns:a="http://schemas.openxmlformats.org/drawingml/2006/main">
              <a:ext uri="{FF2B5EF4-FFF2-40B4-BE49-F238E27FC236}">
                <a16:creationId xmlns:a16="http://schemas.microsoft.com/office/drawing/2014/main" id="{66A0AC0D-1739-4F48-BB13-D1C453E2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514725"/>
            <a:ext cx="176784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evals/</a:t>
            </a:r>
          </a:p>
        </p:txBody>
      </p:sp>
      <p:sp>
        <p:nvSpPr>
          <p:cNvPr id="32" name="directory-4-sub">
            <a:extLst xmlns:a="http://schemas.openxmlformats.org/drawingml/2006/main">
              <a:ext uri="{FF2B5EF4-FFF2-40B4-BE49-F238E27FC236}">
                <a16:creationId xmlns:a16="http://schemas.microsoft.com/office/drawing/2014/main" id="{41964511-AE28-4FC3-8660-DDF770F9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3933825"/>
            <a:ext cx="176784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4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AI 任务与核对标准</a:t>
            </a:r>
          </a:p>
        </p:txBody>
      </p:sp>
      <p:sp>
        <p:nvSpPr>
          <p:cNvPr id="33" name="directory-4-body">
            <a:extLst xmlns:a="http://schemas.openxmlformats.org/drawingml/2006/main">
              <a:ext uri="{FF2B5EF4-FFF2-40B4-BE49-F238E27FC236}">
                <a16:creationId xmlns:a16="http://schemas.microsoft.com/office/drawing/2014/main" id="{47729CBD-AC1B-4B9B-A9AE-26212756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4560" y="4333875"/>
            <a:ext cx="176784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evals.json</a:t>
            </a:r>
          </a:p>
          <a:p xmlns:a="http://schemas.openxmlformats.org/drawingml/2006/main">
            <a:pPr algn="l">
              <a:defRPr sz="14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4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README.txt</a:t>
            </a:r>
          </a:p>
        </p:txBody>
      </p:sp>
      <p:sp>
        <p:nvSpPr>
          <p:cNvPr id="34" name="optional-directories">
            <a:extLst xmlns:a="http://schemas.openxmlformats.org/drawingml/2006/main">
              <a:ext uri="{FF2B5EF4-FFF2-40B4-BE49-F238E27FC236}">
                <a16:creationId xmlns:a16="http://schemas.microsoft.com/office/drawing/2014/main" id="{938B7D55-61C1-429A-B07A-DCDDE4FC5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343525"/>
            <a:ext cx="11277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按需增加 assets/ 存放模板；evals.json 保存场景，当前没有自动评估程序。</a:t>
            </a:r>
          </a:p>
        </p:txBody>
      </p:sp>
      <p:sp>
        <p:nvSpPr>
          <p:cNvPr id="3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B8373609-770E-496B-BFEB-921813B4F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6" name="takeaway">
            <a:extLst xmlns:a="http://schemas.openxmlformats.org/drawingml/2006/main">
              <a:ext uri="{FF2B5EF4-FFF2-40B4-BE49-F238E27FC236}">
                <a16:creationId xmlns:a16="http://schemas.microsoft.com/office/drawing/2014/main" id="{5DC7FB57-9A57-49F9-B236-93184A184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主文件简洁，细节按需加载（Progressive Disclosure）。简单任务可以只有 SKILL.md。</a:t>
            </a:r>
          </a:p>
        </p:txBody>
      </p:sp>
      <p:sp>
        <p:nvSpPr>
          <p:cNvPr id="37" name="byline">
            <a:extLst xmlns:a="http://schemas.openxmlformats.org/drawingml/2006/main">
              <a:ext uri="{FF2B5EF4-FFF2-40B4-BE49-F238E27FC236}">
                <a16:creationId xmlns:a16="http://schemas.microsoft.com/office/drawing/2014/main" id="{E9F162DA-B7AA-4794-A18E-8EE59C891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8" name="page">
            <a:extLst xmlns:a="http://schemas.openxmlformats.org/drawingml/2006/main">
              <a:ext uri="{FF2B5EF4-FFF2-40B4-BE49-F238E27FC236}">
                <a16:creationId xmlns:a16="http://schemas.microsoft.com/office/drawing/2014/main" id="{9D98552C-8A90-41E6-AC4A-3BB32C289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06 / 09</a:t>
            </a:r>
          </a:p>
        </p:txBody>
      </p:sp>
    </p:spTree>
    <p:extLst>
      <p:ext uri="{BB962C8B-B14F-4D97-AF65-F5344CB8AC3E}">
        <p14:creationId xmlns:p14="http://schemas.microsoft.com/office/powerpoint/2010/main" val="1199137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B0EBFA-9D65-4CEA-89A1-388C51618C1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b5839913d54d9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7465CB51-CCFC-4B6B-960C-C7E18B191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4036717-15C9-4D86-8A47-4296BFC86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Qoder 实操：沉淀一个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BFD6C862-1B2A-4BEC-B99E-4DCD31C5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以已经做对的工单日报为起点，把任务方法整理成能独立执行的能力包。</a:t>
            </a:r>
          </a:p>
        </p:txBody>
      </p:sp>
      <p:sp>
        <p:nvSpPr>
          <p:cNvPr id="5" name="qoder-step-0">
            <a:extLst xmlns:a="http://schemas.openxmlformats.org/drawingml/2006/main">
              <a:ext uri="{FF2B5EF4-FFF2-40B4-BE49-F238E27FC236}">
                <a16:creationId xmlns:a16="http://schemas.microsoft.com/office/drawing/2014/main" id="{CA8C334B-0A8F-45A2-A2D3-16234DB4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qoder-step-0-number">
            <a:extLst xmlns:a="http://schemas.openxmlformats.org/drawingml/2006/main">
              <a:ext uri="{FF2B5EF4-FFF2-40B4-BE49-F238E27FC236}">
                <a16:creationId xmlns:a16="http://schemas.microsoft.com/office/drawing/2014/main" id="{ECD2F1FB-D310-4F18-829F-B780B724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7" name="qoder-step-0-label">
            <a:extLst xmlns:a="http://schemas.openxmlformats.org/drawingml/2006/main">
              <a:ext uri="{FF2B5EF4-FFF2-40B4-BE49-F238E27FC236}">
                <a16:creationId xmlns:a16="http://schemas.microsoft.com/office/drawing/2014/main" id="{BD4D655C-FCA1-498D-8565-1E5140615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成功任务</a:t>
            </a:r>
          </a:p>
        </p:txBody>
      </p:sp>
      <p:sp>
        <p:nvSpPr>
          <p:cNvPr id="8" name="qoder-step-0-body">
            <a:extLst xmlns:a="http://schemas.openxmlformats.org/drawingml/2006/main">
              <a:ext uri="{FF2B5EF4-FFF2-40B4-BE49-F238E27FC236}">
                <a16:creationId xmlns:a16="http://schemas.microsoft.com/office/drawing/2014/main" id="{DEA84550-7FBE-4A34-B433-E330DF9C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保存输入、口径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和核对过的结果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B3073B5D-5828-412F-AB2C-5159C203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847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qoder-step-1">
            <a:extLst xmlns:a="http://schemas.openxmlformats.org/drawingml/2006/main">
              <a:ext uri="{FF2B5EF4-FFF2-40B4-BE49-F238E27FC236}">
                <a16:creationId xmlns:a16="http://schemas.microsoft.com/office/drawing/2014/main" id="{81D54440-F7E1-447E-9082-78E934DF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qoder-step-1-number">
            <a:extLst xmlns:a="http://schemas.openxmlformats.org/drawingml/2006/main">
              <a:ext uri="{FF2B5EF4-FFF2-40B4-BE49-F238E27FC236}">
                <a16:creationId xmlns:a16="http://schemas.microsoft.com/office/drawing/2014/main" id="{0E68EF8B-815B-44FD-80B7-F7C23A96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qoder-step-1-label">
            <a:extLst xmlns:a="http://schemas.openxmlformats.org/drawingml/2006/main">
              <a:ext uri="{FF2B5EF4-FFF2-40B4-BE49-F238E27FC236}">
                <a16:creationId xmlns:a16="http://schemas.microsoft.com/office/drawing/2014/main" id="{F11C2310-59BA-4805-9262-76549E39A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提炼 Skill</a:t>
            </a:r>
          </a:p>
        </p:txBody>
      </p:sp>
      <p:sp>
        <p:nvSpPr>
          <p:cNvPr id="13" name="qoder-step-1-body">
            <a:extLst xmlns:a="http://schemas.openxmlformats.org/drawingml/2006/main">
              <a:ext uri="{FF2B5EF4-FFF2-40B4-BE49-F238E27FC236}">
                <a16:creationId xmlns:a16="http://schemas.microsoft.com/office/drawing/2014/main" id="{504B9BBA-38E3-47E8-A144-F42925728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写清契约与流程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保存关键处理脚本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374EAEBE-D8BD-4491-835C-1B79F5EE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qoder-step-2">
            <a:extLst xmlns:a="http://schemas.openxmlformats.org/drawingml/2006/main">
              <a:ext uri="{FF2B5EF4-FFF2-40B4-BE49-F238E27FC236}">
                <a16:creationId xmlns:a16="http://schemas.microsoft.com/office/drawing/2014/main" id="{06699C6A-28FA-4F95-B6C0-C539A08C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qoder-step-2-number">
            <a:extLst xmlns:a="http://schemas.openxmlformats.org/drawingml/2006/main">
              <a:ext uri="{FF2B5EF4-FFF2-40B4-BE49-F238E27FC236}">
                <a16:creationId xmlns:a16="http://schemas.microsoft.com/office/drawing/2014/main" id="{327C1C98-33BA-4838-A79B-D5D8E475E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7" name="qoder-step-2-label">
            <a:extLst xmlns:a="http://schemas.openxmlformats.org/drawingml/2006/main">
              <a:ext uri="{FF2B5EF4-FFF2-40B4-BE49-F238E27FC236}">
                <a16:creationId xmlns:a16="http://schemas.microsoft.com/office/drawing/2014/main" id="{0B0CD1AA-D5EB-49EC-A62E-6C26CC2A6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导入完整包</a:t>
            </a:r>
          </a:p>
        </p:txBody>
      </p:sp>
      <p:sp>
        <p:nvSpPr>
          <p:cNvPr id="18" name="qoder-step-2-body">
            <a:extLst xmlns:a="http://schemas.openxmlformats.org/drawingml/2006/main">
              <a:ext uri="{FF2B5EF4-FFF2-40B4-BE49-F238E27FC236}">
                <a16:creationId xmlns:a16="http://schemas.microsoft.com/office/drawing/2014/main" id="{65F5E50D-8938-4E54-B69E-0967BE25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在技能管理中导入 ZIP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确认出现在已安装中</a:t>
            </a:r>
          </a:p>
        </p:txBody>
      </p:sp>
      <p:sp>
        <p:nvSpPr>
          <p:cNvPr id="19" name="flow-arrow">
            <a:extLst xmlns:a="http://schemas.openxmlformats.org/drawingml/2006/main">
              <a:ext uri="{FF2B5EF4-FFF2-40B4-BE49-F238E27FC236}">
                <a16:creationId xmlns:a16="http://schemas.microsoft.com/office/drawing/2014/main" id="{9055FA4B-EC46-41EC-A00F-7C681998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6825" y="3495675"/>
            <a:ext cx="26670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qoder-step-3">
            <a:extLst xmlns:a="http://schemas.openxmlformats.org/drawingml/2006/main">
              <a:ext uri="{FF2B5EF4-FFF2-40B4-BE49-F238E27FC236}">
                <a16:creationId xmlns:a16="http://schemas.microsoft.com/office/drawing/2014/main" id="{D15D9ED7-FF62-41AE-9495-75058DDB0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505075"/>
            <a:ext cx="2505075" cy="2276475"/>
          </a:xfrm>
          <a:prstGeom xmlns:a="http://schemas.openxmlformats.org/drawingml/2006/main" prst="roundRect">
            <a:avLst>
              <a:gd name="adj" fmla="val 5021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1" name="qoder-step-3-number">
            <a:extLst xmlns:a="http://schemas.openxmlformats.org/drawingml/2006/main">
              <a:ext uri="{FF2B5EF4-FFF2-40B4-BE49-F238E27FC236}">
                <a16:creationId xmlns:a16="http://schemas.microsoft.com/office/drawing/2014/main" id="{54F81D5F-60C2-4FE4-A316-01DE0D029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686050"/>
            <a:ext cx="2114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1650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04</a:t>
            </a:r>
          </a:p>
        </p:txBody>
      </p:sp>
      <p:sp>
        <p:nvSpPr>
          <p:cNvPr id="22" name="qoder-step-3-label">
            <a:extLst xmlns:a="http://schemas.openxmlformats.org/drawingml/2006/main">
              <a:ext uri="{FF2B5EF4-FFF2-40B4-BE49-F238E27FC236}">
                <a16:creationId xmlns:a16="http://schemas.microsoft.com/office/drawing/2014/main" id="{AEDE4587-685F-4C18-A2A1-52A9AF2CD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200400"/>
            <a:ext cx="2114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1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新 Chat 运行</a:t>
            </a:r>
          </a:p>
        </p:txBody>
      </p:sp>
      <p:sp>
        <p:nvSpPr>
          <p:cNvPr id="23" name="qoder-step-3-body">
            <a:extLst xmlns:a="http://schemas.openxmlformats.org/drawingml/2006/main">
              <a:ext uri="{FF2B5EF4-FFF2-40B4-BE49-F238E27FC236}">
                <a16:creationId xmlns:a16="http://schemas.microsoft.com/office/drawing/2014/main" id="{EAFB5372-729C-4748-A982-C7C571D4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3800475"/>
            <a:ext cx="21145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用 / 选择 Skill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只给本次必要输入</a:t>
            </a:r>
          </a:p>
        </p:txBody>
      </p:sp>
      <p:sp>
        <p:nvSpPr>
          <p:cNvPr id="24" name="create-prompt">
            <a:extLst xmlns:a="http://schemas.openxmlformats.org/drawingml/2006/main">
              <a:ext uri="{FF2B5EF4-FFF2-40B4-BE49-F238E27FC236}">
                <a16:creationId xmlns:a16="http://schemas.microsoft.com/office/drawing/2014/main" id="{6978592E-2DEC-41DF-A51D-8B5E6BA0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000625"/>
            <a:ext cx="112776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65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给 Qoder 的提示词：把刚才做对的日报方法整理成完整 Skill ZIP，保存规则和处理脚本，让新 Chat 只给数据、日期和输出位置就能复用。</a:t>
            </a:r>
          </a:p>
        </p:txBody>
      </p:sp>
      <p:sp>
        <p:nvSpPr>
          <p:cNvPr id="25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B71F7A97-7CA5-48C4-A2A1-6FAF9AC2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takeaway">
            <a:extLst xmlns:a="http://schemas.openxmlformats.org/drawingml/2006/main">
              <a:ext uri="{FF2B5EF4-FFF2-40B4-BE49-F238E27FC236}">
                <a16:creationId xmlns:a16="http://schemas.microsoft.com/office/drawing/2014/main" id="{45174013-4B31-478B-95CD-470D0E361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先手动选择验证执行，再用自然语言验证触发。Qoder 操作入口按当前产品版本核对。</a:t>
            </a:r>
          </a:p>
        </p:txBody>
      </p:sp>
      <p:sp>
        <p:nvSpPr>
          <p:cNvPr id="27" name="byline">
            <a:extLst xmlns:a="http://schemas.openxmlformats.org/drawingml/2006/main">
              <a:ext uri="{FF2B5EF4-FFF2-40B4-BE49-F238E27FC236}">
                <a16:creationId xmlns:a16="http://schemas.microsoft.com/office/drawing/2014/main" id="{0581A323-FBD5-4700-9059-48097B783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8" name="page">
            <a:extLst xmlns:a="http://schemas.openxmlformats.org/drawingml/2006/main">
              <a:ext uri="{FF2B5EF4-FFF2-40B4-BE49-F238E27FC236}">
                <a16:creationId xmlns:a16="http://schemas.microsoft.com/office/drawing/2014/main" id="{467A7B09-04B8-4A39-8063-41FBA2091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07 / 09</a:t>
            </a:r>
          </a:p>
        </p:txBody>
      </p:sp>
    </p:spTree>
    <p:extLst>
      <p:ext uri="{BB962C8B-B14F-4D97-AF65-F5344CB8AC3E}">
        <p14:creationId xmlns:p14="http://schemas.microsoft.com/office/powerpoint/2010/main" val="1482782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863EDE-DEB9-4178-8D9D-DDF6EAA9BE0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63e6fa52764a5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6F03F80B-4EFD-4818-8E9F-89758459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D9995FC-FAD3-4267-AB7B-D05AA039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如何验证并改进 Skill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F1A722DE-DEB5-4955-8F4E-7980CB47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Tests 判定任务是否成功，Evals 帮助观察触发、任务表现和真实使用效果。</a:t>
            </a:r>
          </a:p>
        </p:txBody>
      </p:sp>
      <p:sp>
        <p:nvSpPr>
          <p:cNvPr id="5" name="verification-0">
            <a:extLst xmlns:a="http://schemas.openxmlformats.org/drawingml/2006/main">
              <a:ext uri="{FF2B5EF4-FFF2-40B4-BE49-F238E27FC236}">
                <a16:creationId xmlns:a16="http://schemas.microsoft.com/office/drawing/2014/main" id="{059843C3-3F0F-47F6-AB27-8DC78351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verification-0-label">
            <a:extLst xmlns:a="http://schemas.openxmlformats.org/drawingml/2006/main">
              <a:ext uri="{FF2B5EF4-FFF2-40B4-BE49-F238E27FC236}">
                <a16:creationId xmlns:a16="http://schemas.microsoft.com/office/drawing/2014/main" id="{F6652D64-BF79-4267-9BD7-0EB38968A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Trigger Evals</a:t>
            </a:r>
          </a:p>
        </p:txBody>
      </p:sp>
      <p:sp>
        <p:nvSpPr>
          <p:cNvPr id="7" name="verification-0-sub">
            <a:extLst xmlns:a="http://schemas.openxmlformats.org/drawingml/2006/main">
              <a:ext uri="{FF2B5EF4-FFF2-40B4-BE49-F238E27FC236}">
                <a16:creationId xmlns:a16="http://schemas.microsoft.com/office/drawing/2014/main" id="{7BE159AA-9083-4672-AF1F-3F490C4F9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正确触发，避免误触发</a:t>
            </a:r>
          </a:p>
        </p:txBody>
      </p:sp>
      <p:sp>
        <p:nvSpPr>
          <p:cNvPr id="8" name="verification-0-body">
            <a:extLst xmlns:a="http://schemas.openxmlformats.org/drawingml/2006/main">
              <a:ext uri="{FF2B5EF4-FFF2-40B4-BE49-F238E27FC236}">
                <a16:creationId xmlns:a16="http://schemas.microsoft.com/office/drawing/2014/main" id="{7A30BA40-E895-4E10-B9F1-407F8D72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检查真实请求的触发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属于基础验证</a:t>
            </a:r>
          </a:p>
        </p:txBody>
      </p:sp>
      <p:sp>
        <p:nvSpPr>
          <p:cNvPr id="9" name="flow-arrow">
            <a:extLst xmlns:a="http://schemas.openxmlformats.org/drawingml/2006/main">
              <a:ext uri="{FF2B5EF4-FFF2-40B4-BE49-F238E27FC236}">
                <a16:creationId xmlns:a16="http://schemas.microsoft.com/office/drawing/2014/main" id="{A5035F94-25E4-402D-9742-3983542A7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verification-1">
            <a:extLst xmlns:a="http://schemas.openxmlformats.org/drawingml/2006/main">
              <a:ext uri="{FF2B5EF4-FFF2-40B4-BE49-F238E27FC236}">
                <a16:creationId xmlns:a16="http://schemas.microsoft.com/office/drawing/2014/main" id="{BB693D01-7C65-4083-AC16-097801D7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1" name="verification-1-label">
            <a:extLst xmlns:a="http://schemas.openxmlformats.org/drawingml/2006/main">
              <a:ext uri="{FF2B5EF4-FFF2-40B4-BE49-F238E27FC236}">
                <a16:creationId xmlns:a16="http://schemas.microsoft.com/office/drawing/2014/main" id="{1A0A5D0C-06A0-4B96-AB30-47044499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Task Evals</a:t>
            </a:r>
          </a:p>
        </p:txBody>
      </p:sp>
      <p:sp>
        <p:nvSpPr>
          <p:cNvPr id="12" name="verification-1-sub">
            <a:extLst xmlns:a="http://schemas.openxmlformats.org/drawingml/2006/main">
              <a:ext uri="{FF2B5EF4-FFF2-40B4-BE49-F238E27FC236}">
                <a16:creationId xmlns:a16="http://schemas.microsoft.com/office/drawing/2014/main" id="{293106CF-CD3E-4DC3-B83C-6E287C54B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同一批任务，比较版本</a:t>
            </a:r>
          </a:p>
        </p:txBody>
      </p:sp>
      <p:sp>
        <p:nvSpPr>
          <p:cNvPr id="13" name="verification-1-body">
            <a:extLst xmlns:a="http://schemas.openxmlformats.org/drawingml/2006/main">
              <a:ext uri="{FF2B5EF4-FFF2-40B4-BE49-F238E27FC236}">
                <a16:creationId xmlns:a16="http://schemas.microsoft.com/office/drawing/2014/main" id="{313AF8BB-DB1C-4624-9B94-41F64393B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共用 Tests 判定成功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比较质量、耗时、Token</a:t>
            </a:r>
          </a:p>
        </p:txBody>
      </p:sp>
      <p:sp>
        <p:nvSpPr>
          <p:cNvPr id="14" name="flow-arrow">
            <a:extLst xmlns:a="http://schemas.openxmlformats.org/drawingml/2006/main">
              <a:ext uri="{FF2B5EF4-FFF2-40B4-BE49-F238E27FC236}">
                <a16:creationId xmlns:a16="http://schemas.microsoft.com/office/drawing/2014/main" id="{7A27B3DF-CECA-467C-876D-C2B62A77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286125"/>
            <a:ext cx="333375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79DF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verification-2">
            <a:extLst xmlns:a="http://schemas.openxmlformats.org/drawingml/2006/main">
              <a:ext uri="{FF2B5EF4-FFF2-40B4-BE49-F238E27FC236}">
                <a16:creationId xmlns:a16="http://schemas.microsoft.com/office/drawing/2014/main" id="{3F84FE35-B7E5-4303-837D-7514E3E51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400300"/>
            <a:ext cx="3333750" cy="2028825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6" name="verification-2-label">
            <a:extLst xmlns:a="http://schemas.openxmlformats.org/drawingml/2006/main">
              <a:ext uri="{FF2B5EF4-FFF2-40B4-BE49-F238E27FC236}">
                <a16:creationId xmlns:a16="http://schemas.microsoft.com/office/drawing/2014/main" id="{47FE7A8C-FEE7-4FA2-913B-699FB805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676525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2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2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Production Evals</a:t>
            </a:r>
          </a:p>
        </p:txBody>
      </p:sp>
      <p:sp>
        <p:nvSpPr>
          <p:cNvPr id="17" name="verification-2-sub">
            <a:extLst xmlns:a="http://schemas.openxmlformats.org/drawingml/2006/main">
              <a:ext uri="{FF2B5EF4-FFF2-40B4-BE49-F238E27FC236}">
                <a16:creationId xmlns:a16="http://schemas.microsoft.com/office/drawing/2014/main" id="{FF114A29-9A92-435B-A263-AFAB395CF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2194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真实使用中持续观察</a:t>
            </a:r>
          </a:p>
        </p:txBody>
      </p:sp>
      <p:sp>
        <p:nvSpPr>
          <p:cNvPr id="18" name="verification-2-body">
            <a:extLst xmlns:a="http://schemas.openxmlformats.org/drawingml/2006/main">
              <a:ext uri="{FF2B5EF4-FFF2-40B4-BE49-F238E27FC236}">
                <a16:creationId xmlns:a16="http://schemas.microsoft.com/office/drawing/2014/main" id="{CDD6C4A2-2D96-4FC1-A291-59B17A51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24275"/>
            <a:ext cx="295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记录失败与人工接管</a:t>
            </a:r>
          </a:p>
          <a:p xmlns:a="http://schemas.openxmlformats.org/drawingml/2006/main">
            <a:pPr algn="l">
              <a:defRPr sz="172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跟踪质量、耗时和成本</a:t>
            </a:r>
          </a:p>
        </p:txBody>
      </p:sp>
      <p:sp>
        <p:nvSpPr>
          <p:cNvPr id="19" name="case-0">
            <a:extLst xmlns:a="http://schemas.openxmlformats.org/drawingml/2006/main">
              <a:ext uri="{FF2B5EF4-FFF2-40B4-BE49-F238E27FC236}">
                <a16:creationId xmlns:a16="http://schemas.microsoft.com/office/drawing/2014/main" id="{B9A22314-3461-40A3-90D2-A5CC28718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0" name="case-0-name">
            <a:extLst xmlns:a="http://schemas.openxmlformats.org/drawingml/2006/main">
              <a:ext uri="{FF2B5EF4-FFF2-40B4-BE49-F238E27FC236}">
                <a16:creationId xmlns:a16="http://schemas.microsoft.com/office/drawing/2014/main" id="{8479FD95-6170-4BEE-91B0-06D0EBDC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Golden Tasks</a:t>
            </a:r>
          </a:p>
        </p:txBody>
      </p:sp>
      <p:sp>
        <p:nvSpPr>
          <p:cNvPr id="21" name="case-0-expected">
            <a:extLst xmlns:a="http://schemas.openxmlformats.org/drawingml/2006/main">
              <a:ext uri="{FF2B5EF4-FFF2-40B4-BE49-F238E27FC236}">
                <a16:creationId xmlns:a16="http://schemas.microsoft.com/office/drawing/2014/main" id="{D2DC3819-3B0F-41F2-857E-535FA5084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10 个真实端到端需求</a:t>
            </a:r>
          </a:p>
        </p:txBody>
      </p:sp>
      <p:sp>
        <p:nvSpPr>
          <p:cNvPr id="22" name="case-1">
            <a:extLst xmlns:a="http://schemas.openxmlformats.org/drawingml/2006/main">
              <a:ext uri="{FF2B5EF4-FFF2-40B4-BE49-F238E27FC236}">
                <a16:creationId xmlns:a16="http://schemas.microsoft.com/office/drawing/2014/main" id="{2669FC5B-842B-4F4B-A188-5E0266F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3" name="case-1-name">
            <a:extLst xmlns:a="http://schemas.openxmlformats.org/drawingml/2006/main">
              <a:ext uri="{FF2B5EF4-FFF2-40B4-BE49-F238E27FC236}">
                <a16:creationId xmlns:a16="http://schemas.microsoft.com/office/drawing/2014/main" id="{C103CF28-546B-4FE5-83E8-85FF851E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V1 / V2（假设）</a:t>
            </a:r>
          </a:p>
        </p:txBody>
      </p:sp>
      <p:sp>
        <p:nvSpPr>
          <p:cNvPr id="24" name="case-1-expected">
            <a:extLst xmlns:a="http://schemas.openxmlformats.org/drawingml/2006/main">
              <a:ext uri="{FF2B5EF4-FFF2-40B4-BE49-F238E27FC236}">
                <a16:creationId xmlns:a16="http://schemas.microsoft.com/office/drawing/2014/main" id="{5B0C75B0-9CC3-4A0F-A0F0-B37C588A9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1525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成功率 60% / 80%</a:t>
            </a:r>
          </a:p>
        </p:txBody>
      </p:sp>
      <p:sp>
        <p:nvSpPr>
          <p:cNvPr id="25" name="case-2">
            <a:extLst xmlns:a="http://schemas.openxmlformats.org/drawingml/2006/main">
              <a:ext uri="{FF2B5EF4-FFF2-40B4-BE49-F238E27FC236}">
                <a16:creationId xmlns:a16="http://schemas.microsoft.com/office/drawing/2014/main" id="{4C970639-DF79-4609-8AC9-AE68ADA45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76775"/>
            <a:ext cx="3333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6" name="case-2-name">
            <a:extLst xmlns:a="http://schemas.openxmlformats.org/drawingml/2006/main">
              <a:ext uri="{FF2B5EF4-FFF2-40B4-BE49-F238E27FC236}">
                <a16:creationId xmlns:a16="http://schemas.microsoft.com/office/drawing/2014/main" id="{1AAF2CC8-F1B2-4A66-B61F-C32BE3DA3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4733925"/>
            <a:ext cx="30289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相同 Tests 判定</a:t>
            </a:r>
          </a:p>
        </p:txBody>
      </p:sp>
      <p:sp>
        <p:nvSpPr>
          <p:cNvPr id="27" name="case-2-expected">
            <a:extLst xmlns:a="http://schemas.openxmlformats.org/drawingml/2006/main">
              <a:ext uri="{FF2B5EF4-FFF2-40B4-BE49-F238E27FC236}">
                <a16:creationId xmlns:a16="http://schemas.microsoft.com/office/drawing/2014/main" id="{395F081C-63A8-46B9-9CC0-F23E01971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076825"/>
            <a:ext cx="3028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提升 20 个百分点（假设）</a:t>
            </a:r>
          </a:p>
        </p:txBody>
      </p:sp>
      <p:sp>
        <p:nvSpPr>
          <p:cNvPr id="28" name="grading-note">
            <a:extLst xmlns:a="http://schemas.openxmlformats.org/drawingml/2006/main">
              <a:ext uri="{FF2B5EF4-FFF2-40B4-BE49-F238E27FC236}">
                <a16:creationId xmlns:a16="http://schemas.microsoft.com/office/drawing/2014/main" id="{F8989DFB-443A-4ED8-A172-7CB2A55E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448300"/>
            <a:ext cx="11277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00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500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LLM 核对示例：场景 1 + 实际输出 + 执行记录 → 逐项结论与证据（见讲解）。</a:t>
            </a:r>
          </a:p>
        </p:txBody>
      </p:sp>
      <p:sp>
        <p:nvSpPr>
          <p:cNvPr id="29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5F9F2FDF-9BFB-4029-857D-5C9EA161A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30" name="takeaway">
            <a:extLst xmlns:a="http://schemas.openxmlformats.org/drawingml/2006/main">
              <a:ext uri="{FF2B5EF4-FFF2-40B4-BE49-F238E27FC236}">
                <a16:creationId xmlns:a16="http://schemas.microsoft.com/office/drawing/2014/main" id="{E37E16D0-47BA-4FC0-9494-A0EFE9FC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同一任务、同一 Tests 判定，比较质量与成本。示例需重复运行并控制其他变量。</a:t>
            </a:r>
          </a:p>
        </p:txBody>
      </p:sp>
      <p:sp>
        <p:nvSpPr>
          <p:cNvPr id="31" name="byline">
            <a:extLst xmlns:a="http://schemas.openxmlformats.org/drawingml/2006/main">
              <a:ext uri="{FF2B5EF4-FFF2-40B4-BE49-F238E27FC236}">
                <a16:creationId xmlns:a16="http://schemas.microsoft.com/office/drawing/2014/main" id="{54A50717-6CEC-40FD-AC2D-0F5AE394F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32" name="page">
            <a:extLst xmlns:a="http://schemas.openxmlformats.org/drawingml/2006/main">
              <a:ext uri="{FF2B5EF4-FFF2-40B4-BE49-F238E27FC236}">
                <a16:creationId xmlns:a16="http://schemas.microsoft.com/office/drawing/2014/main" id="{216619CF-356D-4CE9-904C-CF506371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08 / 09</a:t>
            </a:r>
          </a:p>
        </p:txBody>
      </p:sp>
    </p:spTree>
    <p:extLst>
      <p:ext uri="{BB962C8B-B14F-4D97-AF65-F5344CB8AC3E}">
        <p14:creationId xmlns:p14="http://schemas.microsoft.com/office/powerpoint/2010/main" val="75718525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84DA0E-6CB5-4C77-A890-C85BA1A8112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2349f8f0404e4c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eries">
            <a:extLst xmlns:a="http://schemas.openxmlformats.org/drawingml/2006/main">
              <a:ext uri="{FF2B5EF4-FFF2-40B4-BE49-F238E27FC236}">
                <a16:creationId xmlns:a16="http://schemas.microsoft.com/office/drawing/2014/main" id="{BFFCB9D0-7CC4-4A2F-BEB9-9B9C007DB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9527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2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2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Skill Engineering 自学课件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9DFE52-5BFD-4143-A903-CD914A992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781050"/>
            <a:ext cx="9525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38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38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开始实践与问题反馈</a:t>
            </a:r>
          </a:p>
        </p:txBody>
      </p:sp>
      <p:sp>
        <p:nvSpPr>
          <p:cNvPr id="4" name="lead">
            <a:extLst xmlns:a="http://schemas.openxmlformats.org/drawingml/2006/main">
              <a:ext uri="{FF2B5EF4-FFF2-40B4-BE49-F238E27FC236}">
                <a16:creationId xmlns:a16="http://schemas.microsoft.com/office/drawing/2014/main" id="{4527DF94-F839-43EB-8EC6-CC29678B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666875"/>
            <a:ext cx="1023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800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把日常工作中的一个成功方法，变成下一次可以继续使用的 Skill。</a:t>
            </a:r>
          </a:p>
        </p:txBody>
      </p:sp>
      <p:sp>
        <p:nvSpPr>
          <p:cNvPr id="5" name="practice-path">
            <a:extLst xmlns:a="http://schemas.openxmlformats.org/drawingml/2006/main">
              <a:ext uri="{FF2B5EF4-FFF2-40B4-BE49-F238E27FC236}">
                <a16:creationId xmlns:a16="http://schemas.microsoft.com/office/drawing/2014/main" id="{9323496A-13B5-4630-88F0-30DF693B8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6" name="practice-path-label-band">
            <a:extLst xmlns:a="http://schemas.openxmlformats.org/drawingml/2006/main">
              <a:ext uri="{FF2B5EF4-FFF2-40B4-BE49-F238E27FC236}">
                <a16:creationId xmlns:a16="http://schemas.microsoft.com/office/drawing/2014/main" id="{4889B33A-508C-441A-928C-A109361F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438400"/>
            <a:ext cx="57721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7" name="practice-path-label">
            <a:extLst xmlns:a="http://schemas.openxmlformats.org/drawingml/2006/main">
              <a:ext uri="{FF2B5EF4-FFF2-40B4-BE49-F238E27FC236}">
                <a16:creationId xmlns:a16="http://schemas.microsoft.com/office/drawing/2014/main" id="{A6A137E8-C54D-4D11-BDF4-FED630C0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514600"/>
            <a:ext cx="5429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今天就可以开始的一次实践</a:t>
            </a:r>
          </a:p>
        </p:txBody>
      </p:sp>
      <p:sp>
        <p:nvSpPr>
          <p:cNvPr id="8" name="practice-0-number">
            <a:extLst xmlns:a="http://schemas.openxmlformats.org/drawingml/2006/main">
              <a:ext uri="{FF2B5EF4-FFF2-40B4-BE49-F238E27FC236}">
                <a16:creationId xmlns:a16="http://schemas.microsoft.com/office/drawing/2014/main" id="{2384ADFD-DD7F-46FE-9269-A9DEF0BC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1051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01</a:t>
            </a:r>
          </a:p>
        </p:txBody>
      </p:sp>
      <p:sp>
        <p:nvSpPr>
          <p:cNvPr id="9" name="practice-0-label">
            <a:extLst xmlns:a="http://schemas.openxmlformats.org/drawingml/2006/main">
              <a:ext uri="{FF2B5EF4-FFF2-40B4-BE49-F238E27FC236}">
                <a16:creationId xmlns:a16="http://schemas.microsoft.com/office/drawing/2014/main" id="{46378649-970B-4A63-9D62-39FA3C69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1051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选任务并自评</a:t>
            </a:r>
          </a:p>
        </p:txBody>
      </p:sp>
      <p:sp>
        <p:nvSpPr>
          <p:cNvPr id="10" name="practice-0-body">
            <a:extLst xmlns:a="http://schemas.openxmlformats.org/drawingml/2006/main">
              <a:ext uri="{FF2B5EF4-FFF2-40B4-BE49-F238E27FC236}">
                <a16:creationId xmlns:a16="http://schemas.microsoft.com/office/drawing/2014/main" id="{D15E8546-89A6-4038-B042-BF0F38C2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4671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规则清楚，先确认验收依据</a:t>
            </a:r>
          </a:p>
        </p:txBody>
      </p:sp>
      <p:sp>
        <p:nvSpPr>
          <p:cNvPr id="11" name="practice-1-number">
            <a:extLst xmlns:a="http://schemas.openxmlformats.org/drawingml/2006/main">
              <a:ext uri="{FF2B5EF4-FFF2-40B4-BE49-F238E27FC236}">
                <a16:creationId xmlns:a16="http://schemas.microsoft.com/office/drawing/2014/main" id="{B6E87278-0A83-4C71-B016-E1556AC17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8290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02</a:t>
            </a:r>
          </a:p>
        </p:txBody>
      </p:sp>
      <p:sp>
        <p:nvSpPr>
          <p:cNvPr id="12" name="practice-1-label">
            <a:extLst xmlns:a="http://schemas.openxmlformats.org/drawingml/2006/main">
              <a:ext uri="{FF2B5EF4-FFF2-40B4-BE49-F238E27FC236}">
                <a16:creationId xmlns:a16="http://schemas.microsoft.com/office/drawing/2014/main" id="{94A14812-A9B7-4C65-A0AF-FE9550AE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38290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完成三类验证</a:t>
            </a:r>
          </a:p>
        </p:txBody>
      </p:sp>
      <p:sp>
        <p:nvSpPr>
          <p:cNvPr id="13" name="practice-1-body">
            <a:extLst xmlns:a="http://schemas.openxmlformats.org/drawingml/2006/main">
              <a:ext uri="{FF2B5EF4-FFF2-40B4-BE49-F238E27FC236}">
                <a16:creationId xmlns:a16="http://schemas.microsoft.com/office/drawing/2014/main" id="{7F70D32D-B36E-4C86-A213-B1385AD1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1910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正常、变化、异常，核对结果与停止</a:t>
            </a:r>
          </a:p>
        </p:txBody>
      </p:sp>
      <p:sp>
        <p:nvSpPr>
          <p:cNvPr id="14" name="practice-2-number">
            <a:extLst xmlns:a="http://schemas.openxmlformats.org/drawingml/2006/main">
              <a:ext uri="{FF2B5EF4-FFF2-40B4-BE49-F238E27FC236}">
                <a16:creationId xmlns:a16="http://schemas.microsoft.com/office/drawing/2014/main" id="{55C74A53-98B9-4034-95AC-45222FB01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552950"/>
            <a:ext cx="5048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479DF2"/>
                </a:solidFill>
                <a:latin typeface="Heiti TC"/>
                <a:ea typeface="Heiti TC"/>
                <a:cs typeface="Heiti TC"/>
              </a:defRPr>
            </a:pPr>
            <a:r>
              <a:rPr sz="2175" b="1">
                <a:solidFill>
                  <a:srgbClr val="479DF2"/>
                </a:solidFill>
                <a:latin typeface="Heiti TC"/>
                <a:ea typeface="Heiti TC"/>
                <a:cs typeface="Heiti TC"/>
              </a:rPr>
              <a:t>03</a:t>
            </a:r>
          </a:p>
        </p:txBody>
      </p:sp>
      <p:sp>
        <p:nvSpPr>
          <p:cNvPr id="15" name="practice-2-label">
            <a:extLst xmlns:a="http://schemas.openxmlformats.org/drawingml/2006/main">
              <a:ext uri="{FF2B5EF4-FFF2-40B4-BE49-F238E27FC236}">
                <a16:creationId xmlns:a16="http://schemas.microsoft.com/office/drawing/2014/main" id="{736A3169-2719-43AD-ABB8-A1921C84B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55295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7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87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换人复用并迭代</a:t>
            </a:r>
          </a:p>
        </p:txBody>
      </p:sp>
      <p:sp>
        <p:nvSpPr>
          <p:cNvPr id="16" name="practice-2-body">
            <a:extLst xmlns:a="http://schemas.openxmlformats.org/drawingml/2006/main">
              <a:ext uri="{FF2B5EF4-FFF2-40B4-BE49-F238E27FC236}">
                <a16:creationId xmlns:a16="http://schemas.microsoft.com/office/drawing/2014/main" id="{F1ACA7DD-5182-4D3F-BFE1-8EB97C19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4914900"/>
            <a:ext cx="45815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5274AC"/>
                </a:solidFill>
                <a:latin typeface="Heiti TC"/>
                <a:ea typeface="Heiti TC"/>
                <a:cs typeface="Heiti TC"/>
              </a:defRPr>
            </a:pPr>
            <a:r>
              <a:rPr sz="1575" b="0">
                <a:solidFill>
                  <a:srgbClr val="5274AC"/>
                </a:solidFill>
                <a:latin typeface="Heiti TC"/>
                <a:ea typeface="Heiti TC"/>
                <a:cs typeface="Heiti TC"/>
              </a:rPr>
              <a:t>同版本再试，把新问题补进用例</a:t>
            </a:r>
          </a:p>
        </p:txBody>
      </p:sp>
      <p:sp>
        <p:nvSpPr>
          <p:cNvPr id="17" name="feedback-panel">
            <a:extLst xmlns:a="http://schemas.openxmlformats.org/drawingml/2006/main">
              <a:ext uri="{FF2B5EF4-FFF2-40B4-BE49-F238E27FC236}">
                <a16:creationId xmlns:a16="http://schemas.microsoft.com/office/drawing/2014/main" id="{2743941D-910B-4744-88E4-075BC5DEE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2962275"/>
          </a:xfrm>
          <a:prstGeom xmlns:a="http://schemas.openxmlformats.org/drawingml/2006/main" prst="roundRect">
            <a:avLst>
              <a:gd name="adj" fmla="val 3859"/>
            </a:avLst>
          </a:prstGeom>
          <a:solidFill xmlns:a="http://schemas.openxmlformats.org/drawingml/2006/main">
            <a:srgbClr val="EEF7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8" name="feedback-panel-label-band">
            <a:extLst xmlns:a="http://schemas.openxmlformats.org/drawingml/2006/main">
              <a:ext uri="{FF2B5EF4-FFF2-40B4-BE49-F238E27FC236}">
                <a16:creationId xmlns:a16="http://schemas.microsoft.com/office/drawing/2014/main" id="{210DA92F-8677-4F2F-BD15-F30E014C6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725" y="2438400"/>
            <a:ext cx="5172075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1669DB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19" name="feedback-panel-label">
            <a:extLst xmlns:a="http://schemas.openxmlformats.org/drawingml/2006/main">
              <a:ext uri="{FF2B5EF4-FFF2-40B4-BE49-F238E27FC236}">
                <a16:creationId xmlns:a16="http://schemas.microsoft.com/office/drawing/2014/main" id="{6047A261-BC1B-4FBC-AD5F-40AF4B8AD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4175" y="2514600"/>
            <a:ext cx="48291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Heiti TC"/>
                <a:ea typeface="Heiti TC"/>
                <a:cs typeface="Heiti TC"/>
              </a:defRPr>
            </a:pPr>
            <a:r>
              <a:rPr sz="1800" b="1">
                <a:solidFill>
                  <a:srgbClr val="FFFFFF"/>
                </a:solidFill>
                <a:latin typeface="Heiti TC"/>
                <a:ea typeface="Heiti TC"/>
                <a:cs typeface="Heiti TC"/>
              </a:rPr>
              <a:t>问题反馈</a:t>
            </a:r>
          </a:p>
        </p:txBody>
      </p:sp>
      <p:sp>
        <p:nvSpPr>
          <p:cNvPr id="20" name="feedback-title">
            <a:extLst xmlns:a="http://schemas.openxmlformats.org/drawingml/2006/main">
              <a:ext uri="{FF2B5EF4-FFF2-40B4-BE49-F238E27FC236}">
                <a16:creationId xmlns:a16="http://schemas.microsoft.com/office/drawing/2014/main" id="{55D3424A-B940-49BD-9AD6-B5718C6B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4752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255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遇到问题，联系张坚、李琦</a:t>
            </a:r>
          </a:p>
        </p:txBody>
      </p:sp>
      <p:sp>
        <p:nvSpPr>
          <p:cNvPr id="21" name="feedback-item-0">
            <a:extLst xmlns:a="http://schemas.openxmlformats.org/drawingml/2006/main">
              <a:ext uri="{FF2B5EF4-FFF2-40B4-BE49-F238E27FC236}">
                <a16:creationId xmlns:a16="http://schemas.microsoft.com/office/drawing/2014/main" id="{8F6741AF-C8C6-441F-8BF2-A3470237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15290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脱敏输入样例</a:t>
            </a:r>
          </a:p>
        </p:txBody>
      </p:sp>
      <p:sp>
        <p:nvSpPr>
          <p:cNvPr id="22" name="feedback-item-1">
            <a:extLst xmlns:a="http://schemas.openxmlformats.org/drawingml/2006/main">
              <a:ext uri="{FF2B5EF4-FFF2-40B4-BE49-F238E27FC236}">
                <a16:creationId xmlns:a16="http://schemas.microsoft.com/office/drawing/2014/main" id="{E8E688BF-F3B3-4071-A1E6-E7AB453B0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86275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预期结果与实际结果</a:t>
            </a:r>
          </a:p>
        </p:txBody>
      </p:sp>
      <p:sp>
        <p:nvSpPr>
          <p:cNvPr id="23" name="feedback-item-2">
            <a:extLst xmlns:a="http://schemas.openxmlformats.org/drawingml/2006/main">
              <a:ext uri="{FF2B5EF4-FFF2-40B4-BE49-F238E27FC236}">
                <a16:creationId xmlns:a16="http://schemas.microsoft.com/office/drawing/2014/main" id="{D1C72177-391B-45D6-8A49-CC6DC90EA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819650"/>
            <a:ext cx="4752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7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出错截图与校验记录</a:t>
            </a:r>
          </a:p>
        </p:txBody>
      </p:sp>
      <p:sp>
        <p:nvSpPr>
          <p:cNvPr id="24" name="lesson-conclusion">
            <a:extLst xmlns:a="http://schemas.openxmlformats.org/drawingml/2006/main">
              <a:ext uri="{FF2B5EF4-FFF2-40B4-BE49-F238E27FC236}">
                <a16:creationId xmlns:a16="http://schemas.microsoft.com/office/drawing/2014/main" id="{52E79FE9-3232-4053-B925-5E515561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743575"/>
            <a:ext cx="112776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4FAFF"/>
          </a:solidFill>
          <a:ln xmlns:a="http://schemas.openxmlformats.org/drawingml/2006/main" w="9525">
            <a:solidFill>
              <a:srgbClr val="BCDDFB"/>
            </a:solidFill>
            <a:prstDash val="solid"/>
          </a:ln>
        </p:spPr>
      </p:sp>
      <p:sp>
        <p:nvSpPr>
          <p:cNvPr id="25" name="takeaway">
            <a:extLst xmlns:a="http://schemas.openxmlformats.org/drawingml/2006/main">
              <a:ext uri="{FF2B5EF4-FFF2-40B4-BE49-F238E27FC236}">
                <a16:creationId xmlns:a16="http://schemas.microsoft.com/office/drawing/2014/main" id="{9C0D87C2-2927-4236-AD96-4E79240C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895975"/>
            <a:ext cx="10934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725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业务同事沉淀方法与验收标准，技术同事协助固定关键处理，团队共同验证和改进。</a:t>
            </a:r>
          </a:p>
        </p:txBody>
      </p:sp>
      <p:sp>
        <p:nvSpPr>
          <p:cNvPr id="26" name="byline">
            <a:extLst xmlns:a="http://schemas.openxmlformats.org/drawingml/2006/main">
              <a:ext uri="{FF2B5EF4-FFF2-40B4-BE49-F238E27FC236}">
                <a16:creationId xmlns:a16="http://schemas.microsoft.com/office/drawing/2014/main" id="{851A1BF4-73A4-4519-9421-403C7166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524625"/>
            <a:ext cx="8477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l">
              <a:defRPr sz="1125" b="0">
                <a:solidFill>
                  <a:srgbClr val="1669DB"/>
                </a:solidFill>
                <a:latin typeface="Heiti TC"/>
                <a:ea typeface="Heiti TC"/>
                <a:cs typeface="Heiti TC"/>
              </a:defRPr>
            </a:pPr>
            <a:r>
              <a:rPr sz="1125" b="0">
                <a:solidFill>
                  <a:srgbClr val="1669DB"/>
                </a:solidFill>
                <a:latin typeface="Heiti TC"/>
                <a:ea typeface="Heiti TC"/>
                <a:cs typeface="Heiti TC"/>
              </a:rPr>
              <a:t>出品：AI 经营交付效能专项组</a:t>
            </a:r>
          </a:p>
        </p:txBody>
      </p:sp>
      <p:sp>
        <p:nvSpPr>
          <p:cNvPr id="27" name="page">
            <a:extLst xmlns:a="http://schemas.openxmlformats.org/drawingml/2006/main">
              <a:ext uri="{FF2B5EF4-FFF2-40B4-BE49-F238E27FC236}">
                <a16:creationId xmlns:a16="http://schemas.microsoft.com/office/drawing/2014/main" id="{1FC89C8A-406E-4B54-AA5F-C6C6C665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524625"/>
            <a:ext cx="9144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defPPr>
          </a:lstStyle>
          <a:p xmlns:a="http://schemas.openxmlformats.org/drawingml/2006/main">
            <a:pPr algn="r">
              <a:defRPr sz="1200" b="1">
                <a:solidFill>
                  <a:srgbClr val="082F75"/>
                </a:solidFill>
                <a:latin typeface="Heiti TC"/>
                <a:ea typeface="Heiti TC"/>
                <a:cs typeface="Heiti TC"/>
              </a:defRPr>
            </a:pPr>
            <a:r>
              <a:rPr sz="1200" b="1">
                <a:solidFill>
                  <a:srgbClr val="082F75"/>
                </a:solidFill>
                <a:latin typeface="Heiti TC"/>
                <a:ea typeface="Heiti TC"/>
                <a:cs typeface="Heiti TC"/>
              </a:rPr>
              <a:t>09 / 09</a:t>
            </a:r>
          </a:p>
        </p:txBody>
      </p:sp>
    </p:spTree>
    <p:extLst>
      <p:ext uri="{BB962C8B-B14F-4D97-AF65-F5344CB8AC3E}">
        <p14:creationId xmlns:p14="http://schemas.microsoft.com/office/powerpoint/2010/main" val="10364901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2026-10-13T04:10:57.6120000Z</dcterms:created>
  <dcterms:modified xsi:type="dcterms:W3CDTF">2026-10-13T04:10:57.6120000Z</dcterms:modified>
</coreProperties>
</file>