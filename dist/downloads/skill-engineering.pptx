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5f173cc4514621" /><Relationship Type="http://schemas.openxmlformats.org/officeDocument/2006/relationships/extended-properties" Target="/docProps/app.xml" Id="Rfcc0572a5fb84bd9" /><Relationship Type="http://schemas.openxmlformats.org/officeDocument/2006/relationships/officeDocument" Target="/ppt/presentation.xml" Id="R99de5cf079234e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29dc3e9fe94668"/>
  </p:sldMasterIdLst>
  <p:notesMasterIdLst>
    <p:notesMasterId xmlns:r="http://schemas.openxmlformats.org/officeDocument/2006/relationships" r:id="Rf4fb6b65c9f94a7c"/>
  </p:notesMasterIdLst>
  <p:sldIdLst>
    <p:sldId xmlns:r="http://schemas.openxmlformats.org/officeDocument/2006/relationships" id="256" r:id="R9037c41754d1429c"/>
    <p:sldId xmlns:r="http://schemas.openxmlformats.org/officeDocument/2006/relationships" id="257" r:id="Rbd7c4366707b495f"/>
    <p:sldId xmlns:r="http://schemas.openxmlformats.org/officeDocument/2006/relationships" id="258" r:id="Rd4da0d8f2f65401f"/>
    <p:sldId xmlns:r="http://schemas.openxmlformats.org/officeDocument/2006/relationships" id="259" r:id="Rc5f654aa93d64484"/>
    <p:sldId xmlns:r="http://schemas.openxmlformats.org/officeDocument/2006/relationships" id="260" r:id="R4045cf20a06c4abd"/>
    <p:sldId xmlns:r="http://schemas.openxmlformats.org/officeDocument/2006/relationships" id="261" r:id="Rd207fc89afad44f7"/>
    <p:sldId xmlns:r="http://schemas.openxmlformats.org/officeDocument/2006/relationships" id="262" r:id="Rb37dccda00a34069"/>
    <p:sldId xmlns:r="http://schemas.openxmlformats.org/officeDocument/2006/relationships" id="263" r:id="R0ae434f72e644d9d"/>
    <p:sldId xmlns:r="http://schemas.openxmlformats.org/officeDocument/2006/relationships" id="264" r:id="R143717a8d60846a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18a4e680804097" /><Relationship Type="http://schemas.openxmlformats.org/officeDocument/2006/relationships/slideMaster" Target="/ppt/slideMasters/slideMaster1.xml" Id="Rb729dc3e9fe94668" /><Relationship Type="http://schemas.openxmlformats.org/officeDocument/2006/relationships/notesMaster" Target="/ppt/notesMasters/notesMaster1.xml" Id="Rf4fb6b65c9f94a7c" /><Relationship Type="http://schemas.openxmlformats.org/officeDocument/2006/relationships/presProps" Target="/ppt/presProps.xml" Id="R802798ab9f2346f6" /><Relationship Type="http://schemas.openxmlformats.org/officeDocument/2006/relationships/tableStyles" Target="/ppt/tableStyles.xml" Id="Rb32af0fa69c84431" /><Relationship Type="http://schemas.openxmlformats.org/officeDocument/2006/relationships/slide" Target="/ppt/slides/slide1.xml" Id="R9037c41754d1429c" /><Relationship Type="http://schemas.openxmlformats.org/officeDocument/2006/relationships/slide" Target="/ppt/slides/slide2.xml" Id="Rbd7c4366707b495f" /><Relationship Type="http://schemas.openxmlformats.org/officeDocument/2006/relationships/slide" Target="/ppt/slides/slide3.xml" Id="Rd4da0d8f2f65401f" /><Relationship Type="http://schemas.openxmlformats.org/officeDocument/2006/relationships/slide" Target="/ppt/slides/slide4.xml" Id="Rc5f654aa93d64484" /><Relationship Type="http://schemas.openxmlformats.org/officeDocument/2006/relationships/slide" Target="/ppt/slides/slide5.xml" Id="R4045cf20a06c4abd" /><Relationship Type="http://schemas.openxmlformats.org/officeDocument/2006/relationships/slide" Target="/ppt/slides/slide6.xml" Id="Rd207fc89afad44f7" /><Relationship Type="http://schemas.openxmlformats.org/officeDocument/2006/relationships/slide" Target="/ppt/slides/slide7.xml" Id="Rb37dccda00a34069" /><Relationship Type="http://schemas.openxmlformats.org/officeDocument/2006/relationships/slide" Target="/ppt/slides/slide8.xml" Id="R0ae434f72e644d9d" /><Relationship Type="http://schemas.openxmlformats.org/officeDocument/2006/relationships/slide" Target="/ppt/slides/slide9.xml" Id="R143717a8d60846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8b020828044f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c17c9f3ca94012" /><Relationship Type="http://schemas.openxmlformats.org/officeDocument/2006/relationships/notesMaster" Target="/ppt/notesMasters/notesMaster1.xml" Id="Rac30ffc2c6c848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123ce192434061" /><Relationship Type="http://schemas.openxmlformats.org/officeDocument/2006/relationships/notesMaster" Target="/ppt/notesMasters/notesMaster1.xml" Id="Rc07310ed654044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69c0987f1f4ac2" /><Relationship Type="http://schemas.openxmlformats.org/officeDocument/2006/relationships/notesMaster" Target="/ppt/notesMasters/notesMaster1.xml" Id="Rb2b1539af33e4c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df9569a75f4385" /><Relationship Type="http://schemas.openxmlformats.org/officeDocument/2006/relationships/notesMaster" Target="/ppt/notesMasters/notesMaster1.xml" Id="R5bb5903d762e4c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70ddc675154328" /><Relationship Type="http://schemas.openxmlformats.org/officeDocument/2006/relationships/notesMaster" Target="/ppt/notesMasters/notesMaster1.xml" Id="R84f75b8ec12a45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f7f50afae54f86" /><Relationship Type="http://schemas.openxmlformats.org/officeDocument/2006/relationships/notesMaster" Target="/ppt/notesMasters/notesMaster1.xml" Id="Ra886898a790842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0f37e0101a4b47" /><Relationship Type="http://schemas.openxmlformats.org/officeDocument/2006/relationships/notesMaster" Target="/ppt/notesMasters/notesMaster1.xml" Id="R6c25c0f7be9b45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227f586e7c414c" /><Relationship Type="http://schemas.openxmlformats.org/officeDocument/2006/relationships/notesMaster" Target="/ppt/notesMasters/notesMaster1.xml" Id="R70ce8f0baca547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963d6b0c5aa47ba" /><Relationship Type="http://schemas.openxmlformats.org/officeDocument/2006/relationships/notesMaster" Target="/ppt/notesMasters/notesMaster1.xml" Id="R3ce9b4513ac94c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本页说明：先选一件规则清楚、经常重复的工作，把已经做对的输入、口径和结果保存下来。Skill Engineering 的起点，是让下一次能够沿同一方法完成，并留下可核对的依据。先完成一个小任务的复用与验证，再逐步增加团队需要的能力。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继续阅读：deep.html#practice-route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本页说明：本例统计指定日期创建的工单及其当前状态，不是当天完成量。输入检查、去重和日期筛选都会影响结果；同一 ID 内容冲突时应停止。示例数值来自虚构练习数据，可以用于核对教学输出，真实业务仍要先确认自己的统计口径。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来源与对应：分享对话中的工单 Excel 日报案例；数值来自虚构练习包，非客户数据。JSON 练习用来演示相同处理原则。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本页说明：一次 Chat 成功提供了可沉淀的经验；Skill 保存执行所需的规则与资源；工程化还要检查新对话、不同输入和异常场景。完成这些检查后，才能说明已验证哪些能力、还有哪些限制，避免仅凭一次成功推断长期可靠。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说明：工作流决定何时检查、执行和停止；数据处理按确认规则完成运算。结果校验应接入每次运行，先通过再交付。数量守恒等检查可以发现部分错误，业务口径是否正确仍需要独立预期或可信参照来核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本页说明：让 AI 理解含义、处理歧义和解释异常，让固定工具承担需准确复现的操作。业务规则可以用文字说明，可变参数也可以配置；关键在于执行入口清楚，结果能检查。脚本同样可能用错规则，因此还要运行代表性用例。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本页说明：SKILL.md 保留使用条件、简洁流程、关键约束和停止条件，详细规则与实现按职责组织。目录按任务实际需要增加，简单写作不要求脚本。练习包用 pipeline.py 合并检查、处理和校验；图中三个脚本名是职责示例。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05 的目录架构；标准必需入口与可选目录依据 Agent Skills 规范。inspect/transform/validate 为职责示例，练习包将三阶段收在 pipeline.py，未冒充包含三个同名脚本。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目录中的脚本是职责示例。真实下载练习按三阶段 pipeline.py 执行，未安装或验证目标同事的 Qoder。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说明：从已确认的成功任务提炼时，同时保存一份输入、业务口径和核对过的结果。检查完整包导入后，再在新对话中提供本次必要输入。先手动选择验证执行，再测试自然语言发现；遇到歧义先确认，不靠旧聊天补齐未保存的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继续阅读：deep.html#qoder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来源与对应：分享对话中从成功任务到新 Chat 的完整步骤；当前官方 Qoder 技能操作指南。网页提供完整创建提示词与练习下载，不要求初学者先编程。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本页说明：新对话跑通是第一步。准备正常、可处理变化和应停止异常三类用例，核对关键结果及停止行为。每次运行做结果校验；修改 Skill 后重跑用例。自评报告帮助定位缺口，实际运行记录证明本次做了什么；未运行部分保留待验证。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06 的 Discovery / Execution / Verification；分享正文中的正常、变更、异常三类案例。L0–L4 成熟度放入可选深入阅读。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说明：先选任务并自评，再确认三类用例的输入与验收依据；在新对话运行，核对结果与停止，最后让同事使用同版本再试。记录产品、环境和失败原因，把新问题补进用例。反馈给张坚、李琦时附脱敏样例、预期与实际结果及校验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1013cc89d3446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901dfdd9a14e8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2f8bf78bd9404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57bd5133124fa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d84ce888fd43d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154de72ad94d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A5453A-BE97-4EDD-9B92-BC6E66FE5A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21C8BFE-61E2-4A37-BB4C-49B97773D5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E6BF421-7449-4528-AFB2-00255E71CC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256A19-3E7F-415C-AD95-78F10D4384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A4665B0-B660-450B-A7AC-401E35EB2E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C25B154-A2B4-4467-B656-81BA374BA2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C6B1578-988D-4793-9E43-B88A9F55B7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3383437-AEDE-4CBC-B260-8DF610B4F42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8A0A90-E8F7-48CC-9FF7-945B8F7E15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0506F7A-442B-46DC-B815-DA7B956DCC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8ec66072864585" /><Relationship Type="http://schemas.openxmlformats.org/officeDocument/2006/relationships/slideLayout" Target="/ppt/slideLayouts/slideLayout1.xml" Id="Ra3d28f9101ce4340" /><Relationship Type="http://schemas.openxmlformats.org/officeDocument/2006/relationships/slideLayout" Target="/ppt/slideLayouts/slideLayout2.xml" Id="R274bb453bc4d46f8" /><Relationship Type="http://schemas.openxmlformats.org/officeDocument/2006/relationships/slideLayout" Target="/ppt/slideLayouts/slideLayout3.xml" Id="Rdee9e5cdf7604eab" /><Relationship Type="http://schemas.openxmlformats.org/officeDocument/2006/relationships/slideLayout" Target="/ppt/slideLayouts/slideLayout4.xml" Id="Reab39aa218d74241" /><Relationship Type="http://schemas.openxmlformats.org/officeDocument/2006/relationships/slideLayout" Target="/ppt/slideLayouts/slideLayout5.xml" Id="R08a1748ea3394755" /><Relationship Type="http://schemas.openxmlformats.org/officeDocument/2006/relationships/slideLayout" Target="/ppt/slideLayouts/slideLayout6.xml" Id="Reda709314d8647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d28f9101ce4340"/>
    <p:sldLayoutId xmlns:r="http://schemas.openxmlformats.org/officeDocument/2006/relationships" id="2147483650" r:id="R274bb453bc4d46f8"/>
    <p:sldLayoutId xmlns:r="http://schemas.openxmlformats.org/officeDocument/2006/relationships" id="2147483651" r:id="Rdee9e5cdf7604eab"/>
    <p:sldLayoutId xmlns:r="http://schemas.openxmlformats.org/officeDocument/2006/relationships" id="2147483652" r:id="Reab39aa218d74241"/>
    <p:sldLayoutId xmlns:r="http://schemas.openxmlformats.org/officeDocument/2006/relationships" id="2147483653" r:id="R08a1748ea3394755"/>
    <p:sldLayoutId xmlns:r="http://schemas.openxmlformats.org/officeDocument/2006/relationships" id="2147483654" r:id="Reda709314d8647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6ac4c9f9e142b0" /><Relationship Type="http://schemas.openxmlformats.org/officeDocument/2006/relationships/image" Target="/ppt/media/image.png" Id="R7fa10eadcea5427a" /><Relationship Type="http://schemas.openxmlformats.org/officeDocument/2006/relationships/notesSlide" Target="/ppt/notesSlides/notesSlide1.xml" Id="Rc0990073514949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6e472ffe8e4898" /><Relationship Type="http://schemas.openxmlformats.org/officeDocument/2006/relationships/image" Target="/ppt/media/image2.png" Id="R3faa3ef59081418e" /><Relationship Type="http://schemas.openxmlformats.org/officeDocument/2006/relationships/notesSlide" Target="/ppt/notesSlides/notesSlide2.xml" Id="Rcd34a60cb2824d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a2e9c184f349d2" /><Relationship Type="http://schemas.openxmlformats.org/officeDocument/2006/relationships/image" Target="/ppt/media/image3.png" Id="Re29503e7d8de44a0" /><Relationship Type="http://schemas.openxmlformats.org/officeDocument/2006/relationships/notesSlide" Target="/ppt/notesSlides/notesSlide3.xml" Id="R43f88d68aa014e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e41defa16642f7" /><Relationship Type="http://schemas.openxmlformats.org/officeDocument/2006/relationships/image" Target="/ppt/media/image4.png" Id="Rd9ae63ae1f5049f1" /><Relationship Type="http://schemas.openxmlformats.org/officeDocument/2006/relationships/notesSlide" Target="/ppt/notesSlides/notesSlide4.xml" Id="R124c8dfab4e046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ef2bd6360d4fc1" /><Relationship Type="http://schemas.openxmlformats.org/officeDocument/2006/relationships/image" Target="/ppt/media/image5.png" Id="Ra38a138599c541f5" /><Relationship Type="http://schemas.openxmlformats.org/officeDocument/2006/relationships/notesSlide" Target="/ppt/notesSlides/notesSlide5.xml" Id="Re9d9eebf29a544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91e757a15e49ae" /><Relationship Type="http://schemas.openxmlformats.org/officeDocument/2006/relationships/image" Target="/ppt/media/image6.png" Id="R2f37a47af1314d20" /><Relationship Type="http://schemas.openxmlformats.org/officeDocument/2006/relationships/notesSlide" Target="/ppt/notesSlides/notesSlide6.xml" Id="R27f79210541f43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c3389c38024302" /><Relationship Type="http://schemas.openxmlformats.org/officeDocument/2006/relationships/image" Target="/ppt/media/image7.png" Id="R2c405d2a36ab4ca1" /><Relationship Type="http://schemas.openxmlformats.org/officeDocument/2006/relationships/notesSlide" Target="/ppt/notesSlides/notesSlide7.xml" Id="Rc5dc8bf83db54c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e416f79cf74bf3" /><Relationship Type="http://schemas.openxmlformats.org/officeDocument/2006/relationships/image" Target="/ppt/media/image8.png" Id="R301bc3dbb5294085" /><Relationship Type="http://schemas.openxmlformats.org/officeDocument/2006/relationships/notesSlide" Target="/ppt/notesSlides/notesSlide8.xml" Id="Rb04dff1bc9614f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b4c0bff55f4506" /><Relationship Type="http://schemas.openxmlformats.org/officeDocument/2006/relationships/image" Target="/ppt/media/image9.png" Id="R5e22019a2e91451b" /><Relationship Type="http://schemas.openxmlformats.org/officeDocument/2006/relationships/notesSlide" Target="/ppt/notesSlides/notesSlide9.xml" Id="R5330d386bf3a44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3FAE93-9447-4A7E-81AB-B82FEB24D4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10eadcea5427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9B3270FD-D3D1-4DED-960B-8D9E644F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113287-522E-4732-8FC2-491C337F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CD26F8C1-67BF-49DF-B55B-F3A15126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0B55E184-EAD4-49F1-A9EB-7831F87E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94C838D3-CF81-41EE-85C7-442CD7D7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C30AC029-A24A-4CCA-AFFE-29397EAC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799B46E0-0C1C-4BD7-BE9A-B255EDA9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34AA4C88-380D-4544-846F-2296E851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B47AC88B-0A24-4E35-8C0E-D9F55E31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7CB2C297-9061-4BD8-AF7B-27002A40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C9C292A8-23E2-4A8C-B4EF-A0E71471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3C5D0E0F-0CB7-4D63-A5D6-7032D060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A2C13002-7507-4822-9980-6A1C5358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594CCA8D-065E-44FA-8AC6-A9C3E100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EF5C150B-624C-4791-B404-F39DC52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5F71DB49-67F3-4D95-B242-FCAA2AB9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82AB41F2-4746-43D6-B7D0-2A6D95E8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4BA5BDFA-69CA-49E5-9AEF-914C434A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3C681956-75FF-44F4-BD29-2F21546F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0CFE3C13-733C-4E14-A98A-A794D457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591C1B5C-73BC-494C-9442-DBF342AF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6CD7C8A8-53ED-45A0-8401-D1FB3146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4CC24358-8929-4C55-A825-B79FA1CA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BA76A826-F336-42EA-B8E8-B64251EA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C6B116CA-1C6E-4EEA-8FFA-8C482778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62B5150D-4655-41CA-8CC6-116FF747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5A8C8629-715A-4D3C-8620-B909CBEE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8BD8FB64-D04F-4733-9337-310CF101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8E6B0955-0072-406D-A022-98A44660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8F315F86-ECA4-471C-B176-B8D471E4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6069061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9E9046-5273-4B5E-81AF-87E5660E93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a3ef59081418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AD51DC7-AE94-4FBA-B1CE-725FBA60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100B4C-FDCD-4411-833B-C45E8661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22B866D4-2889-4F5F-A807-3AE5CA7F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收到客户的一份工单明细，需要生成每日运营报表。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C33E5B66-DC9F-407C-901A-1FFA38F9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619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同样的日报，每次都在重复这些说明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6D093-5F4A-4CB9-A362-9BDB29A249E9}"/>
              </a:ext>
            </a:extLst>
          </p:cNvPr>
          <p:cNvGraphicFramePr/>
          <p:nvPr/>
        </p:nvGraphicFramePr>
        <p:xfrm>
          <a:off xmlns:a="http://schemas.openxmlformats.org/drawingml/2006/main" x="457200" y="2867025"/>
          <a:ext xmlns:a="http://schemas.openxmlformats.org/drawingml/2006/main" cx="5429250" cy="2324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57350"/>
                <a:gridCol w="3771900"/>
              </a:tblGrid>
              <a:tr h="4572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要说明什么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本次规则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5715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统计范围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10 月 10 日创建的工单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去重方式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按工单 ID；内容冲突时停止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统计口径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完成、待处理、完成单平均耗时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se-panel-0">
            <a:extLst xmlns:a="http://schemas.openxmlformats.org/drawingml/2006/main">
              <a:ext uri="{FF2B5EF4-FFF2-40B4-BE49-F238E27FC236}">
                <a16:creationId xmlns:a16="http://schemas.microsoft.com/office/drawing/2014/main" id="{8424AA78-A4CF-4876-B54C-EB053832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19350"/>
            <a:ext cx="2686050" cy="2771775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case-panel-0-label-band">
            <a:extLst xmlns:a="http://schemas.openxmlformats.org/drawingml/2006/main">
              <a:ext uri="{FF2B5EF4-FFF2-40B4-BE49-F238E27FC236}">
                <a16:creationId xmlns:a16="http://schemas.microsoft.com/office/drawing/2014/main" id="{90987BE4-868E-427B-88ED-DAA24F4A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19350"/>
            <a:ext cx="2686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case-panel-0-label">
            <a:extLst xmlns:a="http://schemas.openxmlformats.org/drawingml/2006/main">
              <a:ext uri="{FF2B5EF4-FFF2-40B4-BE49-F238E27FC236}">
                <a16:creationId xmlns:a16="http://schemas.microsoft.com/office/drawing/2014/main" id="{A8BD0E64-8B91-4316-B822-EDA43191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95550"/>
            <a:ext cx="2343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一次 Chat</a:t>
            </a:r>
          </a:p>
        </p:txBody>
      </p:sp>
      <p:sp>
        <p:nvSpPr>
          <p:cNvPr id="10" name="case-0-0-title">
            <a:extLst xmlns:a="http://schemas.openxmlformats.org/drawingml/2006/main">
              <a:ext uri="{FF2B5EF4-FFF2-40B4-BE49-F238E27FC236}">
                <a16:creationId xmlns:a16="http://schemas.microsoft.com/office/drawing/2014/main" id="{AE5AD1DF-CF20-407A-B215-41C6673C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362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解释需求</a:t>
            </a:r>
          </a:p>
        </p:txBody>
      </p:sp>
      <p:sp>
        <p:nvSpPr>
          <p:cNvPr id="11" name="case-0-0-body">
            <a:extLst xmlns:a="http://schemas.openxmlformats.org/drawingml/2006/main">
              <a:ext uri="{FF2B5EF4-FFF2-40B4-BE49-F238E27FC236}">
                <a16:creationId xmlns:a16="http://schemas.microsoft.com/office/drawing/2014/main" id="{822FCBE1-12B0-4E84-951B-13BEDE8E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43275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确认日期、字段和规则</a:t>
            </a:r>
          </a:p>
        </p:txBody>
      </p:sp>
      <p:sp>
        <p:nvSpPr>
          <p:cNvPr id="12" name="case-0-1-title">
            <a:extLst xmlns:a="http://schemas.openxmlformats.org/drawingml/2006/main">
              <a:ext uri="{FF2B5EF4-FFF2-40B4-BE49-F238E27FC236}">
                <a16:creationId xmlns:a16="http://schemas.microsoft.com/office/drawing/2014/main" id="{5DEA0538-D2B3-4242-88DF-224774CA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14750"/>
            <a:ext cx="2362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反复调整</a:t>
            </a:r>
          </a:p>
        </p:txBody>
      </p:sp>
      <p:sp>
        <p:nvSpPr>
          <p:cNvPr id="13" name="case-0-1-body">
            <a:extLst xmlns:a="http://schemas.openxmlformats.org/drawingml/2006/main">
              <a:ext uri="{FF2B5EF4-FFF2-40B4-BE49-F238E27FC236}">
                <a16:creationId xmlns:a16="http://schemas.microsoft.com/office/drawing/2014/main" id="{D609BE62-E6C4-4C4D-93B9-5C6834EC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10025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检查去重与计算是否正确</a:t>
            </a:r>
          </a:p>
        </p:txBody>
      </p:sp>
      <p:sp>
        <p:nvSpPr>
          <p:cNvPr id="14" name="case-0-2-title">
            <a:extLst xmlns:a="http://schemas.openxmlformats.org/drawingml/2006/main">
              <a:ext uri="{FF2B5EF4-FFF2-40B4-BE49-F238E27FC236}">
                <a16:creationId xmlns:a16="http://schemas.microsoft.com/office/drawing/2014/main" id="{92C72955-354B-455D-9258-CF1EFD70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81500"/>
            <a:ext cx="2362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交付一次</a:t>
            </a:r>
          </a:p>
        </p:txBody>
      </p:sp>
      <p:sp>
        <p:nvSpPr>
          <p:cNvPr id="15" name="case-0-2-body">
            <a:extLst xmlns:a="http://schemas.openxmlformats.org/drawingml/2006/main">
              <a:ext uri="{FF2B5EF4-FFF2-40B4-BE49-F238E27FC236}">
                <a16:creationId xmlns:a16="http://schemas.microsoft.com/office/drawing/2014/main" id="{6D1EAA51-194F-497C-BA20-2E60D6D1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76775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方法仍留在这次对话里</a:t>
            </a:r>
          </a:p>
        </p:txBody>
      </p:sp>
      <p:sp>
        <p:nvSpPr>
          <p:cNvPr id="16" name="case-panel-1">
            <a:extLst xmlns:a="http://schemas.openxmlformats.org/drawingml/2006/main">
              <a:ext uri="{FF2B5EF4-FFF2-40B4-BE49-F238E27FC236}">
                <a16:creationId xmlns:a16="http://schemas.microsoft.com/office/drawing/2014/main" id="{7C4F8E06-39DB-4FAA-9C1D-098C19DB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419350"/>
            <a:ext cx="2686050" cy="2771775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case-panel-1-label-band">
            <a:extLst xmlns:a="http://schemas.openxmlformats.org/drawingml/2006/main">
              <a:ext uri="{FF2B5EF4-FFF2-40B4-BE49-F238E27FC236}">
                <a16:creationId xmlns:a16="http://schemas.microsoft.com/office/drawing/2014/main" id="{3C983F6F-E16E-4C1E-BE85-37E64834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419350"/>
            <a:ext cx="2686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case-panel-1-label">
            <a:extLst xmlns:a="http://schemas.openxmlformats.org/drawingml/2006/main">
              <a:ext uri="{FF2B5EF4-FFF2-40B4-BE49-F238E27FC236}">
                <a16:creationId xmlns:a16="http://schemas.microsoft.com/office/drawing/2014/main" id="{9BDE664A-991F-43E4-88EB-A54F90CF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495550"/>
            <a:ext cx="2343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留下 Skill</a:t>
            </a:r>
          </a:p>
        </p:txBody>
      </p:sp>
      <p:sp>
        <p:nvSpPr>
          <p:cNvPr id="19" name="case-1-0-title">
            <a:extLst xmlns:a="http://schemas.openxmlformats.org/drawingml/2006/main">
              <a:ext uri="{FF2B5EF4-FFF2-40B4-BE49-F238E27FC236}">
                <a16:creationId xmlns:a16="http://schemas.microsoft.com/office/drawing/2014/main" id="{A3462E5F-751A-479A-A82B-B9496589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048000"/>
            <a:ext cx="2362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流程说明</a:t>
            </a:r>
          </a:p>
        </p:txBody>
      </p:sp>
      <p:sp>
        <p:nvSpPr>
          <p:cNvPr id="20" name="case-1-0-body">
            <a:extLst xmlns:a="http://schemas.openxmlformats.org/drawingml/2006/main">
              <a:ext uri="{FF2B5EF4-FFF2-40B4-BE49-F238E27FC236}">
                <a16:creationId xmlns:a16="http://schemas.microsoft.com/office/drawing/2014/main" id="{EBDE4C05-75D1-4079-B5DA-A496791B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343275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规定输入检查与交付顺序</a:t>
            </a:r>
          </a:p>
        </p:txBody>
      </p:sp>
      <p:sp>
        <p:nvSpPr>
          <p:cNvPr id="21" name="case-1-1-title">
            <a:extLst xmlns:a="http://schemas.openxmlformats.org/drawingml/2006/main">
              <a:ext uri="{FF2B5EF4-FFF2-40B4-BE49-F238E27FC236}">
                <a16:creationId xmlns:a16="http://schemas.microsoft.com/office/drawing/2014/main" id="{A265B2B3-97F8-4302-8666-C5CCE430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714750"/>
            <a:ext cx="2362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业务规则</a:t>
            </a:r>
          </a:p>
        </p:txBody>
      </p:sp>
      <p:sp>
        <p:nvSpPr>
          <p:cNvPr id="22" name="case-1-1-body">
            <a:extLst xmlns:a="http://schemas.openxmlformats.org/drawingml/2006/main">
              <a:ext uri="{FF2B5EF4-FFF2-40B4-BE49-F238E27FC236}">
                <a16:creationId xmlns:a16="http://schemas.microsoft.com/office/drawing/2014/main" id="{5E1EB862-F120-48EA-8EDE-B0D158BE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010025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固定去重、日期和统计口径</a:t>
            </a:r>
          </a:p>
        </p:txBody>
      </p:sp>
      <p:sp>
        <p:nvSpPr>
          <p:cNvPr id="23" name="case-1-2-title">
            <a:extLst xmlns:a="http://schemas.openxmlformats.org/drawingml/2006/main">
              <a:ext uri="{FF2B5EF4-FFF2-40B4-BE49-F238E27FC236}">
                <a16:creationId xmlns:a16="http://schemas.microsoft.com/office/drawing/2014/main" id="{33EC23B7-B0AB-46CE-9AA5-ADD1FA48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381500"/>
            <a:ext cx="2362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处理与校验</a:t>
            </a:r>
          </a:p>
        </p:txBody>
      </p:sp>
      <p:sp>
        <p:nvSpPr>
          <p:cNvPr id="24" name="case-1-2-body">
            <a:extLst xmlns:a="http://schemas.openxmlformats.org/drawingml/2006/main">
              <a:ext uri="{FF2B5EF4-FFF2-40B4-BE49-F238E27FC236}">
                <a16:creationId xmlns:a16="http://schemas.microsoft.com/office/drawing/2014/main" id="{8AE3692F-B159-4AA4-BB95-7F8CFD8C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676775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保存可调用的计算脚本</a:t>
            </a:r>
          </a:p>
        </p:txBody>
      </p:sp>
      <p:sp>
        <p:nvSpPr>
          <p:cNvPr id="25" name="case-result">
            <a:extLst xmlns:a="http://schemas.openxmlformats.org/drawingml/2006/main">
              <a:ext uri="{FF2B5EF4-FFF2-40B4-BE49-F238E27FC236}">
                <a16:creationId xmlns:a16="http://schemas.microsoft.com/office/drawing/2014/main" id="{9F2F32ED-56DD-44F3-AC7A-A29D9E89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11277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教学示例：5 单，完成 3 单、待处理 2 单；完成单平均耗时 65 分钟。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524708B5-F7CF-4583-8CB9-0D320E72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B1604205-67AB-4F30-A36C-EB7A1F41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下一次提供新数据与统计日期，沿用同一流程和口径，再核对结果。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D70481E2-8FD2-4818-93E3-40EF7646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B5C56FE3-BE1F-4691-9F78-D5C8DEB1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6801769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040DCD-285D-43D0-A607-95C4FCCE08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503e7d8de44a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43477F17-8FA5-49C5-9D86-79CAFABB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2C9BD9-EEC2-480B-82CB-14CC3981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BAA75234-0354-47C8-949E-1F1F2FD8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4AE8CC0A-2CF9-40A0-A4D9-C70D68E2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21BE24C1-9568-4857-B73B-DB7D08BC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3DCC4E4E-2E1C-47E2-8A5C-9E67019E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25C43905-412D-44AB-8C0F-6C76B5E9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98D5FE62-3C93-405A-88EC-0F854E4E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026BB637-74B0-46E5-A7FD-CE2832C9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5561B31C-DA48-484E-8E55-AAEA199D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B4582231-CA55-407E-83B5-3038EAB7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0D2824FC-6F70-41E4-A881-226289B4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1679722F-7C13-4AA6-A5D7-3ADB50E4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2241CD87-CAA9-4687-BF3E-0A95FB1E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67D60351-DCBD-4EFF-B0CE-EF6A6556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DD62AEBD-EE16-4B76-B16A-29C41A00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403E1837-8522-4748-99B2-9D7F3B65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B36FE469-93A2-4C5A-99DA-5782D25E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A0F8FAA7-36B1-4561-A3B9-81744F8C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47D89D28-910C-4392-8F4B-8D36A312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44AFE343-666C-41DF-9DBD-C865A849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4E6C3ABD-3688-41D3-BE8F-2CBC84E2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E90E8A65-8B91-4D6F-8A6D-DA6F05AD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511AAC48-FEBD-4C05-B3E4-C89B87F8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6576B6BE-B162-4A6C-89EB-25FCC0FF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2AA42ED2-EA7D-4B0F-9858-58ED4ED2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C5F4BE10-558B-46E2-94DB-775B208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72EF9320-C315-4CA5-AA3C-8F6DDF8F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09</a:t>
            </a:r>
          </a:p>
        </p:txBody>
      </p:sp>
    </p:spTree>
    <p:extLst>
      <p:ext uri="{BB962C8B-B14F-4D97-AF65-F5344CB8AC3E}">
        <p14:creationId xmlns:p14="http://schemas.microsoft.com/office/powerpoint/2010/main" val="625659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75BF37-5725-44C7-BCFD-CA0CBE1582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e63ae1f5049f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57CC5694-BCC7-4325-8170-BC3E089C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D4C6260-39B9-4F30-98DF-DDD48C28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6771CC56-BAA5-4935-86B6-36485A1B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64B7DC08-E76A-4657-83AE-58BE9EAD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EFD93C08-2FC3-4C76-A201-496C3C81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BBD6C6FA-DB80-43A8-95F3-A7B99BB4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43C3DAC2-8CD3-42C0-8E4B-289507E2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A6FF3C19-E997-4534-A270-5A94B6FB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8B5F3FC2-E0A6-4867-BCEC-21694E74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B024A3EB-4492-408F-A1A8-9561B9AF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6930CD66-EF1F-413A-AA46-B91D0D66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B8ECA19A-D5D3-434A-B24E-9FE0EF72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331B98B0-908C-4403-B503-EFAC596F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2B309498-5040-4B9E-BADA-5CE7A01D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EDB2BE67-B0FA-439C-9150-D67631D13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A76F4738-C600-43F8-854C-37F33B8C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66EA10A7-1C0E-4241-B681-23296AD5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0F262A12-334E-4A2E-9C63-D826FE3E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9679FB80-AFA0-48AD-A386-BBA0220D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B7FC1D37-DCF0-4E46-A4B8-DD79D5EC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FC67AF77-71AA-4988-8D6E-F4354FCE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C0A47FF7-D85C-4267-943D-E266E305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6375405D-94B3-4F3C-8D84-33AFC4DC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D485C24E-C688-4D75-A977-6E632849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E242CB2A-8A74-4635-9287-C0F0953A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2CE3ACEA-4911-440B-999A-297F65D0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2B414658-293A-4011-8960-7234A0C6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476899D2-30D8-4BF0-823A-4CBEEB69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428C0005-7EB5-4293-9B00-F2A4C2F6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E63F1A97-0078-4333-82DC-138B75B6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DBEE0CE5-0E37-4801-AEDF-D27CC267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B16E13E1-B990-42CE-BF32-765D17CD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80D53E68-1451-4C02-B932-5E67546C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6EC1EB99-769F-4A2F-B005-C65E0280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09A3F333-767B-4B19-889E-E0EE8990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EC35D712-9663-4337-BC53-BA9EF6A1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BBAE168C-54F9-45DD-8D0B-EBB09501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2ECF1A85-2B5D-47A0-BC7A-57056905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041B6866-92AD-42F1-B692-609BEEB5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09</a:t>
            </a:r>
          </a:p>
        </p:txBody>
      </p:sp>
    </p:spTree>
    <p:extLst>
      <p:ext uri="{BB962C8B-B14F-4D97-AF65-F5344CB8AC3E}">
        <p14:creationId xmlns:p14="http://schemas.microsoft.com/office/powerpoint/2010/main" val="15918370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A0B39C-95CC-44B8-A975-E164382965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8a138599c541f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400691D9-AEBB-4B87-843B-36438BFE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D11D20-E171-439F-A279-8A224D7C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00142C7E-9E0B-414C-B374-8082ADF7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79A94-A78F-48F4-938C-061F0F42808D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CC1BB961-FA86-4D28-A591-703C0AB5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E707CF8D-88F9-4918-AE8C-F76DF811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346ED3F7-034F-436B-B641-A8EB9162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56B24659-44B8-4F0D-B70D-4BCBE01F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09</a:t>
            </a:r>
          </a:p>
        </p:txBody>
      </p:sp>
    </p:spTree>
    <p:extLst>
      <p:ext uri="{BB962C8B-B14F-4D97-AF65-F5344CB8AC3E}">
        <p14:creationId xmlns:p14="http://schemas.microsoft.com/office/powerpoint/2010/main" val="1628843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7F2E9A-1307-4203-AF28-48941633E3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37a47af1314d2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031C0906-3DE9-4CD9-98A9-77FEC7D0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A594EB-28EA-410D-AEBF-2C56B64F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C2F782B-D573-40D3-B86F-1D6B7BE2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SKILL.md 保留入口与行为契约，详细 Spec 与 Implementation 按职责分开。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66595D1B-BE96-48A0-A79D-3AD646F3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A52E67A6-7728-4DDC-A47A-BBB2B07A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015C4A51-C02F-42E7-919A-031AB828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498B1A4E-51D0-4824-811D-64AF11FB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90850"/>
            <a:ext cx="8782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4C63F13D-2F4A-44BC-B9D8-92802B91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D02FA887-E840-4735-A146-D19623FB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AAD95B50-9F05-413E-AF64-3F1E45C4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FDAE4966-1D6C-424E-88E5-A3926A8B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0">
            <a:extLst xmlns:a="http://schemas.openxmlformats.org/drawingml/2006/main">
              <a:ext uri="{FF2B5EF4-FFF2-40B4-BE49-F238E27FC236}">
                <a16:creationId xmlns:a16="http://schemas.microsoft.com/office/drawing/2014/main" id="{B9FBE1D9-9BE8-4B9D-ADE4-BC70F096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C86FE4B2-E4A7-4DB2-B548-1CD78D15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5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B90AA5B6-C7F1-4FBE-8A47-1C71B70F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6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443AD0D2-9C19-4BFF-92C9-60D52D55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何时使用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执行路径与分支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7" name="directory-1">
            <a:extLst xmlns:a="http://schemas.openxmlformats.org/drawingml/2006/main">
              <a:ext uri="{FF2B5EF4-FFF2-40B4-BE49-F238E27FC236}">
                <a16:creationId xmlns:a16="http://schemas.microsoft.com/office/drawing/2014/main" id="{E538C75F-FB3B-4B86-B4CC-61CC8DC0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C87A6C15-3297-4D81-9A05-D794776A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19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90828894-D101-4402-AC81-1B8206C5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业务与技术 Spec</a:t>
            </a:r>
          </a:p>
        </p:txBody>
      </p:sp>
      <p:sp>
        <p:nvSpPr>
          <p:cNvPr id="20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10A4668E-C7D5-487F-A710-C4427E43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workflow-spec.md</a:t>
            </a:r>
          </a:p>
        </p:txBody>
      </p:sp>
      <p:sp>
        <p:nvSpPr>
          <p:cNvPr id="21" name="directory-2">
            <a:extLst xmlns:a="http://schemas.openxmlformats.org/drawingml/2006/main">
              <a:ext uri="{FF2B5EF4-FFF2-40B4-BE49-F238E27FC236}">
                <a16:creationId xmlns:a16="http://schemas.microsoft.com/office/drawing/2014/main" id="{745457AF-D545-4EE7-9909-3DB0759B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2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A2DF13CC-01DF-40CB-9530-2B6C43C8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3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6AA6634E-A4D9-4D54-BB45-478A44A6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4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6153B54A-0660-41BF-BEE1-18D2CAA9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输入检查 inspect.py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数据处理 transform.py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 validate.py</a:t>
            </a:r>
          </a:p>
        </p:txBody>
      </p:sp>
      <p:sp>
        <p:nvSpPr>
          <p:cNvPr id="25" name="directory-3">
            <a:extLst xmlns:a="http://schemas.openxmlformats.org/drawingml/2006/main">
              <a:ext uri="{FF2B5EF4-FFF2-40B4-BE49-F238E27FC236}">
                <a16:creationId xmlns:a16="http://schemas.microsoft.com/office/drawing/2014/main" id="{FD6E6A8A-169F-49A9-A100-67D622E9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9B0273BF-B04C-4E67-B1C3-485C9EDC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assets/</a:t>
            </a:r>
          </a:p>
        </p:txBody>
      </p:sp>
      <p:sp>
        <p:nvSpPr>
          <p:cNvPr id="27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49A8364A-0158-43F8-97B7-187F795A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模板与静态资源</a:t>
            </a:r>
          </a:p>
        </p:txBody>
      </p:sp>
      <p:sp>
        <p:nvSpPr>
          <p:cNvPr id="28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4F682608-A3DE-4384-9DE8-404843B5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报表模板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实际需要的图片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其他输出资源</a:t>
            </a:r>
          </a:p>
        </p:txBody>
      </p:sp>
      <p:sp>
        <p:nvSpPr>
          <p:cNvPr id="29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971AA195-F0B6-47B0-BBBE-DE587D6B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按需扩展：tests/ 验证程序，evals/ 验证 Agent 的完整行为。</a:t>
            </a:r>
          </a:p>
        </p:txBody>
      </p:sp>
      <p:sp>
        <p:nvSpPr>
          <p:cNvPr id="30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76D20344-E700-4EEE-B5EF-C459C044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takeaway">
            <a:extLst xmlns:a="http://schemas.openxmlformats.org/drawingml/2006/main">
              <a:ext uri="{FF2B5EF4-FFF2-40B4-BE49-F238E27FC236}">
                <a16:creationId xmlns:a16="http://schemas.microsoft.com/office/drawing/2014/main" id="{34DBC0F0-39CA-4196-A902-7D770909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2" name="byline">
            <a:extLst xmlns:a="http://schemas.openxmlformats.org/drawingml/2006/main">
              <a:ext uri="{FF2B5EF4-FFF2-40B4-BE49-F238E27FC236}">
                <a16:creationId xmlns:a16="http://schemas.microsoft.com/office/drawing/2014/main" id="{63788B72-C641-48D5-9373-69FC6FEC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3" name="page">
            <a:extLst xmlns:a="http://schemas.openxmlformats.org/drawingml/2006/main">
              <a:ext uri="{FF2B5EF4-FFF2-40B4-BE49-F238E27FC236}">
                <a16:creationId xmlns:a16="http://schemas.microsoft.com/office/drawing/2014/main" id="{CD73CD58-F759-4B3B-BBFC-E00F6047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09</a:t>
            </a:r>
          </a:p>
        </p:txBody>
      </p:sp>
    </p:spTree>
    <p:extLst>
      <p:ext uri="{BB962C8B-B14F-4D97-AF65-F5344CB8AC3E}">
        <p14:creationId xmlns:p14="http://schemas.microsoft.com/office/powerpoint/2010/main" val="5739837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68ED54-6E86-418D-AE1B-0382209F7B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05d2a36ab4ca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6A73BCDB-4BC8-4A33-B493-FF5DF897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3131C3-A869-4B7F-ACB5-18FF1E39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0CE4F30D-8E85-4FDD-A3C6-85525174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6039E958-7330-4BE9-BA4D-EFB4BA20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07E70E78-677E-467D-8B1D-A15A2FA1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19882E15-0A23-48AE-B3E6-72865127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DB9BA982-5296-4AC2-A907-E5415B03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384F8E9E-4D17-4092-BD28-8494B77F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371FF955-5191-46F6-86B0-A62BDAD0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20D2B85E-DC43-43D6-8834-4638762F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1112915E-37EB-4E09-86AA-6C50E0CD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AA5B3C78-993C-4E48-B9D0-87AF932E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33957C1D-E7FF-46F3-B383-D1A881E3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B813FFC6-502E-4C57-979E-38692093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820CAF2C-BDB1-465D-8061-BDD4F30E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E2ABDE9E-3570-41D9-8169-43A03B4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6CEA5772-2675-486D-B623-83DC3F7B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7BF3ECE2-494E-43F1-A5FE-D2CA8366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1F85D638-81AC-4501-B32B-78622EB5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EF62A239-15A9-41A4-BC33-1D35AA3D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098EB167-3813-4E20-A2F6-B8AA45FC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003DFBB2-6236-47F2-983E-1A4D0AB3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93074039-D03E-4D67-B968-12DA5E2B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的提示词：把刚才成功的数据处理沉淀为 Skill：保存输入、口径和验收结果，写清流程与停止条件；关键处理与校验保存为脚本；新 Chat 不依赖旧历史。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33D1E863-1D68-4B59-8783-E9619C18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48CBBC3E-28C5-465F-A527-CAC37FC3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ACC8914C-F5B4-4771-A3AC-356A426E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76D8683E-55E4-41C5-9904-07DA4F0A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09</a:t>
            </a:r>
          </a:p>
        </p:txBody>
      </p:sp>
    </p:spTree>
    <p:extLst>
      <p:ext uri="{BB962C8B-B14F-4D97-AF65-F5344CB8AC3E}">
        <p14:creationId xmlns:p14="http://schemas.microsoft.com/office/powerpoint/2010/main" val="16532594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339E94-0B11-46AB-9913-9FB6A5756D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bc3dbb529408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4F191C6D-9A69-4227-8284-90297CCF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93DE35-60B8-4152-A7B1-C0E11ADF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如何证明 Skill 可靠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FAD8760F-C2AF-49AA-B690-7183DDC9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自评帮助发现缺口；实际用例核对发现、执行、结果与停止行为。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A2F3328B-9430-4589-9F90-820F7132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AFA8FE5F-CCDB-499A-A211-875602BC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Discovery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3EFF955D-A46F-4D85-A442-80DC655D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能否找到正确的 Skill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3080C284-A0DF-4645-9796-3E0ED106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新 Chat 中手动选择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再测试自然语言触发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3BFFBABA-7039-41C5-BD10-CC0EC8D8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14719AF5-0EAD-43D0-A9A8-1A5EDD3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6B8E02D3-A26A-4216-9935-CDDA1706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Execution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C6D7FFE7-A957-491B-8597-7BAF0964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能否独立完成任务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F4B56C91-431C-4E6F-AE76-4503662B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不依赖历史聊天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按契约调用已有脚本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55B0D824-68A6-4821-91FC-0631C211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5068B5AC-EBE5-402F-9CD4-E56E3578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1117BC14-3D47-4132-906D-F65F98E7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Verification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525A6AAA-0FA3-4E91-B92C-9407A9E4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能否证明结果正确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5BE052FF-E823-4075-9899-9023C8F2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每次核对关键结果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校验失败时明确停止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B27812BE-D14A-44A6-929A-14437FC9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4F1CC6C3-9E29-4A95-AB7A-BDED2CD7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正常输入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6B941111-D873-43FC-88C7-6BB84E3B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结果与独立预期一致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4EA89BDB-A6FF-4751-8252-BBBA1BAB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18018E6D-3430-43A3-9EEF-39BD63C5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可处理的变化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61EDCC95-B1AD-46DD-A98A-0D4AD8F7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变化后仍按规则处理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8D4603A8-386A-4573-B2F7-910DDEFB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1D518AE0-29EB-4078-953A-0D8593D5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应停止的异常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453BCAEC-D562-43A7-AFBE-78117E18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异常停止，无成功产物</a:t>
            </a:r>
          </a:p>
        </p:txBody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4A6BEF2-172E-4064-8520-14B90BFF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7AB79168-4F1B-47D8-9E5A-97747EF9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程序 Tests 核对结果；Agent Evals 检查实际选择、执行与停止。修改后重跑，再请同事用同版本验证。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884B4021-D77D-4ECD-ADC8-0F36806B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DAF4BB3F-2E90-47D5-AC42-9ED5E109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21444476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6B48ED-6767-428E-B3EB-1C6EF9B37B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22019a2e91451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F7AA6A72-1D88-4144-A9F3-D83B4505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2D7005-44A7-4A3F-A8AA-DB739904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开始实践与问题反馈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F8F5E57C-93FB-4DA7-8D79-83C88990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把日常工作中的一个成功方法，变成下一次可以继续使用的 Skill。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9045A237-C446-4E12-ADFE-5DC98D70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BADD54C6-6C5D-470C-AC65-1195D3D1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8158FC9A-4345-4974-A249-4EDD77B7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今天就可以开始的一次实践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A694ACF8-13C0-4D36-BB42-6637C9FA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F3748C75-CE5D-4E6D-AA30-86F26625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选任务并自评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201B34C8-6F5E-42AA-9868-477BCA83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规则清楚，先确认验收依据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05C275BC-642F-4633-9031-28948D3B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48CF0271-95AB-4B78-B080-61813308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完成三类验证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EFE28075-9703-43CE-8B6B-EF16A325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正常、变化、异常，核对结果与停止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46D52E0B-86C8-47E5-A062-09817C5C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842E1C24-6FB9-4958-AB2E-08C520FD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换人复用并迭代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F1CF6434-4C03-467F-8445-ED417C8E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同版本再试，把新问题补进用例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07186FE0-A03A-41F0-83A6-0F7D80BD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9FF04CF2-74EA-4B30-9DA2-0E080476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89D8E567-0737-4D3B-B4E1-464A4D72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86E2972A-82BD-47E0-8AB9-C42FF2A9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6DCEE57C-F24C-4135-8487-6809251D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52AA76F4-1C66-4639-86D6-E9469B40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611CC659-F779-4349-9148-4786FC03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951ADD7F-F3AE-4F60-874A-7FD59BEF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3EE7B299-E7F9-4539-9345-F4D161D3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业务同事沉淀方法与验收标准，技术同事协助固定关键处理，团队共同验证和改进。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07CBCD29-B43F-4382-8D2A-DBB3E517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7EBE96F3-9DB8-469E-8971-9876C10A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09</a:t>
            </a:r>
          </a:p>
        </p:txBody>
      </p:sp>
    </p:spTree>
    <p:extLst>
      <p:ext uri="{BB962C8B-B14F-4D97-AF65-F5344CB8AC3E}">
        <p14:creationId xmlns:p14="http://schemas.microsoft.com/office/powerpoint/2010/main" val="6904666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2026-10-12T08:32:28.7310000Z</dcterms:created>
  <dcterms:modified xsi:type="dcterms:W3CDTF">2026-10-12T08:32:28.7310000Z</dcterms:modified>
</coreProperties>
</file>