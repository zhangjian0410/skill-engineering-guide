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827c3f16b148ad" /><Relationship Type="http://schemas.openxmlformats.org/officeDocument/2006/relationships/extended-properties" Target="/docProps/app.xml" Id="Rbaa1afa59aae4428" /><Relationship Type="http://schemas.openxmlformats.org/officeDocument/2006/relationships/officeDocument" Target="/ppt/presentation.xml" Id="Rafd58f3127e246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a3d317e2884254"/>
  </p:sldMasterIdLst>
  <p:notesMasterIdLst>
    <p:notesMasterId xmlns:r="http://schemas.openxmlformats.org/officeDocument/2006/relationships" r:id="Rbb530a2969be47fb"/>
  </p:notesMasterIdLst>
  <p:sldIdLst>
    <p:sldId xmlns:r="http://schemas.openxmlformats.org/officeDocument/2006/relationships" id="256" r:id="R73808a8c173846f3"/>
    <p:sldId xmlns:r="http://schemas.openxmlformats.org/officeDocument/2006/relationships" id="257" r:id="R90fb1993b7844d40"/>
    <p:sldId xmlns:r="http://schemas.openxmlformats.org/officeDocument/2006/relationships" id="258" r:id="R7de1006bb6ce4c89"/>
    <p:sldId xmlns:r="http://schemas.openxmlformats.org/officeDocument/2006/relationships" id="259" r:id="R34e6c0ff5a2d466d"/>
    <p:sldId xmlns:r="http://schemas.openxmlformats.org/officeDocument/2006/relationships" id="260" r:id="R923169e61a5c4c97"/>
    <p:sldId xmlns:r="http://schemas.openxmlformats.org/officeDocument/2006/relationships" id="261" r:id="Rc77f06885eb34fb1"/>
    <p:sldId xmlns:r="http://schemas.openxmlformats.org/officeDocument/2006/relationships" id="262" r:id="R738468dfe0c94dd4"/>
    <p:sldId xmlns:r="http://schemas.openxmlformats.org/officeDocument/2006/relationships" id="263" r:id="R97e9d0e4411849ce"/>
    <p:sldId xmlns:r="http://schemas.openxmlformats.org/officeDocument/2006/relationships" id="264" r:id="R0d13761fc7c34104"/>
    <p:sldId xmlns:r="http://schemas.openxmlformats.org/officeDocument/2006/relationships" id="265" r:id="Rac976dd1d4504a1d"/>
    <p:sldId xmlns:r="http://schemas.openxmlformats.org/officeDocument/2006/relationships" id="266" r:id="Rad6aefd785bc432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b37756fd6264614" /><Relationship Type="http://schemas.openxmlformats.org/officeDocument/2006/relationships/slideMaster" Target="/ppt/slideMasters/slideMaster1.xml" Id="R1aa3d317e2884254" /><Relationship Type="http://schemas.openxmlformats.org/officeDocument/2006/relationships/notesMaster" Target="/ppt/notesMasters/notesMaster1.xml" Id="Rbb530a2969be47fb" /><Relationship Type="http://schemas.openxmlformats.org/officeDocument/2006/relationships/presProps" Target="/ppt/presProps.xml" Id="R26df6ccd7c3e46d0" /><Relationship Type="http://schemas.openxmlformats.org/officeDocument/2006/relationships/tableStyles" Target="/ppt/tableStyles.xml" Id="R66ece38b133747d0" /><Relationship Type="http://schemas.openxmlformats.org/officeDocument/2006/relationships/slide" Target="/ppt/slides/slide1.xml" Id="R73808a8c173846f3" /><Relationship Type="http://schemas.openxmlformats.org/officeDocument/2006/relationships/slide" Target="/ppt/slides/slide2.xml" Id="R90fb1993b7844d40" /><Relationship Type="http://schemas.openxmlformats.org/officeDocument/2006/relationships/slide" Target="/ppt/slides/slide3.xml" Id="R7de1006bb6ce4c89" /><Relationship Type="http://schemas.openxmlformats.org/officeDocument/2006/relationships/slide" Target="/ppt/slides/slide4.xml" Id="R34e6c0ff5a2d466d" /><Relationship Type="http://schemas.openxmlformats.org/officeDocument/2006/relationships/slide" Target="/ppt/slides/slide5.xml" Id="R923169e61a5c4c97" /><Relationship Type="http://schemas.openxmlformats.org/officeDocument/2006/relationships/slide" Target="/ppt/slides/slide6.xml" Id="Rc77f06885eb34fb1" /><Relationship Type="http://schemas.openxmlformats.org/officeDocument/2006/relationships/slide" Target="/ppt/slides/slide7.xml" Id="R738468dfe0c94dd4" /><Relationship Type="http://schemas.openxmlformats.org/officeDocument/2006/relationships/slide" Target="/ppt/slides/slide8.xml" Id="R97e9d0e4411849ce" /><Relationship Type="http://schemas.openxmlformats.org/officeDocument/2006/relationships/slide" Target="/ppt/slides/slide9.xml" Id="R0d13761fc7c34104" /><Relationship Type="http://schemas.openxmlformats.org/officeDocument/2006/relationships/slide" Target="/ppt/slides/slide10.xml" Id="Rac976dd1d4504a1d" /><Relationship Type="http://schemas.openxmlformats.org/officeDocument/2006/relationships/slide" Target="/ppt/slides/slide11.xml" Id="Rad6aefd785bc432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962ff5d8dc4c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aa3cd396af4120" /><Relationship Type="http://schemas.openxmlformats.org/officeDocument/2006/relationships/notesMaster" Target="/ppt/notesMasters/notesMaster1.xml" Id="R4000544768df4e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1d9b3bc5ed4d05" /><Relationship Type="http://schemas.openxmlformats.org/officeDocument/2006/relationships/notesMaster" Target="/ppt/notesMasters/notesMaster1.xml" Id="R9ae63e5e17de404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23826056494c84" /><Relationship Type="http://schemas.openxmlformats.org/officeDocument/2006/relationships/notesMaster" Target="/ppt/notesMasters/notesMaster1.xml" Id="Reae20e1e86ff45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2c5af591374633" /><Relationship Type="http://schemas.openxmlformats.org/officeDocument/2006/relationships/notesMaster" Target="/ppt/notesMasters/notesMaster1.xml" Id="R8fcb9bc3e8944e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aba498a0d448e8" /><Relationship Type="http://schemas.openxmlformats.org/officeDocument/2006/relationships/notesMaster" Target="/ppt/notesMasters/notesMaster1.xml" Id="R2aae8598a7864a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e22ed0856aa4cee" /><Relationship Type="http://schemas.openxmlformats.org/officeDocument/2006/relationships/notesMaster" Target="/ppt/notesMasters/notesMaster1.xml" Id="R2d13a364ec7c4e8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e546132154d4a51" /><Relationship Type="http://schemas.openxmlformats.org/officeDocument/2006/relationships/notesMaster" Target="/ppt/notesMasters/notesMaster1.xml" Id="R5402b4ef9c6649f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a8fc2b0a1f140ac" /><Relationship Type="http://schemas.openxmlformats.org/officeDocument/2006/relationships/notesMaster" Target="/ppt/notesMasters/notesMaster1.xml" Id="Rc43e8d44ec1d48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e7448f736e44d4d" /><Relationship Type="http://schemas.openxmlformats.org/officeDocument/2006/relationships/notesMaster" Target="/ppt/notesMasters/notesMaster1.xml" Id="Rd0e9d1639c74479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9760194ef77473e" /><Relationship Type="http://schemas.openxmlformats.org/officeDocument/2006/relationships/notesMaster" Target="/ppt/notesMasters/notesMaster1.xml" Id="R4c482b74f841409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c8f45725f81431d" /><Relationship Type="http://schemas.openxmlformats.org/officeDocument/2006/relationships/notesMaster" Target="/ppt/notesMasters/notesMaster1.xml" Id="R0844e6dd0daf483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从一次真实任务开始，学习把成功的方法沉淀成 Skill。后面的十页正文会用工单日报解释方法，补充选题和使用边界，再到深入阅读完成普通 Chat、提炼 Skill、安装、新 Chat 验证这四步。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封面：本次重新绘制的横版宣传海报 downloads/skill-engineering-cover.png；沿用已确认的课程框架与蓝白视觉。</a:t>
            </a:r>
          </a:p>
          <a:p xmlns:a="http://schemas.openxmlformats.org/drawingml/2006/main">
            <a:r>
              <a:t>原版图解仍保留在线查看与下载。</a:t>
            </a:r>
          </a:p>
          <a:p xmlns:a="http://schemas.openxmlformats.org/drawingml/2006/main">
            <a:r>
              <a:t>海报：https://archer-ai-courses.pages.dev/courses/skill-engineering/poster</a:t>
            </a:r>
          </a:p>
          <a:p xmlns:a="http://schemas.openxmlformats.org/drawingml/2006/main">
            <a:r>
              <a:t>跟练：https://archer-ai-courses.pages.dev/courses/skill-engineering/deep#practice-route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本页讲解：比如，今天花了几轮对话把日报做好，明天换个 Chat，同样的日期、去重和平均耗时又得重新解释。我们可以把今天用过的数据、确认的规则和核对过的结果留下来，再请 AI 把处理方法整理成 Skill。以后拿到同类数据，就有一套现成的方法可以继续用。交给同事时，他也能顺着这些资料看懂这份日报是怎么算出来、怎么验过的。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继续阅读：deep.html#practice-route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02 的当前现象与下一步目标；分享对话中用户的 Qoder 使用观察。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本页讲解：这 7 行就是我们交给 AI 的原始明细。T004 出现了两次，同一张工单只能算一次；T006 是 10 月 11 日创建的，也不该进入 10 日的日报。处理后剩下 5 张工单，其中 3 张已完成、2 张待处理。完成的 3 张分别用了 60、45、90 分钟，加起来 195 分钟，除以 3，平均就是 65 分钟。我们希望 AI 把明细整理成这样的日报，并让人能核对它怎么算的。把这些规则保存成 Skill，下次拿到新数据，就有了可以沿用的方法。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继续阅读：deep.html#ticket-practice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来源与对应：同一份虚构 practice/ticket-daily-report/tests/fixtures/normal.json 的完整 7 行；按 business-rules.md 及已确认 tests/expected/2026-10-10.json 核对。表格仅转换阅读标签，未改变原始数据。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本页讲解：刚才那份日报，在一个 Chat 里做对，就完成了当次任务。把规则和处理脚本保存成 Skill，下一次便有了可调用的方法。不过，另一位同事拿到新数据，也能做对吗？还要实际试一试。我们讲的 Skill Engineering，就是在沉淀方法之后，继续检查换对话、换数据、遇到异常时会发生什么。这样才知道，保存的方法离开原来的聊天还能不能工作。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继续阅读：deep.html#validation-scope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来源与对应：原海报、原横版课件 01 与 03 的核心公式、三步进阶与价值；价值表述为工程目标，未声称已测量收益。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本页讲解：选择第一项实践时，先找经常重复、方法能说明、成果能核对的工作，例如周报整理、明细核对或按模板准备材料。再确认资料在哪里，AI 能访问和操作什么，允许读取、修改或发送的范围是什么。AI 能自主执行和纠错，仍可能误解要求或漏掉问题；数字要核对明细，分析要核对来源，数据冲突时应停下来请人确认。先在小范围试用，保留结果与核对记录，观察表现是否稳定。评估长期价值时，把节省的时间、复核、修错、费用和维护一起算。具体工具接入方式在深入阅读的补充说明中介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继续阅读：deep.html#business-fit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来源与对应：本页为业务选题与实施判断的工程建议。Agent Skills 格式 https://agentskills.io/specification；自主执行与约束 https://www.anthropic.com/research/trustworthy-agents；质量、成本与反馈 https://www.anthropic.com/engineering/building-effective-agents。用户确认以 Codex、Claude Code、Qoder 等完整执行产品的现有能力为前提，不按业务类型列禁止清单。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本页讲解：算出 65 分钟之前，还有不少判断要做。统计哪一天、字段齐不齐、重复工单能不能合并，都影响最后的结果。假如同一个 ID 的两行耗时不同，就要停下来弄清原因，不能悄悄选一个。图里的 Workflow 管这些推进和停止的决定，Data Processing 按确认的规则去重、筛选和计算。两部分接起来，结果验过了，才把日报交出去。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继续阅读：deep.html#workflow-and-code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来源与对应：分享对话中的二维模型与五步工单日报流程；恢复上一版遗漏的两层与两种执行方式的区分。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本页讲解：拿刚才的平均耗时来说，195 除以 3，适合交给固定脚本，下一次也按同一规则计算。AI 则可以帮助理解需求：客户说的日期是创建日期，还是完成日期？字段名称换了，含义是否相同？把这些问题说清楚之后，再交给工具执行。脚本也可能写错分母，所以我们还要拿已知结果的样例核对，不能因为用了代码就省掉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继续阅读：deep.html#workflow-and-code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04 的完整二维分工矩阵与核心原则。关键口径仍由业务负责人确认；可变业务规则不全部写死在程序中。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本页讲解：参考包的入口 SKILL.md 说明何时使用、怎样完成和停止；业务规则在 references，处理代码在 scripts/pipeline.py。tests 保存程序检查、输入样例和已确认答案；evals/evals.json 保存让 Agent 完成的任务与核对项，直接引用 tests 的样例和答案。它可以由人或负责评审的 LLM 读取。任务实际执行后，再把输出和工具执行记录交给评审方；仅有配置文件不会产生评估结果。当前参考包没有自动评估程序，tests/check-regression.py 只检查固定脚本。简单任务仍可只有 SKILL.md，模板等资源按需放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继续阅读：deep.html#directories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来源与对应：用实际 ticket-daily-report 参考包目录说明职责。assets/ 可按需增加。Agent Skills 规范仅要求 SKILL.md；tests/evals 为按需扩展。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参考包的 pipeline.py 执行输入检查、处理与校验。目标同事的 Qoder 环境仍需分别验证。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本页讲解：先在普通 Chat 中做对日报，再把规则和实际使用的脚本整理成 Skill ZIP，安装后开新 Chat。第一次还没保存规则，需要把业务口径说明白；安装后只需说“用 normal.json 生成 2026-10-10 的工单日报，保存到新的结果文件夹”。每次都重讲算法，就无法看出 Skill 是否真的保存了方法。先用 / 选择技能检查执行，再不选择技能，用自然语言试它能否自动找到。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继续阅读：deep.html#qoder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来源与对应：普通 Chat 完成、提炼、安装、新 Chat 验证的四步跟练；Qoder 官方技能指南。Agent Skills 评估指南要求场景使用真实用户会说的任务提示。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本页讲解：工单跟练先验证结果与安装复用。更完整的 Task Evals 使用固定的真实任务和相同 Tests 比较版本：10 个 Golden Tasks 覆盖登录、支付、权限、超时和异常处理；假设 V1 完成 6 个、V2 完成 8 个，成功率从 60% 到 80%，提升 20 个百分点，同时比较质量、耗时、Token 和失败原因。数字仅为示例，需重复运行并控制模型、工具、数据和环境。评分可用程序、人工或 LLM。例如，参考包正常任务完成后，另开评审 Chat，提供 evals.json 的场景 1、已确认答案、实际日报及工具执行记录，请它逐项给出结论和证据。日报为 65，但没有实际调用日志时，调用项应为 UNKNOWN；日报为 39 时，数字项为 FAIL。只让 LLM 核对已有材料不会重跑任务，当前没有自动评估程序。Trigger 看正确触发，Production 持续观察真实质量、成本与失败。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继续阅读：deep.html#eval-walkthrough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来源与对应：用户给定 Golden Tasks 理论示例：10 个真实 E2E 需求，V1 假设 6/10、V2 假设 8/10，相同 Tests 判定。Trigger、Task、Production 为本课教学视角，并非统一强制分类。Agent Skills 评估指南 https://agentskills.io/skill-creation/evaluating-skills 与 Anthropic Agent evals https://www.anthropic.com/engineering/demystifying-evals-for-ai-agents 支持真实任务、基线比较、程序/模型/人工评分和生产观察。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本页讲解：从一件重复工作开始。已有 Skill 时，先用只读自评定位缺口；没有 Skill 时先完成前面的四步。准备完整 Skill、输入样例和已确认答案，让 AI 先列检查计划，逐案核对后再确认。随后生成适配自己脚本接口与输出的 tests 和 evals，两者共用包内样例与答案。按使用说明实际运行，保留命令、退出码、结果和失败记录，复制完整包到新目录也应能检查。检查程序同样可能写错，显示 PASS 后仍要确认它读了正确标准。Agent 任务另开 Chat 执行并留证，再由核对者评审。未确认口径保持待确认，不能为通过检查改答案。分享时请同事用同版本复测，把脱敏输入、预期与实际和执行记录交给张坚、李琦。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继续阅读：deep.html#verification-prep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来源与对应：用户取消五期培训安排后的自主实践与反馈要求；本会话指定张坚、李琦作为反馈联系人。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e413a6bc1a4cb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e8110eb6d1438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a1e23ade86411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fe1a5251be472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511fb970f341d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953265e09f462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33B77C3-7091-4D04-A616-C3C54B0BD5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A840046-B214-4EFA-8291-5BDE71122A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20640B0-1AA9-42D3-8E14-2974C71A4A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9AECED1-409D-4FEF-9D2C-E7B157A175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24C9E20-85AB-4294-A4FE-32D87D41B3D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33CF44D-C6C6-4959-A4BF-42548A71CE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45CA6AC-A1AC-4983-8FF2-2CCB3C2C2E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0FD081C-3890-4FF7-A850-5815355A39E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45DD76C-826F-4201-9EF9-3FDE22EDE2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99001E4-8290-4CE3-9379-84BCF5D794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8c69d0268b4efa" /><Relationship Type="http://schemas.openxmlformats.org/officeDocument/2006/relationships/slideLayout" Target="/ppt/slideLayouts/slideLayout1.xml" Id="R9a3fc5790f334f1c" /><Relationship Type="http://schemas.openxmlformats.org/officeDocument/2006/relationships/slideLayout" Target="/ppt/slideLayouts/slideLayout2.xml" Id="R302580c834ba4354" /><Relationship Type="http://schemas.openxmlformats.org/officeDocument/2006/relationships/slideLayout" Target="/ppt/slideLayouts/slideLayout3.xml" Id="R94627a87d0034f4f" /><Relationship Type="http://schemas.openxmlformats.org/officeDocument/2006/relationships/slideLayout" Target="/ppt/slideLayouts/slideLayout4.xml" Id="R1b2ee7902d7445b1" /><Relationship Type="http://schemas.openxmlformats.org/officeDocument/2006/relationships/slideLayout" Target="/ppt/slideLayouts/slideLayout5.xml" Id="Ra89e59bf77ce4b27" /><Relationship Type="http://schemas.openxmlformats.org/officeDocument/2006/relationships/slideLayout" Target="/ppt/slideLayouts/slideLayout6.xml" Id="R356c8ac5af4a48b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3fc5790f334f1c"/>
    <p:sldLayoutId xmlns:r="http://schemas.openxmlformats.org/officeDocument/2006/relationships" id="2147483650" r:id="R302580c834ba4354"/>
    <p:sldLayoutId xmlns:r="http://schemas.openxmlformats.org/officeDocument/2006/relationships" id="2147483651" r:id="R94627a87d0034f4f"/>
    <p:sldLayoutId xmlns:r="http://schemas.openxmlformats.org/officeDocument/2006/relationships" id="2147483652" r:id="R1b2ee7902d7445b1"/>
    <p:sldLayoutId xmlns:r="http://schemas.openxmlformats.org/officeDocument/2006/relationships" id="2147483653" r:id="Ra89e59bf77ce4b27"/>
    <p:sldLayoutId xmlns:r="http://schemas.openxmlformats.org/officeDocument/2006/relationships" id="2147483654" r:id="R356c8ac5af4a48b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5b00e76e2b4b10" /><Relationship Type="http://schemas.openxmlformats.org/officeDocument/2006/relationships/image" Target="/ppt/media/image.png" Id="Rbbbda79205de4811" /><Relationship Type="http://schemas.openxmlformats.org/officeDocument/2006/relationships/notesSlide" Target="/ppt/notesSlides/notesSlide1.xml" Id="Ree035c04939f4b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749738f6d34022" /><Relationship Type="http://schemas.openxmlformats.org/officeDocument/2006/relationships/image" Target="/ppt/media/image2.png" Id="R50e36820ec05457a" /><Relationship Type="http://schemas.openxmlformats.org/officeDocument/2006/relationships/notesSlide" Target="/ppt/notesSlides/notesSlide2.xml" Id="R654f9076fdf8494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883331bdfc4d66" /><Relationship Type="http://schemas.openxmlformats.org/officeDocument/2006/relationships/image" Target="/ppt/media/image3.png" Id="R4e2de56a8b484df7" /><Relationship Type="http://schemas.openxmlformats.org/officeDocument/2006/relationships/notesSlide" Target="/ppt/notesSlides/notesSlide3.xml" Id="Rd3181067bb9d42a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58698cd8864505" /><Relationship Type="http://schemas.openxmlformats.org/officeDocument/2006/relationships/image" Target="/ppt/media/image4.png" Id="Rabaf43b4409d4f07" /><Relationship Type="http://schemas.openxmlformats.org/officeDocument/2006/relationships/notesSlide" Target="/ppt/notesSlides/notesSlide4.xml" Id="R9f449ce283ed4c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fab6e4a8a24427" /><Relationship Type="http://schemas.openxmlformats.org/officeDocument/2006/relationships/image" Target="/ppt/media/image5.png" Id="R2881b246e7324a84" /><Relationship Type="http://schemas.openxmlformats.org/officeDocument/2006/relationships/notesSlide" Target="/ppt/notesSlides/notesSlide5.xml" Id="Rafc8735d2cf94fe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4ab2612ff2407b" /><Relationship Type="http://schemas.openxmlformats.org/officeDocument/2006/relationships/image" Target="/ppt/media/image6.png" Id="Rabc39cf4bf7442db" /><Relationship Type="http://schemas.openxmlformats.org/officeDocument/2006/relationships/notesSlide" Target="/ppt/notesSlides/notesSlide6.xml" Id="R91a6b01b29694e6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3ed8a77b594eac" /><Relationship Type="http://schemas.openxmlformats.org/officeDocument/2006/relationships/image" Target="/ppt/media/image7.png" Id="Rff31aff3d1994a45" /><Relationship Type="http://schemas.openxmlformats.org/officeDocument/2006/relationships/notesSlide" Target="/ppt/notesSlides/notesSlide7.xml" Id="Refc13979747a4e2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d3e523428d4ee8" /><Relationship Type="http://schemas.openxmlformats.org/officeDocument/2006/relationships/image" Target="/ppt/media/image8.png" Id="Ra5fb9e016ec44741" /><Relationship Type="http://schemas.openxmlformats.org/officeDocument/2006/relationships/notesSlide" Target="/ppt/notesSlides/notesSlide8.xml" Id="Ra6fde1f54f2b478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84ac4f09da4e9a" /><Relationship Type="http://schemas.openxmlformats.org/officeDocument/2006/relationships/image" Target="/ppt/media/image9.png" Id="R2f0fa1f3a69e480f" /><Relationship Type="http://schemas.openxmlformats.org/officeDocument/2006/relationships/notesSlide" Target="/ppt/notesSlides/notesSlide9.xml" Id="Rb59c465f1c6b4e6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b0200a64164e8a" /><Relationship Type="http://schemas.openxmlformats.org/officeDocument/2006/relationships/image" Target="/ppt/media/image10.png" Id="R9db27639177f4778" /><Relationship Type="http://schemas.openxmlformats.org/officeDocument/2006/relationships/notesSlide" Target="/ppt/notesSlides/notesSlide10.xml" Id="R20ae145ff2f449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3f0f5612ca466f" /><Relationship Type="http://schemas.openxmlformats.org/officeDocument/2006/relationships/image" Target="/ppt/media/image11.png" Id="R9f80fe4118924d5f" /><Relationship Type="http://schemas.openxmlformats.org/officeDocument/2006/relationships/notesSlide" Target="/ppt/notesSlides/notesSlide11.xml" Id="Red5f4f7a6ceb4ef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A2C2F6-2507-4536-AB27-64D97E6931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bda79205de4811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16D11076-465E-4B3B-A1E6-9616B58A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171450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01 / 11</a:t>
            </a:r>
          </a:p>
        </p:txBody>
      </p:sp>
    </p:spTree>
    <p:extLst>
      <p:ext uri="{BB962C8B-B14F-4D97-AF65-F5344CB8AC3E}">
        <p14:creationId xmlns:p14="http://schemas.microsoft.com/office/powerpoint/2010/main" val="17842209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C82413-56CB-4754-A543-8FA37A8379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e36820ec05457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21DBC206-5F49-4512-8377-231B4726B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C277C57-4E36-4EF3-87EC-29B76BBF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为什么需要 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B527F843-E606-4D63-8F51-6528FD1DF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让一次成功的任务，沉淀为可复用、可验证、可迭代的团队能力</a:t>
            </a:r>
          </a:p>
        </p:txBody>
      </p:sp>
      <p:sp>
        <p:nvSpPr>
          <p:cNvPr id="5" name="panel-0">
            <a:extLst xmlns:a="http://schemas.openxmlformats.org/drawingml/2006/main">
              <a:ext uri="{FF2B5EF4-FFF2-40B4-BE49-F238E27FC236}">
                <a16:creationId xmlns:a16="http://schemas.microsoft.com/office/drawing/2014/main" id="{18084EF5-4DA4-44ED-B28A-C9735781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anel-0-label-band">
            <a:extLst xmlns:a="http://schemas.openxmlformats.org/drawingml/2006/main">
              <a:ext uri="{FF2B5EF4-FFF2-40B4-BE49-F238E27FC236}">
                <a16:creationId xmlns:a16="http://schemas.microsoft.com/office/drawing/2014/main" id="{CF4B29C7-4A98-4046-B68E-BED29B34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anel-0-label">
            <a:extLst xmlns:a="http://schemas.openxmlformats.org/drawingml/2006/main">
              <a:ext uri="{FF2B5EF4-FFF2-40B4-BE49-F238E27FC236}">
                <a16:creationId xmlns:a16="http://schemas.microsoft.com/office/drawing/2014/main" id="{A82047E9-1F08-4646-8140-B13FB4AD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当前现象</a:t>
            </a:r>
          </a:p>
        </p:txBody>
      </p:sp>
      <p:sp>
        <p:nvSpPr>
          <p:cNvPr id="8" name="item-0-0-title">
            <a:extLst xmlns:a="http://schemas.openxmlformats.org/drawingml/2006/main">
              <a:ext uri="{FF2B5EF4-FFF2-40B4-BE49-F238E27FC236}">
                <a16:creationId xmlns:a16="http://schemas.microsoft.com/office/drawing/2014/main" id="{A3B8C2C5-309B-41DE-809A-E56709723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已经开始使用 Qoder</a:t>
            </a:r>
          </a:p>
        </p:txBody>
      </p:sp>
      <p:sp>
        <p:nvSpPr>
          <p:cNvPr id="9" name="item-0-0-body">
            <a:extLst xmlns:a="http://schemas.openxmlformats.org/drawingml/2006/main">
              <a:ext uri="{FF2B5EF4-FFF2-40B4-BE49-F238E27FC236}">
                <a16:creationId xmlns:a16="http://schemas.microsoft.com/office/drawing/2014/main" id="{99B294B1-C5C3-4FC6-8A12-D843E9F90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不少同事已把 AI 用到日常工作中</a:t>
            </a:r>
          </a:p>
        </p:txBody>
      </p:sp>
      <p:sp>
        <p:nvSpPr>
          <p:cNvPr id="10" name="item-0-1-title">
            <a:extLst xmlns:a="http://schemas.openxmlformats.org/drawingml/2006/main">
              <a:ext uri="{FF2B5EF4-FFF2-40B4-BE49-F238E27FC236}">
                <a16:creationId xmlns:a16="http://schemas.microsoft.com/office/drawing/2014/main" id="{3573EFA1-9F33-4570-A474-F518C462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数据处理是主要场景</a:t>
            </a:r>
          </a:p>
        </p:txBody>
      </p:sp>
      <p:sp>
        <p:nvSpPr>
          <p:cNvPr id="11" name="item-0-1-body">
            <a:extLst xmlns:a="http://schemas.openxmlformats.org/drawingml/2006/main">
              <a:ext uri="{FF2B5EF4-FFF2-40B4-BE49-F238E27FC236}">
                <a16:creationId xmlns:a16="http://schemas.microsoft.com/office/drawing/2014/main" id="{BB3EE03F-3051-473A-A7E1-C5A6190A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整理明细、汇总报表、解释结果</a:t>
            </a:r>
          </a:p>
        </p:txBody>
      </p:sp>
      <p:sp>
        <p:nvSpPr>
          <p:cNvPr id="12" name="item-0-2-title">
            <a:extLst xmlns:a="http://schemas.openxmlformats.org/drawingml/2006/main">
              <a:ext uri="{FF2B5EF4-FFF2-40B4-BE49-F238E27FC236}">
                <a16:creationId xmlns:a16="http://schemas.microsoft.com/office/drawing/2014/main" id="{B1121F90-2F62-492A-8BD0-96556968F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主要仍通过 Chat 完成工作</a:t>
            </a:r>
          </a:p>
        </p:txBody>
      </p:sp>
      <p:sp>
        <p:nvSpPr>
          <p:cNvPr id="13" name="item-0-2-body">
            <a:extLst xmlns:a="http://schemas.openxmlformats.org/drawingml/2006/main">
              <a:ext uri="{FF2B5EF4-FFF2-40B4-BE49-F238E27FC236}">
                <a16:creationId xmlns:a16="http://schemas.microsoft.com/office/drawing/2014/main" id="{55E5215F-8434-46FE-A958-56283B9D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每次重新说明需求，再反复调整</a:t>
            </a:r>
          </a:p>
        </p:txBody>
      </p:sp>
      <p:sp>
        <p:nvSpPr>
          <p:cNvPr id="14" name="item-0-3-title">
            <a:extLst xmlns:a="http://schemas.openxmlformats.org/drawingml/2006/main">
              <a:ext uri="{FF2B5EF4-FFF2-40B4-BE49-F238E27FC236}">
                <a16:creationId xmlns:a16="http://schemas.microsoft.com/office/drawing/2014/main" id="{AA69CF96-A2C1-450C-9FD2-0F820728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成功经验尚未稳定沉淀</a:t>
            </a:r>
          </a:p>
        </p:txBody>
      </p:sp>
      <p:sp>
        <p:nvSpPr>
          <p:cNvPr id="15" name="item-0-3-body">
            <a:extLst xmlns:a="http://schemas.openxmlformats.org/drawingml/2006/main">
              <a:ext uri="{FF2B5EF4-FFF2-40B4-BE49-F238E27FC236}">
                <a16:creationId xmlns:a16="http://schemas.microsoft.com/office/drawing/2014/main" id="{8BDAF9B3-E6BB-4328-8D1E-431B9425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换一个 Chat，往往又要从头解释</a:t>
            </a:r>
          </a:p>
        </p:txBody>
      </p:sp>
      <p:sp>
        <p:nvSpPr>
          <p:cNvPr id="16" name="panel-1">
            <a:extLst xmlns:a="http://schemas.openxmlformats.org/drawingml/2006/main">
              <a:ext uri="{FF2B5EF4-FFF2-40B4-BE49-F238E27FC236}">
                <a16:creationId xmlns:a16="http://schemas.microsoft.com/office/drawing/2014/main" id="{657EC2DE-0EEF-4D6B-AF5F-29C335C5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7" name="panel-1-label-band">
            <a:extLst xmlns:a="http://schemas.openxmlformats.org/drawingml/2006/main">
              <a:ext uri="{FF2B5EF4-FFF2-40B4-BE49-F238E27FC236}">
                <a16:creationId xmlns:a16="http://schemas.microsoft.com/office/drawing/2014/main" id="{4B54E50F-B968-45B0-A899-1946FF1E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anel-1-label">
            <a:extLst xmlns:a="http://schemas.openxmlformats.org/drawingml/2006/main">
              <a:ext uri="{FF2B5EF4-FFF2-40B4-BE49-F238E27FC236}">
                <a16:creationId xmlns:a16="http://schemas.microsoft.com/office/drawing/2014/main" id="{7F18AE35-C7C9-4833-A341-9BFC050C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下一步目标</a:t>
            </a:r>
          </a:p>
        </p:txBody>
      </p:sp>
      <p:sp>
        <p:nvSpPr>
          <p:cNvPr id="19" name="item-1-0-title">
            <a:extLst xmlns:a="http://schemas.openxmlformats.org/drawingml/2006/main">
              <a:ext uri="{FF2B5EF4-FFF2-40B4-BE49-F238E27FC236}">
                <a16:creationId xmlns:a16="http://schemas.microsoft.com/office/drawing/2014/main" id="{555D787E-7EA2-443D-9C0D-F5349818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感知 Skill 的作用</a:t>
            </a:r>
          </a:p>
        </p:txBody>
      </p:sp>
      <p:sp>
        <p:nvSpPr>
          <p:cNvPr id="20" name="item-1-0-body">
            <a:extLst xmlns:a="http://schemas.openxmlformats.org/drawingml/2006/main">
              <a:ext uri="{FF2B5EF4-FFF2-40B4-BE49-F238E27FC236}">
                <a16:creationId xmlns:a16="http://schemas.microsoft.com/office/drawing/2014/main" id="{4CA2900B-1176-4837-B203-38421494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看见流程和规则复用带来的价值</a:t>
            </a:r>
          </a:p>
        </p:txBody>
      </p:sp>
      <p:sp>
        <p:nvSpPr>
          <p:cNvPr id="21" name="item-1-1-title">
            <a:extLst xmlns:a="http://schemas.openxmlformats.org/drawingml/2006/main">
              <a:ext uri="{FF2B5EF4-FFF2-40B4-BE49-F238E27FC236}">
                <a16:creationId xmlns:a16="http://schemas.microsoft.com/office/drawing/2014/main" id="{554C17A6-D607-4B52-AC01-CAF1AB7E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一次性完成成为可复用能力</a:t>
            </a:r>
          </a:p>
        </p:txBody>
      </p:sp>
      <p:sp>
        <p:nvSpPr>
          <p:cNvPr id="22" name="item-1-1-body">
            <a:extLst xmlns:a="http://schemas.openxmlformats.org/drawingml/2006/main">
              <a:ext uri="{FF2B5EF4-FFF2-40B4-BE49-F238E27FC236}">
                <a16:creationId xmlns:a16="http://schemas.microsoft.com/office/drawing/2014/main" id="{C475C678-6D70-4E31-932A-1FCCC617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把成功方法留在完整的能力包中</a:t>
            </a:r>
          </a:p>
        </p:txBody>
      </p:sp>
      <p:sp>
        <p:nvSpPr>
          <p:cNvPr id="23" name="item-1-2-title">
            <a:extLst xmlns:a="http://schemas.openxmlformats.org/drawingml/2006/main">
              <a:ext uri="{FF2B5EF4-FFF2-40B4-BE49-F238E27FC236}">
                <a16:creationId xmlns:a16="http://schemas.microsoft.com/office/drawing/2014/main" id="{224C44EC-FA66-499F-8F93-C38F7A6A3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个人经验成为团队共同方法</a:t>
            </a:r>
          </a:p>
        </p:txBody>
      </p:sp>
      <p:sp>
        <p:nvSpPr>
          <p:cNvPr id="24" name="item-1-2-body">
            <a:extLst xmlns:a="http://schemas.openxmlformats.org/drawingml/2006/main">
              <a:ext uri="{FF2B5EF4-FFF2-40B4-BE49-F238E27FC236}">
                <a16:creationId xmlns:a16="http://schemas.microsoft.com/office/drawing/2014/main" id="{271BA151-6BEC-4CC0-8F6D-9AD94969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让另一位同事也能按同一口径完成</a:t>
            </a:r>
          </a:p>
        </p:txBody>
      </p:sp>
      <p:sp>
        <p:nvSpPr>
          <p:cNvPr id="25" name="item-1-3-title">
            <a:extLst xmlns:a="http://schemas.openxmlformats.org/drawingml/2006/main">
              <a:ext uri="{FF2B5EF4-FFF2-40B4-BE49-F238E27FC236}">
                <a16:creationId xmlns:a16="http://schemas.microsoft.com/office/drawing/2014/main" id="{0D578007-258C-40D9-B259-FBBA142E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形成共同的工程语言</a:t>
            </a:r>
          </a:p>
        </p:txBody>
      </p:sp>
      <p:sp>
        <p:nvSpPr>
          <p:cNvPr id="26" name="item-1-3-body">
            <a:extLst xmlns:a="http://schemas.openxmlformats.org/drawingml/2006/main">
              <a:ext uri="{FF2B5EF4-FFF2-40B4-BE49-F238E27FC236}">
                <a16:creationId xmlns:a16="http://schemas.microsoft.com/office/drawing/2014/main" id="{CD58D7C4-48DF-471E-9758-AC96CFC3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知道如何设计、执行、验证和改进</a:t>
            </a:r>
          </a:p>
        </p:txBody>
      </p:sp>
      <p:sp>
        <p:nvSpPr>
          <p:cNvPr id="27" name="flow-arrow">
            <a:extLst xmlns:a="http://schemas.openxmlformats.org/drawingml/2006/main">
              <a:ext uri="{FF2B5EF4-FFF2-40B4-BE49-F238E27FC236}">
                <a16:creationId xmlns:a16="http://schemas.microsoft.com/office/drawing/2014/main" id="{88EDF08C-D04D-46B9-A9FA-EF9FB9C0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705225"/>
            <a:ext cx="3429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D9783AE2-C4D7-439C-8314-3CF9BCC5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DE2DD32A-DA29-48D9-B9A5-E2A667B5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把 Chat 中成功的方法沉淀为 Skill，再通过验证与复用完善它。</a:t>
            </a:r>
          </a:p>
        </p:txBody>
      </p:sp>
      <p:sp>
        <p:nvSpPr>
          <p:cNvPr id="30" name="byline">
            <a:extLst xmlns:a="http://schemas.openxmlformats.org/drawingml/2006/main">
              <a:ext uri="{FF2B5EF4-FFF2-40B4-BE49-F238E27FC236}">
                <a16:creationId xmlns:a16="http://schemas.microsoft.com/office/drawing/2014/main" id="{0C775449-FFED-4ADE-8A79-C4140401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1" name="page">
            <a:extLst xmlns:a="http://schemas.openxmlformats.org/drawingml/2006/main">
              <a:ext uri="{FF2B5EF4-FFF2-40B4-BE49-F238E27FC236}">
                <a16:creationId xmlns:a16="http://schemas.microsoft.com/office/drawing/2014/main" id="{012DCBE9-1738-4863-91E6-DF5E41F1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02 / 11</a:t>
            </a:r>
          </a:p>
        </p:txBody>
      </p:sp>
    </p:spTree>
    <p:extLst>
      <p:ext uri="{BB962C8B-B14F-4D97-AF65-F5344CB8AC3E}">
        <p14:creationId xmlns:p14="http://schemas.microsoft.com/office/powerpoint/2010/main" val="18133535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9EB9EE-FACF-401B-A97D-2C88244C87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2de56a8b484df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C5CFA622-F5E3-439F-9D06-D4FCC21A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8C066A-3920-43CB-AC4E-D44FB6EE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从一次数据处理任务说起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644C15E9-EED0-481C-9CA6-918B5EB9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拿到下面这份工单明细，怎样让 AI 把它整理成 10 月 10 日的日报？</a:t>
            </a:r>
          </a:p>
        </p:txBody>
      </p:sp>
      <p:sp>
        <p:nvSpPr>
          <p:cNvPr id="5" name="input-label">
            <a:extLst xmlns:a="http://schemas.openxmlformats.org/drawingml/2006/main">
              <a:ext uri="{FF2B5EF4-FFF2-40B4-BE49-F238E27FC236}">
                <a16:creationId xmlns:a16="http://schemas.microsoft.com/office/drawing/2014/main" id="{D7D8269A-CB44-463E-B7A2-339050EBD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输入：7 行虚构工单明细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0FF125-3D52-4080-8725-1B2113CC41D7}"/>
              </a:ext>
            </a:extLst>
          </p:cNvPr>
          <p:cNvGraphicFramePr/>
          <p:nvPr/>
        </p:nvGraphicFramePr>
        <p:xfrm>
          <a:off xmlns:a="http://schemas.openxmlformats.org/drawingml/2006/main" x="457200" y="2781300"/>
          <a:ext xmlns:a="http://schemas.openxmlformats.org/drawingml/2006/main" cx="5619750" cy="25431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04875"/>
                <a:gridCol w="1676400"/>
                <a:gridCol w="1285875"/>
                <a:gridCol w="1752600"/>
              </a:tblGrid>
              <a:tr h="342900"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工单 ID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创建日期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状态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耗时 / 分钟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60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待处理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45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90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90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待处理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T006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30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ample-note">
            <a:extLst xmlns:a="http://schemas.openxmlformats.org/drawingml/2006/main">
              <a:ext uri="{FF2B5EF4-FFF2-40B4-BE49-F238E27FC236}">
                <a16:creationId xmlns:a16="http://schemas.microsoft.com/office/drawing/2014/main" id="{F272F9CA-F6E8-43B6-A918-EDCF97C67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5619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T004 重复一行；T006 属于 10 月 11 日。</a:t>
            </a:r>
          </a:p>
        </p:txBody>
      </p:sp>
      <p:sp>
        <p:nvSpPr>
          <p:cNvPr id="8" name="sample-task">
            <a:extLst xmlns:a="http://schemas.openxmlformats.org/drawingml/2006/main">
              <a:ext uri="{FF2B5EF4-FFF2-40B4-BE49-F238E27FC236}">
                <a16:creationId xmlns:a16="http://schemas.microsoft.com/office/drawing/2014/main" id="{12C5CE05-6C75-4145-8424-2A873EDB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5305425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9" name="sample-task-label-band">
            <a:extLst xmlns:a="http://schemas.openxmlformats.org/drawingml/2006/main">
              <a:ext uri="{FF2B5EF4-FFF2-40B4-BE49-F238E27FC236}">
                <a16:creationId xmlns:a16="http://schemas.microsoft.com/office/drawing/2014/main" id="{0FE3DFD5-5D8E-4C46-85EC-BA2B7356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530542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0" name="sample-task-label">
            <a:extLst xmlns:a="http://schemas.openxmlformats.org/drawingml/2006/main">
              <a:ext uri="{FF2B5EF4-FFF2-40B4-BE49-F238E27FC236}">
                <a16:creationId xmlns:a16="http://schemas.microsoft.com/office/drawing/2014/main" id="{624D2A3B-D240-41AE-8383-99E0D5CE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495550"/>
            <a:ext cx="4962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交给 AI 的任务</a:t>
            </a:r>
          </a:p>
        </p:txBody>
      </p:sp>
      <p:sp>
        <p:nvSpPr>
          <p:cNvPr id="11" name="sample-task-body">
            <a:extLst xmlns:a="http://schemas.openxmlformats.org/drawingml/2006/main">
              <a:ext uri="{FF2B5EF4-FFF2-40B4-BE49-F238E27FC236}">
                <a16:creationId xmlns:a16="http://schemas.microsoft.com/office/drawing/2014/main" id="{1FC9256A-B040-48FD-AF29-867183C15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00375"/>
            <a:ext cx="49625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请统计 10 月 10 日创建的工单。相同 ID 完全一致时保留一条，日期、状态或耗时不一致时停下来等我确认。告诉我总数、完成数、待处理数和完成单平均耗时。</a:t>
            </a:r>
          </a:p>
        </p:txBody>
      </p:sp>
      <p:sp>
        <p:nvSpPr>
          <p:cNvPr id="12" name="sample-output">
            <a:extLst xmlns:a="http://schemas.openxmlformats.org/drawingml/2006/main">
              <a:ext uri="{FF2B5EF4-FFF2-40B4-BE49-F238E27FC236}">
                <a16:creationId xmlns:a16="http://schemas.microsoft.com/office/drawing/2014/main" id="{FCAC3A57-8E12-4F08-8D95-DCAF18EC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305425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ample-output-label-band">
            <a:extLst xmlns:a="http://schemas.openxmlformats.org/drawingml/2006/main">
              <a:ext uri="{FF2B5EF4-FFF2-40B4-BE49-F238E27FC236}">
                <a16:creationId xmlns:a16="http://schemas.microsoft.com/office/drawing/2014/main" id="{C8DF604A-3647-40B2-9668-9ACBB57D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30542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4" name="sample-output-label">
            <a:extLst xmlns:a="http://schemas.openxmlformats.org/drawingml/2006/main">
              <a:ext uri="{FF2B5EF4-FFF2-40B4-BE49-F238E27FC236}">
                <a16:creationId xmlns:a16="http://schemas.microsoft.com/office/drawing/2014/main" id="{22600A1B-5A17-419F-AC5F-99D7BF6F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314825"/>
            <a:ext cx="4962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应该交回的日报</a:t>
            </a:r>
          </a:p>
        </p:txBody>
      </p:sp>
      <p:sp>
        <p:nvSpPr>
          <p:cNvPr id="15" name="sample-output-0">
            <a:extLst xmlns:a="http://schemas.openxmlformats.org/drawingml/2006/main">
              <a:ext uri="{FF2B5EF4-FFF2-40B4-BE49-F238E27FC236}">
                <a16:creationId xmlns:a16="http://schemas.microsoft.com/office/drawing/2014/main" id="{AE9DFEB1-627C-427E-B37E-3D4AD7DB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810125"/>
            <a:ext cx="4962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5 单：完成 3 单，待处理 2 单</a:t>
            </a:r>
          </a:p>
        </p:txBody>
      </p:sp>
      <p:sp>
        <p:nvSpPr>
          <p:cNvPr id="16" name="sample-output-1">
            <a:extLst xmlns:a="http://schemas.openxmlformats.org/drawingml/2006/main">
              <a:ext uri="{FF2B5EF4-FFF2-40B4-BE49-F238E27FC236}">
                <a16:creationId xmlns:a16="http://schemas.microsoft.com/office/drawing/2014/main" id="{E4978DF8-6A86-4C63-A6FD-C5CFA858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5153025"/>
            <a:ext cx="4962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完成单平均：(60 + 45 + 90) ÷ 3 = 65 分钟</a:t>
            </a:r>
          </a:p>
        </p:txBody>
      </p:sp>
      <p:sp>
        <p:nvSpPr>
          <p:cNvPr id="1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35D623FE-95EE-4E60-B965-DDFE8A91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takeaway">
            <a:extLst xmlns:a="http://schemas.openxmlformats.org/drawingml/2006/main">
              <a:ext uri="{FF2B5EF4-FFF2-40B4-BE49-F238E27FC236}">
                <a16:creationId xmlns:a16="http://schemas.microsoft.com/office/drawing/2014/main" id="{65EAA64F-C735-4191-B62A-93FB3E7B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这份明细要变成一份日报：去重、按创建日期筛选，再统计数量与完成单平均耗时。</a:t>
            </a:r>
          </a:p>
        </p:txBody>
      </p:sp>
      <p:sp>
        <p:nvSpPr>
          <p:cNvPr id="19" name="byline">
            <a:extLst xmlns:a="http://schemas.openxmlformats.org/drawingml/2006/main">
              <a:ext uri="{FF2B5EF4-FFF2-40B4-BE49-F238E27FC236}">
                <a16:creationId xmlns:a16="http://schemas.microsoft.com/office/drawing/2014/main" id="{BAE8AD4F-B28A-41ED-95E3-C3770D2F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0" name="page">
            <a:extLst xmlns:a="http://schemas.openxmlformats.org/drawingml/2006/main">
              <a:ext uri="{FF2B5EF4-FFF2-40B4-BE49-F238E27FC236}">
                <a16:creationId xmlns:a16="http://schemas.microsoft.com/office/drawing/2014/main" id="{BEDACE13-BD9B-4884-A296-E87A8470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03 / 11</a:t>
            </a:r>
          </a:p>
        </p:txBody>
      </p:sp>
    </p:spTree>
    <p:extLst>
      <p:ext uri="{BB962C8B-B14F-4D97-AF65-F5344CB8AC3E}">
        <p14:creationId xmlns:p14="http://schemas.microsoft.com/office/powerpoint/2010/main" val="20758507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95BC79-88E5-4F25-819C-985DF234EC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af43b4409d4f0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685EB210-BD42-48F1-898E-AF24F385C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96C3C3B-2AF7-4A70-89BA-F73269C6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Chat、Skill、Skill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527FB67E-ABEB-4A58-AC74-07125188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把一次成功的任务，转化成能跨对话复用、执行关键操作、具备验证机制的工作能力。</a:t>
            </a:r>
          </a:p>
        </p:txBody>
      </p:sp>
      <p:sp>
        <p:nvSpPr>
          <p:cNvPr id="5" name="formula-panel">
            <a:extLst xmlns:a="http://schemas.openxmlformats.org/drawingml/2006/main">
              <a:ext uri="{FF2B5EF4-FFF2-40B4-BE49-F238E27FC236}">
                <a16:creationId xmlns:a16="http://schemas.microsoft.com/office/drawing/2014/main" id="{D29BE487-2D88-4024-A318-E382F1E2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43150"/>
            <a:ext cx="11277600" cy="94297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formula">
            <a:extLst xmlns:a="http://schemas.openxmlformats.org/drawingml/2006/main">
              <a:ext uri="{FF2B5EF4-FFF2-40B4-BE49-F238E27FC236}">
                <a16:creationId xmlns:a16="http://schemas.microsoft.com/office/drawing/2014/main" id="{4C665549-E401-4B82-A8CB-2F38E73A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 = Skill Design + Deterministic Execution + Validation + Evaluation + Reuse</a:t>
            </a:r>
          </a:p>
        </p:txBody>
      </p:sp>
      <p:sp>
        <p:nvSpPr>
          <p:cNvPr id="7" name="formula-zh-0">
            <a:extLst xmlns:a="http://schemas.openxmlformats.org/drawingml/2006/main">
              <a:ext uri="{FF2B5EF4-FFF2-40B4-BE49-F238E27FC236}">
                <a16:creationId xmlns:a16="http://schemas.microsoft.com/office/drawing/2014/main" id="{50C7C98F-7010-4437-A8E9-2BE1087E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技能设计</a:t>
            </a:r>
          </a:p>
        </p:txBody>
      </p:sp>
      <p:sp>
        <p:nvSpPr>
          <p:cNvPr id="8" name="formula-zh-1">
            <a:extLst xmlns:a="http://schemas.openxmlformats.org/drawingml/2006/main">
              <a:ext uri="{FF2B5EF4-FFF2-40B4-BE49-F238E27FC236}">
                <a16:creationId xmlns:a16="http://schemas.microsoft.com/office/drawing/2014/main" id="{CB2AD678-E3C0-43BC-B0D9-404BFE59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确定性执行</a:t>
            </a:r>
          </a:p>
        </p:txBody>
      </p:sp>
      <p:sp>
        <p:nvSpPr>
          <p:cNvPr id="9" name="formula-zh-2">
            <a:extLst xmlns:a="http://schemas.openxmlformats.org/drawingml/2006/main">
              <a:ext uri="{FF2B5EF4-FFF2-40B4-BE49-F238E27FC236}">
                <a16:creationId xmlns:a16="http://schemas.microsoft.com/office/drawing/2014/main" id="{FA4093E6-1176-4128-A532-184D58CF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结果验证</a:t>
            </a:r>
          </a:p>
        </p:txBody>
      </p:sp>
      <p:sp>
        <p:nvSpPr>
          <p:cNvPr id="10" name="formula-zh-3">
            <a:extLst xmlns:a="http://schemas.openxmlformats.org/drawingml/2006/main">
              <a:ext uri="{FF2B5EF4-FFF2-40B4-BE49-F238E27FC236}">
                <a16:creationId xmlns:a16="http://schemas.microsoft.com/office/drawing/2014/main" id="{872F886A-AAAA-4E98-B23F-0A40F5F8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效果评估</a:t>
            </a:r>
          </a:p>
        </p:txBody>
      </p:sp>
      <p:sp>
        <p:nvSpPr>
          <p:cNvPr id="11" name="formula-zh-4">
            <a:extLst xmlns:a="http://schemas.openxmlformats.org/drawingml/2006/main">
              <a:ext uri="{FF2B5EF4-FFF2-40B4-BE49-F238E27FC236}">
                <a16:creationId xmlns:a16="http://schemas.microsoft.com/office/drawing/2014/main" id="{AFD5E36C-B3F7-4770-BCCC-0B583B5F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复用传播</a:t>
            </a:r>
          </a:p>
        </p:txBody>
      </p:sp>
      <p:sp>
        <p:nvSpPr>
          <p:cNvPr id="12" name="progression-0">
            <a:extLst xmlns:a="http://schemas.openxmlformats.org/drawingml/2006/main">
              <a:ext uri="{FF2B5EF4-FFF2-40B4-BE49-F238E27FC236}">
                <a16:creationId xmlns:a16="http://schemas.microsoft.com/office/drawing/2014/main" id="{46028BB4-9788-4CB2-98E6-3D57233E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progression-0-title">
            <a:extLst xmlns:a="http://schemas.openxmlformats.org/drawingml/2006/main">
              <a:ext uri="{FF2B5EF4-FFF2-40B4-BE49-F238E27FC236}">
                <a16:creationId xmlns:a16="http://schemas.microsoft.com/office/drawing/2014/main" id="{52EDC6F6-97F2-473F-B987-E20CD3A78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 使用</a:t>
            </a:r>
          </a:p>
        </p:txBody>
      </p:sp>
      <p:sp>
        <p:nvSpPr>
          <p:cNvPr id="14" name="progression-0-sub">
            <a:extLst xmlns:a="http://schemas.openxmlformats.org/drawingml/2006/main">
              <a:ext uri="{FF2B5EF4-FFF2-40B4-BE49-F238E27FC236}">
                <a16:creationId xmlns:a16="http://schemas.microsoft.com/office/drawing/2014/main" id="{987DAA79-AAF9-493B-BB83-60161495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单次完成任务</a:t>
            </a:r>
          </a:p>
        </p:txBody>
      </p:sp>
      <p:sp>
        <p:nvSpPr>
          <p:cNvPr id="15" name="progression-0-body">
            <a:extLst xmlns:a="http://schemas.openxmlformats.org/drawingml/2006/main">
              <a:ext uri="{FF2B5EF4-FFF2-40B4-BE49-F238E27FC236}">
                <a16:creationId xmlns:a16="http://schemas.microsoft.com/office/drawing/2014/main" id="{7104470B-DA8E-4ADE-AB7F-5F2CD7868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提出问题，获得答案</a:t>
            </a:r>
          </a:p>
          <a:p xmlns:a="http://schemas.openxmlformats.org/drawingml/2006/main">
            <a:pPr algn="ctr">
              <a:buNone/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解决当下的任务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3BB19A4E-0171-4711-8006-C07C01FB8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rogression-1">
            <a:extLst xmlns:a="http://schemas.openxmlformats.org/drawingml/2006/main">
              <a:ext uri="{FF2B5EF4-FFF2-40B4-BE49-F238E27FC236}">
                <a16:creationId xmlns:a16="http://schemas.microsoft.com/office/drawing/2014/main" id="{5F0D9CDF-9FBF-4193-A3A0-C3AD6767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rogression-1-title">
            <a:extLst xmlns:a="http://schemas.openxmlformats.org/drawingml/2006/main">
              <a:ext uri="{FF2B5EF4-FFF2-40B4-BE49-F238E27FC236}">
                <a16:creationId xmlns:a16="http://schemas.microsoft.com/office/drawing/2014/main" id="{727D8F5E-89ED-4E24-95D8-A7F83720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使用</a:t>
            </a:r>
          </a:p>
        </p:txBody>
      </p:sp>
      <p:sp>
        <p:nvSpPr>
          <p:cNvPr id="19" name="progression-1-sub">
            <a:extLst xmlns:a="http://schemas.openxmlformats.org/drawingml/2006/main">
              <a:ext uri="{FF2B5EF4-FFF2-40B4-BE49-F238E27FC236}">
                <a16:creationId xmlns:a16="http://schemas.microsoft.com/office/drawing/2014/main" id="{A80BBF76-FBB2-479F-BFCF-C62DAC4B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复用已有能力</a:t>
            </a:r>
          </a:p>
        </p:txBody>
      </p:sp>
      <p:sp>
        <p:nvSpPr>
          <p:cNvPr id="20" name="progression-1-body">
            <a:extLst xmlns:a="http://schemas.openxmlformats.org/drawingml/2006/main">
              <a:ext uri="{FF2B5EF4-FFF2-40B4-BE49-F238E27FC236}">
                <a16:creationId xmlns:a16="http://schemas.microsoft.com/office/drawing/2014/main" id="{486BE501-D74E-4B78-8F0E-877D0BA69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调用已沉淀的流程和资源</a:t>
            </a:r>
          </a:p>
          <a:p xmlns:a="http://schemas.openxmlformats.org/drawingml/2006/main">
            <a:pPr algn="ctr">
              <a:buNone/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按约定方法完成任务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4CFD6626-83A0-40B8-BD29-62A155AF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rogression-2">
            <a:extLst xmlns:a="http://schemas.openxmlformats.org/drawingml/2006/main">
              <a:ext uri="{FF2B5EF4-FFF2-40B4-BE49-F238E27FC236}">
                <a16:creationId xmlns:a16="http://schemas.microsoft.com/office/drawing/2014/main" id="{FDEDCA36-97FB-466C-A55D-591CE466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progression-2-title">
            <a:extLst xmlns:a="http://schemas.openxmlformats.org/drawingml/2006/main">
              <a:ext uri="{FF2B5EF4-FFF2-40B4-BE49-F238E27FC236}">
                <a16:creationId xmlns:a16="http://schemas.microsoft.com/office/drawing/2014/main" id="{5196D38D-3E22-4966-B9ED-434EE5B9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</a:t>
            </a:r>
          </a:p>
        </p:txBody>
      </p:sp>
      <p:sp>
        <p:nvSpPr>
          <p:cNvPr id="24" name="progression-2-sub">
            <a:extLst xmlns:a="http://schemas.openxmlformats.org/drawingml/2006/main">
              <a:ext uri="{FF2B5EF4-FFF2-40B4-BE49-F238E27FC236}">
                <a16:creationId xmlns:a16="http://schemas.microsoft.com/office/drawing/2014/main" id="{9F18E818-E5E6-4CDE-BFB8-A6028BBE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工程化沉淀与持续优化</a:t>
            </a:r>
          </a:p>
        </p:txBody>
      </p:sp>
      <p:sp>
        <p:nvSpPr>
          <p:cNvPr id="25" name="progression-2-body">
            <a:extLst xmlns:a="http://schemas.openxmlformats.org/drawingml/2006/main">
              <a:ext uri="{FF2B5EF4-FFF2-40B4-BE49-F238E27FC236}">
                <a16:creationId xmlns:a16="http://schemas.microsoft.com/office/drawing/2014/main" id="{37774E86-9CD3-4D23-8D14-0F5CB8EA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分清规则、实现与验证</a:t>
            </a:r>
          </a:p>
          <a:p xmlns:a="http://schemas.openxmlformats.org/drawingml/2006/main">
            <a:pPr algn="ctr">
              <a:buNone/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换对话、换数据、换人复用</a:t>
            </a:r>
          </a:p>
        </p:txBody>
      </p:sp>
      <p:sp>
        <p:nvSpPr>
          <p:cNvPr id="2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D6742BF4-B71E-4381-BC05-DC6B3AC3F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7" name="takeaway">
            <a:extLst xmlns:a="http://schemas.openxmlformats.org/drawingml/2006/main">
              <a:ext uri="{FF2B5EF4-FFF2-40B4-BE49-F238E27FC236}">
                <a16:creationId xmlns:a16="http://schemas.microsoft.com/office/drawing/2014/main" id="{93AFC0F8-5D12-44D4-9570-C26B4D4E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更稳定：新 Chat 也能复现。更可靠：关键计算可验证。更高效：团队可复用、可传播。</a:t>
            </a:r>
          </a:p>
        </p:txBody>
      </p:sp>
      <p:sp>
        <p:nvSpPr>
          <p:cNvPr id="28" name="byline">
            <a:extLst xmlns:a="http://schemas.openxmlformats.org/drawingml/2006/main">
              <a:ext uri="{FF2B5EF4-FFF2-40B4-BE49-F238E27FC236}">
                <a16:creationId xmlns:a16="http://schemas.microsoft.com/office/drawing/2014/main" id="{5F7A63E8-1273-4C84-A080-13810863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9" name="page">
            <a:extLst xmlns:a="http://schemas.openxmlformats.org/drawingml/2006/main">
              <a:ext uri="{FF2B5EF4-FFF2-40B4-BE49-F238E27FC236}">
                <a16:creationId xmlns:a16="http://schemas.microsoft.com/office/drawing/2014/main" id="{07D7B6DA-1FA2-4976-AFFE-2C71AE79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04 / 11</a:t>
            </a:r>
          </a:p>
        </p:txBody>
      </p:sp>
    </p:spTree>
    <p:extLst>
      <p:ext uri="{BB962C8B-B14F-4D97-AF65-F5344CB8AC3E}">
        <p14:creationId xmlns:p14="http://schemas.microsoft.com/office/powerpoint/2010/main" val="21244981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3AC548-6490-44EF-99CC-A40535056E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81b246e7324a8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C4485B86-9B82-4711-8F4D-D01B3A2D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3AD0430-2214-4C3A-93AE-47CC0EC12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哪些工作适合做成 Skill？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E9EDE111-BC5E-4801-846E-605963BC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先选一项值得沉淀的工作，确认执行条件、验收方法和长期投入。</a:t>
            </a:r>
          </a:p>
        </p:txBody>
      </p:sp>
      <p:sp>
        <p:nvSpPr>
          <p:cNvPr id="5" name="business-0">
            <a:extLst xmlns:a="http://schemas.openxmlformats.org/drawingml/2006/main">
              <a:ext uri="{FF2B5EF4-FFF2-40B4-BE49-F238E27FC236}">
                <a16:creationId xmlns:a16="http://schemas.microsoft.com/office/drawing/2014/main" id="{580FE062-36E2-4F11-8230-4BB5BEE57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54673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business-0-title">
            <a:extLst xmlns:a="http://schemas.openxmlformats.org/drawingml/2006/main">
              <a:ext uri="{FF2B5EF4-FFF2-40B4-BE49-F238E27FC236}">
                <a16:creationId xmlns:a16="http://schemas.microsoft.com/office/drawing/2014/main" id="{19FD4DFC-E6FE-496D-BCC2-EB75F353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52700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9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1. 哪些工作值得先试？</a:t>
            </a:r>
          </a:p>
        </p:txBody>
      </p:sp>
      <p:sp>
        <p:nvSpPr>
          <p:cNvPr id="7" name="business-0-sub">
            <a:extLst xmlns:a="http://schemas.openxmlformats.org/drawingml/2006/main">
              <a:ext uri="{FF2B5EF4-FFF2-40B4-BE49-F238E27FC236}">
                <a16:creationId xmlns:a16="http://schemas.microsoft.com/office/drawing/2014/main" id="{DAD90F0E-766D-4F4D-8568-8E6AFBB7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81325"/>
            <a:ext cx="5086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重复、方法清楚、结果可核对</a:t>
            </a:r>
          </a:p>
        </p:txBody>
      </p:sp>
      <p:sp>
        <p:nvSpPr>
          <p:cNvPr id="8" name="business-0-body">
            <a:extLst xmlns:a="http://schemas.openxmlformats.org/drawingml/2006/main">
              <a:ext uri="{FF2B5EF4-FFF2-40B4-BE49-F238E27FC236}">
                <a16:creationId xmlns:a16="http://schemas.microsoft.com/office/drawing/2014/main" id="{80140998-195B-45ED-9B6E-0C70685D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00425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周报整理、明细核对、按模板准备材料</a:t>
            </a:r>
          </a:p>
        </p:txBody>
      </p:sp>
      <p:sp>
        <p:nvSpPr>
          <p:cNvPr id="9" name="business-1">
            <a:extLst xmlns:a="http://schemas.openxmlformats.org/drawingml/2006/main">
              <a:ext uri="{FF2B5EF4-FFF2-40B4-BE49-F238E27FC236}">
                <a16:creationId xmlns:a16="http://schemas.microsoft.com/office/drawing/2014/main" id="{91BA8AE5-913A-4C10-9A2A-8D0FD080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81250"/>
            <a:ext cx="54673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0" name="business-1-title">
            <a:extLst xmlns:a="http://schemas.openxmlformats.org/drawingml/2006/main">
              <a:ext uri="{FF2B5EF4-FFF2-40B4-BE49-F238E27FC236}">
                <a16:creationId xmlns:a16="http://schemas.microsoft.com/office/drawing/2014/main" id="{E3639041-4939-496C-91B5-8D7074AB8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52700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9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2. 完成任务需要哪些条件？</a:t>
            </a:r>
          </a:p>
        </p:txBody>
      </p:sp>
      <p:sp>
        <p:nvSpPr>
          <p:cNvPr id="11" name="business-1-sub">
            <a:extLst xmlns:a="http://schemas.openxmlformats.org/drawingml/2006/main">
              <a:ext uri="{FF2B5EF4-FFF2-40B4-BE49-F238E27FC236}">
                <a16:creationId xmlns:a16="http://schemas.microsoft.com/office/drawing/2014/main" id="{4B53C90E-39BD-42EF-B029-ED4E2A50D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81325"/>
            <a:ext cx="5086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资料在哪里，允许操作什么</a:t>
            </a:r>
          </a:p>
        </p:txBody>
      </p:sp>
      <p:sp>
        <p:nvSpPr>
          <p:cNvPr id="12" name="business-1-body">
            <a:extLst xmlns:a="http://schemas.openxmlformats.org/drawingml/2006/main">
              <a:ext uri="{FF2B5EF4-FFF2-40B4-BE49-F238E27FC236}">
                <a16:creationId xmlns:a16="http://schemas.microsoft.com/office/drawing/2014/main" id="{12B7910B-8532-4E13-B009-876AF443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00425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已有文件可直接处理；系统内资料先确认入口</a:t>
            </a:r>
          </a:p>
        </p:txBody>
      </p:sp>
      <p:sp>
        <p:nvSpPr>
          <p:cNvPr id="13" name="business-2">
            <a:extLst xmlns:a="http://schemas.openxmlformats.org/drawingml/2006/main">
              <a:ext uri="{FF2B5EF4-FFF2-40B4-BE49-F238E27FC236}">
                <a16:creationId xmlns:a16="http://schemas.microsoft.com/office/drawing/2014/main" id="{1D4CC441-4C5D-4D28-8EEF-1623D0F0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38600"/>
            <a:ext cx="54673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4" name="business-2-title">
            <a:extLst xmlns:a="http://schemas.openxmlformats.org/drawingml/2006/main">
              <a:ext uri="{FF2B5EF4-FFF2-40B4-BE49-F238E27FC236}">
                <a16:creationId xmlns:a16="http://schemas.microsoft.com/office/drawing/2014/main" id="{92B03DC8-454D-4322-BC3B-B83F746A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9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3. 怎样判断它做对了？</a:t>
            </a:r>
          </a:p>
        </p:txBody>
      </p:sp>
      <p:sp>
        <p:nvSpPr>
          <p:cNvPr id="15" name="business-2-sub">
            <a:extLst xmlns:a="http://schemas.openxmlformats.org/drawingml/2006/main">
              <a:ext uri="{FF2B5EF4-FFF2-40B4-BE49-F238E27FC236}">
                <a16:creationId xmlns:a16="http://schemas.microsoft.com/office/drawing/2014/main" id="{5BC72761-89D8-4464-8488-25AD72B6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38675"/>
            <a:ext cx="5086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明确标准，试正常与异常情况</a:t>
            </a:r>
          </a:p>
        </p:txBody>
      </p:sp>
      <p:sp>
        <p:nvSpPr>
          <p:cNvPr id="16" name="business-2-body">
            <a:extLst xmlns:a="http://schemas.openxmlformats.org/drawingml/2006/main">
              <a:ext uri="{FF2B5EF4-FFF2-40B4-BE49-F238E27FC236}">
                <a16:creationId xmlns:a16="http://schemas.microsoft.com/office/drawing/2014/main" id="{61739750-1FA1-45ED-A2D4-AEF687F1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57775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数字核对明细；分析核对来源；冲突时停止</a:t>
            </a:r>
          </a:p>
        </p:txBody>
      </p:sp>
      <p:sp>
        <p:nvSpPr>
          <p:cNvPr id="17" name="business-3">
            <a:extLst xmlns:a="http://schemas.openxmlformats.org/drawingml/2006/main">
              <a:ext uri="{FF2B5EF4-FFF2-40B4-BE49-F238E27FC236}">
                <a16:creationId xmlns:a16="http://schemas.microsoft.com/office/drawing/2014/main" id="{738BF4B4-3D91-4CDC-87B1-F5BFFB8F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38600"/>
            <a:ext cx="54673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business-3-title">
            <a:extLst xmlns:a="http://schemas.openxmlformats.org/drawingml/2006/main">
              <a:ext uri="{FF2B5EF4-FFF2-40B4-BE49-F238E27FC236}">
                <a16:creationId xmlns:a16="http://schemas.microsoft.com/office/drawing/2014/main" id="{54A48443-3976-42A8-AB6A-1DCFD718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210050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9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4. 长期使用是否划算？</a:t>
            </a:r>
          </a:p>
        </p:txBody>
      </p:sp>
      <p:sp>
        <p:nvSpPr>
          <p:cNvPr id="19" name="business-3-sub">
            <a:extLst xmlns:a="http://schemas.openxmlformats.org/drawingml/2006/main">
              <a:ext uri="{FF2B5EF4-FFF2-40B4-BE49-F238E27FC236}">
                <a16:creationId xmlns:a16="http://schemas.microsoft.com/office/drawing/2014/main" id="{7A2B797B-1A78-43F6-9AED-A74B525C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638675"/>
            <a:ext cx="5086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把运行、复核、修错和维护一起算</a:t>
            </a:r>
          </a:p>
        </p:txBody>
      </p:sp>
      <p:sp>
        <p:nvSpPr>
          <p:cNvPr id="20" name="business-3-body">
            <a:extLst xmlns:a="http://schemas.openxmlformats.org/drawingml/2006/main">
              <a:ext uri="{FF2B5EF4-FFF2-40B4-BE49-F238E27FC236}">
                <a16:creationId xmlns:a16="http://schemas.microsoft.com/office/drawing/2014/main" id="{51765131-7315-4E08-9DF2-D5614F254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057775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节省多久、还需核对多久、失败和费用多少</a:t>
            </a:r>
          </a:p>
        </p:txBody>
      </p:sp>
      <p:sp>
        <p:nvSpPr>
          <p:cNvPr id="21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4011F7E9-2A85-44C0-A170-E3D1EA7D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2" name="takeaway">
            <a:extLst xmlns:a="http://schemas.openxmlformats.org/drawingml/2006/main">
              <a:ext uri="{FF2B5EF4-FFF2-40B4-BE49-F238E27FC236}">
                <a16:creationId xmlns:a16="http://schemas.microsoft.com/office/drawing/2014/main" id="{84D1AB5F-320E-4F52-A1A0-C44E9811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先小范围试用，确认结果和操作范围，再判断是否值得长期复用。</a:t>
            </a:r>
          </a:p>
        </p:txBody>
      </p:sp>
      <p:sp>
        <p:nvSpPr>
          <p:cNvPr id="23" name="byline">
            <a:extLst xmlns:a="http://schemas.openxmlformats.org/drawingml/2006/main">
              <a:ext uri="{FF2B5EF4-FFF2-40B4-BE49-F238E27FC236}">
                <a16:creationId xmlns:a16="http://schemas.microsoft.com/office/drawing/2014/main" id="{44DA4CDD-9F63-465A-9C05-DFA0F36E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4" name="page">
            <a:extLst xmlns:a="http://schemas.openxmlformats.org/drawingml/2006/main">
              <a:ext uri="{FF2B5EF4-FFF2-40B4-BE49-F238E27FC236}">
                <a16:creationId xmlns:a16="http://schemas.microsoft.com/office/drawing/2014/main" id="{B55DE515-8D0F-46F2-B7F6-A462BC50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05 / 11</a:t>
            </a:r>
          </a:p>
        </p:txBody>
      </p:sp>
    </p:spTree>
    <p:extLst>
      <p:ext uri="{BB962C8B-B14F-4D97-AF65-F5344CB8AC3E}">
        <p14:creationId xmlns:p14="http://schemas.microsoft.com/office/powerpoint/2010/main" val="2085168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5D959EB-DC67-45DF-BD16-F00C108652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c39cf4bf7442d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573A8F9D-30AF-43E2-89D6-0A49DC585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F49A82-7417-4253-98B6-4E062498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一个数据处理 Skill 的两个部分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2EE935A1-7434-44B3-B5BE-ADA7B4BAF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Workflow 安排任务怎样推进，Data Processing 完成数据的解析、转换与计算。</a:t>
            </a:r>
          </a:p>
        </p:txBody>
      </p:sp>
      <p:sp>
        <p:nvSpPr>
          <p:cNvPr id="5" name="workflow-label-band">
            <a:extLst xmlns:a="http://schemas.openxmlformats.org/drawingml/2006/main">
              <a:ext uri="{FF2B5EF4-FFF2-40B4-BE49-F238E27FC236}">
                <a16:creationId xmlns:a16="http://schemas.microsoft.com/office/drawing/2014/main" id="{4B635BAF-4C40-44D7-941D-0820C280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33625"/>
            <a:ext cx="112776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workflow-label">
            <a:extLst xmlns:a="http://schemas.openxmlformats.org/drawingml/2006/main">
              <a:ext uri="{FF2B5EF4-FFF2-40B4-BE49-F238E27FC236}">
                <a16:creationId xmlns:a16="http://schemas.microsoft.com/office/drawing/2014/main" id="{5038C8EC-037D-4E6C-A0C8-4B5C4DBF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09825"/>
            <a:ext cx="1093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Workflow：任务怎样推进</a:t>
            </a:r>
          </a:p>
        </p:txBody>
      </p:sp>
      <p:sp>
        <p:nvSpPr>
          <p:cNvPr id="7" name="step-0">
            <a:extLst xmlns:a="http://schemas.openxmlformats.org/drawingml/2006/main">
              <a:ext uri="{FF2B5EF4-FFF2-40B4-BE49-F238E27FC236}">
                <a16:creationId xmlns:a16="http://schemas.microsoft.com/office/drawing/2014/main" id="{1BD28A3B-D2CC-43AF-9BCA-F7BE294A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8" name="step-0-number">
            <a:extLst xmlns:a="http://schemas.openxmlformats.org/drawingml/2006/main">
              <a:ext uri="{FF2B5EF4-FFF2-40B4-BE49-F238E27FC236}">
                <a16:creationId xmlns:a16="http://schemas.microsoft.com/office/drawing/2014/main" id="{6E6CF034-8D14-4E81-B3D6-EB6EA3F0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step-0-title">
            <a:extLst xmlns:a="http://schemas.openxmlformats.org/drawingml/2006/main">
              <a:ext uri="{FF2B5EF4-FFF2-40B4-BE49-F238E27FC236}">
                <a16:creationId xmlns:a16="http://schemas.microsoft.com/office/drawing/2014/main" id="{A36CA2B9-85D2-4A3F-80A5-470C45E5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理解任务</a:t>
            </a:r>
          </a:p>
        </p:txBody>
      </p:sp>
      <p:sp>
        <p:nvSpPr>
          <p:cNvPr id="10" name="step-0-body">
            <a:extLst xmlns:a="http://schemas.openxmlformats.org/drawingml/2006/main">
              <a:ext uri="{FF2B5EF4-FFF2-40B4-BE49-F238E27FC236}">
                <a16:creationId xmlns:a16="http://schemas.microsoft.com/office/drawing/2014/main" id="{87379247-4CDF-476C-ABF7-EABA0F06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确认目标与业务规则</a:t>
            </a:r>
          </a:p>
        </p:txBody>
      </p:sp>
      <p:sp>
        <p:nvSpPr>
          <p:cNvPr id="11" name="flow-arrow">
            <a:extLst xmlns:a="http://schemas.openxmlformats.org/drawingml/2006/main">
              <a:ext uri="{FF2B5EF4-FFF2-40B4-BE49-F238E27FC236}">
                <a16:creationId xmlns:a16="http://schemas.microsoft.com/office/drawing/2014/main" id="{9E237A7A-CFA0-432D-A4E0-3F16CB59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5A7BB20F-3B62-4AFE-9303-B0E466B6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tep-1-number">
            <a:extLst xmlns:a="http://schemas.openxmlformats.org/drawingml/2006/main">
              <a:ext uri="{FF2B5EF4-FFF2-40B4-BE49-F238E27FC236}">
                <a16:creationId xmlns:a16="http://schemas.microsoft.com/office/drawing/2014/main" id="{821EE894-6D67-4CC8-B07C-77401FE2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4" name="step-1-title">
            <a:extLst xmlns:a="http://schemas.openxmlformats.org/drawingml/2006/main">
              <a:ext uri="{FF2B5EF4-FFF2-40B4-BE49-F238E27FC236}">
                <a16:creationId xmlns:a16="http://schemas.microsoft.com/office/drawing/2014/main" id="{329D425A-F5D2-44EF-B482-404DB56E8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检查输入</a:t>
            </a:r>
          </a:p>
        </p:txBody>
      </p:sp>
      <p:sp>
        <p:nvSpPr>
          <p:cNvPr id="15" name="step-1-body">
            <a:extLst xmlns:a="http://schemas.openxmlformats.org/drawingml/2006/main">
              <a:ext uri="{FF2B5EF4-FFF2-40B4-BE49-F238E27FC236}">
                <a16:creationId xmlns:a16="http://schemas.microsoft.com/office/drawing/2014/main" id="{3B1A7D30-1AB1-40D0-9C0C-AB36291C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核对字段、类型、日期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979F6278-A7E7-41C2-8942-7A0D4FB3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tep-2">
            <a:extLst xmlns:a="http://schemas.openxmlformats.org/drawingml/2006/main">
              <a:ext uri="{FF2B5EF4-FFF2-40B4-BE49-F238E27FC236}">
                <a16:creationId xmlns:a16="http://schemas.microsoft.com/office/drawing/2014/main" id="{57E4803C-0203-4349-BD78-3CFA904D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step-2-number">
            <a:extLst xmlns:a="http://schemas.openxmlformats.org/drawingml/2006/main">
              <a:ext uri="{FF2B5EF4-FFF2-40B4-BE49-F238E27FC236}">
                <a16:creationId xmlns:a16="http://schemas.microsoft.com/office/drawing/2014/main" id="{97FA4C5A-7F88-4C80-AC09-7167AD250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9" name="step-2-title">
            <a:extLst xmlns:a="http://schemas.openxmlformats.org/drawingml/2006/main">
              <a:ext uri="{FF2B5EF4-FFF2-40B4-BE49-F238E27FC236}">
                <a16:creationId xmlns:a16="http://schemas.microsoft.com/office/drawing/2014/main" id="{5D79BF46-BBB8-4558-B5EB-C8F1D2AA2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执行处理</a:t>
            </a:r>
          </a:p>
        </p:txBody>
      </p:sp>
      <p:sp>
        <p:nvSpPr>
          <p:cNvPr id="20" name="step-2-body">
            <a:extLst xmlns:a="http://schemas.openxmlformats.org/drawingml/2006/main">
              <a:ext uri="{FF2B5EF4-FFF2-40B4-BE49-F238E27FC236}">
                <a16:creationId xmlns:a16="http://schemas.microsoft.com/office/drawing/2014/main" id="{BE692C16-3300-4EBC-8C6A-FCA89F8A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筛选、关联、去重、汇总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294C87CA-4873-434C-A345-E9B4943B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ep-3">
            <a:extLst xmlns:a="http://schemas.openxmlformats.org/drawingml/2006/main">
              <a:ext uri="{FF2B5EF4-FFF2-40B4-BE49-F238E27FC236}">
                <a16:creationId xmlns:a16="http://schemas.microsoft.com/office/drawing/2014/main" id="{C3BC6E8A-83F1-4D24-BA34-809E54F0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step-3-number">
            <a:extLst xmlns:a="http://schemas.openxmlformats.org/drawingml/2006/main">
              <a:ext uri="{FF2B5EF4-FFF2-40B4-BE49-F238E27FC236}">
                <a16:creationId xmlns:a16="http://schemas.microsoft.com/office/drawing/2014/main" id="{B7789E2A-A65D-4C14-935F-894D4DEC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4" name="step-3-title">
            <a:extLst xmlns:a="http://schemas.openxmlformats.org/drawingml/2006/main">
              <a:ext uri="{FF2B5EF4-FFF2-40B4-BE49-F238E27FC236}">
                <a16:creationId xmlns:a16="http://schemas.microsoft.com/office/drawing/2014/main" id="{48A7C30B-8818-4ACA-8717-BB42B4C2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验证结果</a:t>
            </a:r>
          </a:p>
        </p:txBody>
      </p:sp>
      <p:sp>
        <p:nvSpPr>
          <p:cNvPr id="25" name="step-3-body">
            <a:extLst xmlns:a="http://schemas.openxmlformats.org/drawingml/2006/main">
              <a:ext uri="{FF2B5EF4-FFF2-40B4-BE49-F238E27FC236}">
                <a16:creationId xmlns:a16="http://schemas.microsoft.com/office/drawing/2014/main" id="{FFDA4459-4F80-4906-8A71-61F57190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每次核对，失败停止</a:t>
            </a:r>
          </a:p>
        </p:txBody>
      </p:sp>
      <p:sp>
        <p:nvSpPr>
          <p:cNvPr id="26" name="flow-arrow">
            <a:extLst xmlns:a="http://schemas.openxmlformats.org/drawingml/2006/main">
              <a:ext uri="{FF2B5EF4-FFF2-40B4-BE49-F238E27FC236}">
                <a16:creationId xmlns:a16="http://schemas.microsoft.com/office/drawing/2014/main" id="{9B7F8B33-19EF-491B-9C0D-CD7959E0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tep-4">
            <a:extLst xmlns:a="http://schemas.openxmlformats.org/drawingml/2006/main">
              <a:ext uri="{FF2B5EF4-FFF2-40B4-BE49-F238E27FC236}">
                <a16:creationId xmlns:a16="http://schemas.microsoft.com/office/drawing/2014/main" id="{181E4BE7-8E1E-45D4-B668-3FD0B8F35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8" name="step-4-number">
            <a:extLst xmlns:a="http://schemas.openxmlformats.org/drawingml/2006/main">
              <a:ext uri="{FF2B5EF4-FFF2-40B4-BE49-F238E27FC236}">
                <a16:creationId xmlns:a16="http://schemas.microsoft.com/office/drawing/2014/main" id="{A97F7DA6-3608-44C7-BC35-87306A568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05</a:t>
            </a:r>
          </a:p>
        </p:txBody>
      </p:sp>
      <p:sp>
        <p:nvSpPr>
          <p:cNvPr id="29" name="step-4-title">
            <a:extLst xmlns:a="http://schemas.openxmlformats.org/drawingml/2006/main">
              <a:ext uri="{FF2B5EF4-FFF2-40B4-BE49-F238E27FC236}">
                <a16:creationId xmlns:a16="http://schemas.microsoft.com/office/drawing/2014/main" id="{27E03FBD-7CFD-467E-AB64-6E2CA70E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分析交付</a:t>
            </a:r>
          </a:p>
        </p:txBody>
      </p:sp>
      <p:sp>
        <p:nvSpPr>
          <p:cNvPr id="30" name="step-4-body">
            <a:extLst xmlns:a="http://schemas.openxmlformats.org/drawingml/2006/main">
              <a:ext uri="{FF2B5EF4-FFF2-40B4-BE49-F238E27FC236}">
                <a16:creationId xmlns:a16="http://schemas.microsoft.com/office/drawing/2014/main" id="{D641D60F-3611-455A-AD55-0492F58D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解释结果并交付报表</a:t>
            </a:r>
          </a:p>
        </p:txBody>
      </p:sp>
      <p:sp>
        <p:nvSpPr>
          <p:cNvPr id="31" name="workflow-part-0">
            <a:extLst xmlns:a="http://schemas.openxmlformats.org/drawingml/2006/main">
              <a:ext uri="{FF2B5EF4-FFF2-40B4-BE49-F238E27FC236}">
                <a16:creationId xmlns:a16="http://schemas.microsoft.com/office/drawing/2014/main" id="{0E5B64CE-CBF7-459E-9C9C-8A75376BF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2" name="workflow-part-0-label">
            <a:extLst xmlns:a="http://schemas.openxmlformats.org/drawingml/2006/main">
              <a:ext uri="{FF2B5EF4-FFF2-40B4-BE49-F238E27FC236}">
                <a16:creationId xmlns:a16="http://schemas.microsoft.com/office/drawing/2014/main" id="{6C3847D9-D0D5-4102-B231-35C75DAF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Workflow（工作流）</a:t>
            </a:r>
          </a:p>
        </p:txBody>
      </p:sp>
      <p:sp>
        <p:nvSpPr>
          <p:cNvPr id="33" name="workflow-part-0-body">
            <a:extLst xmlns:a="http://schemas.openxmlformats.org/drawingml/2006/main">
              <a:ext uri="{FF2B5EF4-FFF2-40B4-BE49-F238E27FC236}">
                <a16:creationId xmlns:a16="http://schemas.microsoft.com/office/drawing/2014/main" id="{2813DE6A-F3E9-4E62-AE42-F32E3CDD8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决定步骤顺序、如何处理歧义、何时继续、何时停止。</a:t>
            </a:r>
          </a:p>
        </p:txBody>
      </p:sp>
      <p:sp>
        <p:nvSpPr>
          <p:cNvPr id="34" name="workflow-part-1">
            <a:extLst xmlns:a="http://schemas.openxmlformats.org/drawingml/2006/main">
              <a:ext uri="{FF2B5EF4-FFF2-40B4-BE49-F238E27FC236}">
                <a16:creationId xmlns:a16="http://schemas.microsoft.com/office/drawing/2014/main" id="{DD52B46E-CC30-4DAE-8886-3D2CB9A3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5" name="workflow-part-1-label">
            <a:extLst xmlns:a="http://schemas.openxmlformats.org/drawingml/2006/main">
              <a:ext uri="{FF2B5EF4-FFF2-40B4-BE49-F238E27FC236}">
                <a16:creationId xmlns:a16="http://schemas.microsoft.com/office/drawing/2014/main" id="{0DDEB665-3121-49FE-A9A9-B66718BC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Data Processing（数据处理）</a:t>
            </a:r>
          </a:p>
        </p:txBody>
      </p:sp>
      <p:sp>
        <p:nvSpPr>
          <p:cNvPr id="36" name="workflow-part-1-body">
            <a:extLst xmlns:a="http://schemas.openxmlformats.org/drawingml/2006/main">
              <a:ext uri="{FF2B5EF4-FFF2-40B4-BE49-F238E27FC236}">
                <a16:creationId xmlns:a16="http://schemas.microsoft.com/office/drawing/2014/main" id="{6D83B18B-A2B2-4192-A6BE-51F968591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按确认的规则完成运算，并返回结果、异常与校验信息。</a:t>
            </a:r>
          </a:p>
        </p:txBody>
      </p:sp>
      <p:sp>
        <p:nvSpPr>
          <p:cNvPr id="3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1AB007F5-0C5C-4C72-848A-55941768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8" name="takeaway">
            <a:extLst xmlns:a="http://schemas.openxmlformats.org/drawingml/2006/main">
              <a:ext uri="{FF2B5EF4-FFF2-40B4-BE49-F238E27FC236}">
                <a16:creationId xmlns:a16="http://schemas.microsoft.com/office/drawing/2014/main" id="{692232E3-1964-4A24-893E-C000C8B9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Workflow 安排执行与停止；每次运行通过结果校验后，再分析交付。</a:t>
            </a:r>
          </a:p>
        </p:txBody>
      </p:sp>
      <p:sp>
        <p:nvSpPr>
          <p:cNvPr id="39" name="byline">
            <a:extLst xmlns:a="http://schemas.openxmlformats.org/drawingml/2006/main">
              <a:ext uri="{FF2B5EF4-FFF2-40B4-BE49-F238E27FC236}">
                <a16:creationId xmlns:a16="http://schemas.microsoft.com/office/drawing/2014/main" id="{B1CBF9FF-1A68-4577-8230-4C326791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40" name="page">
            <a:extLst xmlns:a="http://schemas.openxmlformats.org/drawingml/2006/main">
              <a:ext uri="{FF2B5EF4-FFF2-40B4-BE49-F238E27FC236}">
                <a16:creationId xmlns:a16="http://schemas.microsoft.com/office/drawing/2014/main" id="{E2BE8641-AD93-4C3B-9589-ABD091076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06 / 11</a:t>
            </a:r>
          </a:p>
        </p:txBody>
      </p:sp>
    </p:spTree>
    <p:extLst>
      <p:ext uri="{BB962C8B-B14F-4D97-AF65-F5344CB8AC3E}">
        <p14:creationId xmlns:p14="http://schemas.microsoft.com/office/powerpoint/2010/main" val="21267658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30251F-3BD8-45FC-A822-5C0B0BFAC6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31aff3d1994a4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EE520D52-6C5A-461C-99FC-048D14BB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3CC2BF-57E5-48F0-A706-9089ECDE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AI 推理 vs 确定性执行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8B3DB970-07B2-4FD5-86DF-21356D29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在工作流与数据处理两个层次上，分别确定 AI 和固定代码的职责。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1F9F82-5678-452F-BDC6-5900CA9737EA}"/>
              </a:ext>
            </a:extLst>
          </p:cNvPr>
          <p:cNvGraphicFramePr/>
          <p:nvPr/>
        </p:nvGraphicFramePr>
        <p:xfrm>
          <a:off xmlns:a="http://schemas.openxmlformats.org/drawingml/2006/main" x="457200" y="2381250"/>
          <a:ext xmlns:a="http://schemas.openxmlformats.org/drawingml/2006/main" cx="11277600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305300"/>
                <a:gridCol w="4305300"/>
              </a:tblGrid>
              <a:tr h="49530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工作层次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AI 推理负责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确定性实现负责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Workflow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工作流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识别任务意图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判断异常原因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选择处理策略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固定步骤顺序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状态检查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必经校验、停止条件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Data Processing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数据处理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理解字段含义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识别非标准格式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解释异常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筛选、关联、去重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汇总、金额计算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格式验证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BB9BDE87-1503-4A4E-8B73-8AD1540C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ABF5854B-180E-471E-9582-5573D176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让 Agent 处理不确定性，让代码处理确定性，让验证机制决定结果是否可信。</a:t>
            </a:r>
          </a:p>
        </p:txBody>
      </p:sp>
      <p:sp>
        <p:nvSpPr>
          <p:cNvPr id="8" name="byline">
            <a:extLst xmlns:a="http://schemas.openxmlformats.org/drawingml/2006/main">
              <a:ext uri="{FF2B5EF4-FFF2-40B4-BE49-F238E27FC236}">
                <a16:creationId xmlns:a16="http://schemas.microsoft.com/office/drawing/2014/main" id="{1D463877-A069-4478-A708-CEF02DEE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9" name="page">
            <a:extLst xmlns:a="http://schemas.openxmlformats.org/drawingml/2006/main">
              <a:ext uri="{FF2B5EF4-FFF2-40B4-BE49-F238E27FC236}">
                <a16:creationId xmlns:a16="http://schemas.microsoft.com/office/drawing/2014/main" id="{31666040-2FF6-4293-A17A-2C5845C6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07 / 11</a:t>
            </a:r>
          </a:p>
        </p:txBody>
      </p:sp>
    </p:spTree>
    <p:extLst>
      <p:ext uri="{BB962C8B-B14F-4D97-AF65-F5344CB8AC3E}">
        <p14:creationId xmlns:p14="http://schemas.microsoft.com/office/powerpoint/2010/main" val="16972946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8D08C05-093E-43D6-B71C-4A3496EAF0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fb9e016ec4474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38FD7763-0A6D-435C-8776-93A87658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FADCE7-10D9-45D8-B00E-15C72F27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一个好的 Skill 长什么样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AA09642D-E80A-47A8-A9A9-1B5989477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参考工单 Skill：入口、规则、实现、测试和评估场景各有用途。</a:t>
            </a:r>
          </a:p>
        </p:txBody>
      </p:sp>
      <p:sp>
        <p:nvSpPr>
          <p:cNvPr id="5" name="skill-root">
            <a:extLst xmlns:a="http://schemas.openxmlformats.org/drawingml/2006/main">
              <a:ext uri="{FF2B5EF4-FFF2-40B4-BE49-F238E27FC236}">
                <a16:creationId xmlns:a16="http://schemas.microsoft.com/office/drawing/2014/main" id="{FC3F29D1-634D-4A96-99A8-8FD2330EA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14575"/>
            <a:ext cx="4638675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3F2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skill-root-label">
            <a:extLst xmlns:a="http://schemas.openxmlformats.org/drawingml/2006/main">
              <a:ext uri="{FF2B5EF4-FFF2-40B4-BE49-F238E27FC236}">
                <a16:creationId xmlns:a16="http://schemas.microsoft.com/office/drawing/2014/main" id="{F8B73B5B-685C-4710-B8BA-043C5E79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90775"/>
            <a:ext cx="43719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ticket-daily-report/</a:t>
            </a:r>
          </a:p>
        </p:txBody>
      </p:sp>
      <p:sp>
        <p:nvSpPr>
          <p:cNvPr id="7" name="root-stem">
            <a:extLst xmlns:a="http://schemas.openxmlformats.org/drawingml/2006/main">
              <a:ext uri="{FF2B5EF4-FFF2-40B4-BE49-F238E27FC236}">
                <a16:creationId xmlns:a16="http://schemas.microsoft.com/office/drawing/2014/main" id="{2F8212D2-9229-45F2-B93A-4972BB0E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790825"/>
            <a:ext cx="285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directory-branch">
            <a:extLst xmlns:a="http://schemas.openxmlformats.org/drawingml/2006/main">
              <a:ext uri="{FF2B5EF4-FFF2-40B4-BE49-F238E27FC236}">
                <a16:creationId xmlns:a16="http://schemas.microsoft.com/office/drawing/2014/main" id="{C6A21DD1-5459-47A2-A60B-F4B1E2A9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" y="2990850"/>
            <a:ext cx="920496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irectory-stem-0">
            <a:extLst xmlns:a="http://schemas.openxmlformats.org/drawingml/2006/main">
              <a:ext uri="{FF2B5EF4-FFF2-40B4-BE49-F238E27FC236}">
                <a16:creationId xmlns:a16="http://schemas.microsoft.com/office/drawing/2014/main" id="{44E11DD9-D822-465A-84AA-D3F7A855B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directory-stem-1">
            <a:extLst xmlns:a="http://schemas.openxmlformats.org/drawingml/2006/main">
              <a:ext uri="{FF2B5EF4-FFF2-40B4-BE49-F238E27FC236}">
                <a16:creationId xmlns:a16="http://schemas.microsoft.com/office/drawing/2014/main" id="{44E84FC6-4851-498C-8B2E-CEBE0A73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irectory-stem-2">
            <a:extLst xmlns:a="http://schemas.openxmlformats.org/drawingml/2006/main">
              <a:ext uri="{FF2B5EF4-FFF2-40B4-BE49-F238E27FC236}">
                <a16:creationId xmlns:a16="http://schemas.microsoft.com/office/drawing/2014/main" id="{47AF6C86-C6DE-43D7-B25C-529EFD9F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directory-stem-3">
            <a:extLst xmlns:a="http://schemas.openxmlformats.org/drawingml/2006/main">
              <a:ext uri="{FF2B5EF4-FFF2-40B4-BE49-F238E27FC236}">
                <a16:creationId xmlns:a16="http://schemas.microsoft.com/office/drawing/2014/main" id="{ECB67A01-E7DF-44BD-848B-B341677E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724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irectory-stem-4">
            <a:extLst xmlns:a="http://schemas.openxmlformats.org/drawingml/2006/main">
              <a:ext uri="{FF2B5EF4-FFF2-40B4-BE49-F238E27FC236}">
                <a16:creationId xmlns:a16="http://schemas.microsoft.com/office/drawing/2014/main" id="{8C418FB7-EB36-4EDC-8082-5A4C90E4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directory-0">
            <a:extLst xmlns:a="http://schemas.openxmlformats.org/drawingml/2006/main">
              <a:ext uri="{FF2B5EF4-FFF2-40B4-BE49-F238E27FC236}">
                <a16:creationId xmlns:a16="http://schemas.microsoft.com/office/drawing/2014/main" id="{E7029A74-FB9C-4A98-84E3-DC19AC2AE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5" name="directory-0-label">
            <a:extLst xmlns:a="http://schemas.openxmlformats.org/drawingml/2006/main">
              <a:ext uri="{FF2B5EF4-FFF2-40B4-BE49-F238E27FC236}">
                <a16:creationId xmlns:a16="http://schemas.microsoft.com/office/drawing/2014/main" id="{9167965A-CE90-427B-B66C-4E64C14A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SKILL.md</a:t>
            </a:r>
          </a:p>
        </p:txBody>
      </p:sp>
      <p:sp>
        <p:nvSpPr>
          <p:cNvPr id="16" name="directory-0-sub">
            <a:extLst xmlns:a="http://schemas.openxmlformats.org/drawingml/2006/main">
              <a:ext uri="{FF2B5EF4-FFF2-40B4-BE49-F238E27FC236}">
                <a16:creationId xmlns:a16="http://schemas.microsoft.com/office/drawing/2014/main" id="{C0DB07EC-F2D7-4525-A601-0C7ABAE4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执行入口与行为契约</a:t>
            </a:r>
          </a:p>
        </p:txBody>
      </p:sp>
      <p:sp>
        <p:nvSpPr>
          <p:cNvPr id="17" name="directory-0-body">
            <a:extLst xmlns:a="http://schemas.openxmlformats.org/drawingml/2006/main">
              <a:ext uri="{FF2B5EF4-FFF2-40B4-BE49-F238E27FC236}">
                <a16:creationId xmlns:a16="http://schemas.microsoft.com/office/drawing/2014/main" id="{C2A573D3-DF34-4236-8090-F58FFF08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使用条件与输入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执行路径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完成与停止条件</a:t>
            </a:r>
          </a:p>
        </p:txBody>
      </p:sp>
      <p:sp>
        <p:nvSpPr>
          <p:cNvPr id="18" name="directory-1">
            <a:extLst xmlns:a="http://schemas.openxmlformats.org/drawingml/2006/main">
              <a:ext uri="{FF2B5EF4-FFF2-40B4-BE49-F238E27FC236}">
                <a16:creationId xmlns:a16="http://schemas.microsoft.com/office/drawing/2014/main" id="{F6623CE6-2B98-48BA-A787-12748EC5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844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9" name="directory-1-label">
            <a:extLst xmlns:a="http://schemas.openxmlformats.org/drawingml/2006/main">
              <a:ext uri="{FF2B5EF4-FFF2-40B4-BE49-F238E27FC236}">
                <a16:creationId xmlns:a16="http://schemas.microsoft.com/office/drawing/2014/main" id="{349DDCAE-02BB-40FE-9349-6D076767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84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references/</a:t>
            </a:r>
          </a:p>
        </p:txBody>
      </p:sp>
      <p:sp>
        <p:nvSpPr>
          <p:cNvPr id="20" name="directory-1-sub">
            <a:extLst xmlns:a="http://schemas.openxmlformats.org/drawingml/2006/main">
              <a:ext uri="{FF2B5EF4-FFF2-40B4-BE49-F238E27FC236}">
                <a16:creationId xmlns:a16="http://schemas.microsoft.com/office/drawing/2014/main" id="{DF654188-BA57-420C-A240-58C31834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84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业务规则与数据契约</a:t>
            </a:r>
          </a:p>
        </p:txBody>
      </p:sp>
      <p:sp>
        <p:nvSpPr>
          <p:cNvPr id="21" name="directory-1-body">
            <a:extLst xmlns:a="http://schemas.openxmlformats.org/drawingml/2006/main">
              <a:ext uri="{FF2B5EF4-FFF2-40B4-BE49-F238E27FC236}">
                <a16:creationId xmlns:a16="http://schemas.microsoft.com/office/drawing/2014/main" id="{E1FCDDA8-E781-40C3-AB66-21A65888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84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data-contract.md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business-rules.md</a:t>
            </a:r>
          </a:p>
        </p:txBody>
      </p:sp>
      <p:sp>
        <p:nvSpPr>
          <p:cNvPr id="22" name="directory-2">
            <a:extLst xmlns:a="http://schemas.openxmlformats.org/drawingml/2006/main">
              <a:ext uri="{FF2B5EF4-FFF2-40B4-BE49-F238E27FC236}">
                <a16:creationId xmlns:a16="http://schemas.microsoft.com/office/drawing/2014/main" id="{6F7F587A-CD44-4BBD-8D1E-DFD33358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968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directory-2-label">
            <a:extLst xmlns:a="http://schemas.openxmlformats.org/drawingml/2006/main">
              <a:ext uri="{FF2B5EF4-FFF2-40B4-BE49-F238E27FC236}">
                <a16:creationId xmlns:a16="http://schemas.microsoft.com/office/drawing/2014/main" id="{C03F9F62-67B9-4484-AF66-7985959C5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scripts/</a:t>
            </a:r>
          </a:p>
        </p:txBody>
      </p:sp>
      <p:sp>
        <p:nvSpPr>
          <p:cNvPr id="24" name="directory-2-sub">
            <a:extLst xmlns:a="http://schemas.openxmlformats.org/drawingml/2006/main">
              <a:ext uri="{FF2B5EF4-FFF2-40B4-BE49-F238E27FC236}">
                <a16:creationId xmlns:a16="http://schemas.microsoft.com/office/drawing/2014/main" id="{01C5F6CF-4E70-419E-8531-F554B068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确定性实现</a:t>
            </a:r>
          </a:p>
        </p:txBody>
      </p:sp>
      <p:sp>
        <p:nvSpPr>
          <p:cNvPr id="25" name="directory-2-body">
            <a:extLst xmlns:a="http://schemas.openxmlformats.org/drawingml/2006/main">
              <a:ext uri="{FF2B5EF4-FFF2-40B4-BE49-F238E27FC236}">
                <a16:creationId xmlns:a16="http://schemas.microsoft.com/office/drawing/2014/main" id="{BA4E6D81-C54D-41B5-A6A3-DE1F5B1E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pipeline.py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检查、计算、校验</a:t>
            </a:r>
          </a:p>
        </p:txBody>
      </p:sp>
      <p:sp>
        <p:nvSpPr>
          <p:cNvPr id="26" name="directory-3">
            <a:extLst xmlns:a="http://schemas.openxmlformats.org/drawingml/2006/main">
              <a:ext uri="{FF2B5EF4-FFF2-40B4-BE49-F238E27FC236}">
                <a16:creationId xmlns:a16="http://schemas.microsoft.com/office/drawing/2014/main" id="{95B93D78-5C40-4174-B23D-459FB8F7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7" name="directory-3-label">
            <a:extLst xmlns:a="http://schemas.openxmlformats.org/drawingml/2006/main">
              <a:ext uri="{FF2B5EF4-FFF2-40B4-BE49-F238E27FC236}">
                <a16:creationId xmlns:a16="http://schemas.microsoft.com/office/drawing/2014/main" id="{3C43E56F-04F1-4CB6-9DB8-82F65D2C7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32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tests/</a:t>
            </a:r>
          </a:p>
        </p:txBody>
      </p:sp>
      <p:sp>
        <p:nvSpPr>
          <p:cNvPr id="28" name="directory-3-sub">
            <a:extLst xmlns:a="http://schemas.openxmlformats.org/drawingml/2006/main">
              <a:ext uri="{FF2B5EF4-FFF2-40B4-BE49-F238E27FC236}">
                <a16:creationId xmlns:a16="http://schemas.microsoft.com/office/drawing/2014/main" id="{A3E51DE7-26A3-4795-B594-D265FBD4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32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程序测试与共用样例</a:t>
            </a:r>
          </a:p>
        </p:txBody>
      </p:sp>
      <p:sp>
        <p:nvSpPr>
          <p:cNvPr id="29" name="directory-3-body">
            <a:extLst xmlns:a="http://schemas.openxmlformats.org/drawingml/2006/main">
              <a:ext uri="{FF2B5EF4-FFF2-40B4-BE49-F238E27FC236}">
                <a16:creationId xmlns:a16="http://schemas.microsoft.com/office/drawing/2014/main" id="{DD7A9D47-EAE1-4CFF-B3FB-D0093174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32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fixtures/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expected/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check-regression.py</a:t>
            </a:r>
          </a:p>
        </p:txBody>
      </p:sp>
      <p:sp>
        <p:nvSpPr>
          <p:cNvPr id="30" name="directory-4">
            <a:extLst xmlns:a="http://schemas.openxmlformats.org/drawingml/2006/main">
              <a:ext uri="{FF2B5EF4-FFF2-40B4-BE49-F238E27FC236}">
                <a16:creationId xmlns:a16="http://schemas.microsoft.com/office/drawing/2014/main" id="{CDCB7F08-CA4D-4A3E-96BE-29330749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216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1" name="directory-4-label">
            <a:extLst xmlns:a="http://schemas.openxmlformats.org/drawingml/2006/main">
              <a:ext uri="{FF2B5EF4-FFF2-40B4-BE49-F238E27FC236}">
                <a16:creationId xmlns:a16="http://schemas.microsoft.com/office/drawing/2014/main" id="{79C18FF7-CD83-430A-BB05-BF39CFF35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evals/</a:t>
            </a:r>
          </a:p>
        </p:txBody>
      </p:sp>
      <p:sp>
        <p:nvSpPr>
          <p:cNvPr id="32" name="directory-4-sub">
            <a:extLst xmlns:a="http://schemas.openxmlformats.org/drawingml/2006/main">
              <a:ext uri="{FF2B5EF4-FFF2-40B4-BE49-F238E27FC236}">
                <a16:creationId xmlns:a16="http://schemas.microsoft.com/office/drawing/2014/main" id="{B578AEF4-9814-41FC-8C67-A3223A6E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AI 任务与核对标准</a:t>
            </a:r>
          </a:p>
        </p:txBody>
      </p:sp>
      <p:sp>
        <p:nvSpPr>
          <p:cNvPr id="33" name="directory-4-body">
            <a:extLst xmlns:a="http://schemas.openxmlformats.org/drawingml/2006/main">
              <a:ext uri="{FF2B5EF4-FFF2-40B4-BE49-F238E27FC236}">
                <a16:creationId xmlns:a16="http://schemas.microsoft.com/office/drawing/2014/main" id="{BE3FB8A1-117A-4C75-956E-FC7DEAD2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evals.json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README.txt</a:t>
            </a:r>
          </a:p>
        </p:txBody>
      </p:sp>
      <p:sp>
        <p:nvSpPr>
          <p:cNvPr id="34" name="optional-directories">
            <a:extLst xmlns:a="http://schemas.openxmlformats.org/drawingml/2006/main">
              <a:ext uri="{FF2B5EF4-FFF2-40B4-BE49-F238E27FC236}">
                <a16:creationId xmlns:a16="http://schemas.microsoft.com/office/drawing/2014/main" id="{C6345B87-E0FF-4E1C-8D3A-F924D43B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3525"/>
            <a:ext cx="1127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按需增加 assets/ 存放模板；evals.json 保存场景，当前没有自动评估程序。</a:t>
            </a:r>
          </a:p>
        </p:txBody>
      </p:sp>
      <p:sp>
        <p:nvSpPr>
          <p:cNvPr id="35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D4D39776-392B-40DC-9A42-DE2C7587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6" name="takeaway">
            <a:extLst xmlns:a="http://schemas.openxmlformats.org/drawingml/2006/main">
              <a:ext uri="{FF2B5EF4-FFF2-40B4-BE49-F238E27FC236}">
                <a16:creationId xmlns:a16="http://schemas.microsoft.com/office/drawing/2014/main" id="{58A45F89-3CF2-4181-B0FD-2D72FCBB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主文件简洁，细节按需加载（Progressive Disclosure）。简单任务可以只有 SKILL.md。</a:t>
            </a:r>
          </a:p>
        </p:txBody>
      </p:sp>
      <p:sp>
        <p:nvSpPr>
          <p:cNvPr id="37" name="byline">
            <a:extLst xmlns:a="http://schemas.openxmlformats.org/drawingml/2006/main">
              <a:ext uri="{FF2B5EF4-FFF2-40B4-BE49-F238E27FC236}">
                <a16:creationId xmlns:a16="http://schemas.microsoft.com/office/drawing/2014/main" id="{7C6D5529-E2F2-4E95-8155-AA55E6D72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8" name="page">
            <a:extLst xmlns:a="http://schemas.openxmlformats.org/drawingml/2006/main">
              <a:ext uri="{FF2B5EF4-FFF2-40B4-BE49-F238E27FC236}">
                <a16:creationId xmlns:a16="http://schemas.microsoft.com/office/drawing/2014/main" id="{3D809AB4-8F4B-4459-BBE3-DCFCD258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08 / 11</a:t>
            </a:r>
          </a:p>
        </p:txBody>
      </p:sp>
    </p:spTree>
    <p:extLst>
      <p:ext uri="{BB962C8B-B14F-4D97-AF65-F5344CB8AC3E}">
        <p14:creationId xmlns:p14="http://schemas.microsoft.com/office/powerpoint/2010/main" val="13424285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332899-BE23-47D8-9383-2966BA46CC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0fa1f3a69e480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8E48D834-0229-4810-BB00-F20DADD9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C1B201A-1782-40F5-9019-599FF363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Qoder 实操：沉淀一个 Skill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8D9B3B61-7F58-4F2E-A7E9-850168C8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以已经做对的工单日报为起点，把任务方法整理成能独立执行的能力包。</a:t>
            </a:r>
          </a:p>
        </p:txBody>
      </p:sp>
      <p:sp>
        <p:nvSpPr>
          <p:cNvPr id="5" name="qoder-step-0">
            <a:extLst xmlns:a="http://schemas.openxmlformats.org/drawingml/2006/main">
              <a:ext uri="{FF2B5EF4-FFF2-40B4-BE49-F238E27FC236}">
                <a16:creationId xmlns:a16="http://schemas.microsoft.com/office/drawing/2014/main" id="{DB161A77-0EB2-4F06-9DF1-12C94F17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qoder-step-0-number">
            <a:extLst xmlns:a="http://schemas.openxmlformats.org/drawingml/2006/main">
              <a:ext uri="{FF2B5EF4-FFF2-40B4-BE49-F238E27FC236}">
                <a16:creationId xmlns:a16="http://schemas.microsoft.com/office/drawing/2014/main" id="{0B8B5283-2BFE-48FE-9712-8D07BFC3C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7" name="qoder-step-0-label">
            <a:extLst xmlns:a="http://schemas.openxmlformats.org/drawingml/2006/main">
              <a:ext uri="{FF2B5EF4-FFF2-40B4-BE49-F238E27FC236}">
                <a16:creationId xmlns:a16="http://schemas.microsoft.com/office/drawing/2014/main" id="{6C23D016-C0A9-430B-8770-58AC826B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成功任务</a:t>
            </a:r>
          </a:p>
        </p:txBody>
      </p:sp>
      <p:sp>
        <p:nvSpPr>
          <p:cNvPr id="8" name="qoder-step-0-body">
            <a:extLst xmlns:a="http://schemas.openxmlformats.org/drawingml/2006/main">
              <a:ext uri="{FF2B5EF4-FFF2-40B4-BE49-F238E27FC236}">
                <a16:creationId xmlns:a16="http://schemas.microsoft.com/office/drawing/2014/main" id="{4894FDA7-5982-4653-818F-16B589A4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保存输入、口径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和核对过的结果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6D7E12A5-B112-4372-A5E8-AD5BD18B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qoder-step-1">
            <a:extLst xmlns:a="http://schemas.openxmlformats.org/drawingml/2006/main">
              <a:ext uri="{FF2B5EF4-FFF2-40B4-BE49-F238E27FC236}">
                <a16:creationId xmlns:a16="http://schemas.microsoft.com/office/drawing/2014/main" id="{33CDA609-8C09-4C14-93D9-60CE8723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qoder-step-1-number">
            <a:extLst xmlns:a="http://schemas.openxmlformats.org/drawingml/2006/main">
              <a:ext uri="{FF2B5EF4-FFF2-40B4-BE49-F238E27FC236}">
                <a16:creationId xmlns:a16="http://schemas.microsoft.com/office/drawing/2014/main" id="{A7E33F55-80DD-4679-9824-F36D18E64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qoder-step-1-label">
            <a:extLst xmlns:a="http://schemas.openxmlformats.org/drawingml/2006/main">
              <a:ext uri="{FF2B5EF4-FFF2-40B4-BE49-F238E27FC236}">
                <a16:creationId xmlns:a16="http://schemas.microsoft.com/office/drawing/2014/main" id="{30387080-A947-4450-B5E1-FD8582C2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提炼 Skill</a:t>
            </a:r>
          </a:p>
        </p:txBody>
      </p:sp>
      <p:sp>
        <p:nvSpPr>
          <p:cNvPr id="13" name="qoder-step-1-body">
            <a:extLst xmlns:a="http://schemas.openxmlformats.org/drawingml/2006/main">
              <a:ext uri="{FF2B5EF4-FFF2-40B4-BE49-F238E27FC236}">
                <a16:creationId xmlns:a16="http://schemas.microsoft.com/office/drawing/2014/main" id="{02C33DF3-69AF-4BBC-ACCB-26F144F9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写清契约与流程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保存关键处理脚本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EECE2900-83F3-4D2D-9193-7268A4EA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qoder-step-2">
            <a:extLst xmlns:a="http://schemas.openxmlformats.org/drawingml/2006/main">
              <a:ext uri="{FF2B5EF4-FFF2-40B4-BE49-F238E27FC236}">
                <a16:creationId xmlns:a16="http://schemas.microsoft.com/office/drawing/2014/main" id="{F040472E-8646-4BDB-84F4-453900623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qoder-step-2-number">
            <a:extLst xmlns:a="http://schemas.openxmlformats.org/drawingml/2006/main">
              <a:ext uri="{FF2B5EF4-FFF2-40B4-BE49-F238E27FC236}">
                <a16:creationId xmlns:a16="http://schemas.microsoft.com/office/drawing/2014/main" id="{C36655B9-D440-438B-B490-9D1030EA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7" name="qoder-step-2-label">
            <a:extLst xmlns:a="http://schemas.openxmlformats.org/drawingml/2006/main">
              <a:ext uri="{FF2B5EF4-FFF2-40B4-BE49-F238E27FC236}">
                <a16:creationId xmlns:a16="http://schemas.microsoft.com/office/drawing/2014/main" id="{2039D83C-2076-4E63-AA84-AF461CE1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导入完整包</a:t>
            </a:r>
          </a:p>
        </p:txBody>
      </p:sp>
      <p:sp>
        <p:nvSpPr>
          <p:cNvPr id="18" name="qoder-step-2-body">
            <a:extLst xmlns:a="http://schemas.openxmlformats.org/drawingml/2006/main">
              <a:ext uri="{FF2B5EF4-FFF2-40B4-BE49-F238E27FC236}">
                <a16:creationId xmlns:a16="http://schemas.microsoft.com/office/drawing/2014/main" id="{82D1056F-4EFD-4E9A-AD30-82685D98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在技能管理中导入 ZIP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确认出现在已安装中</a:t>
            </a:r>
          </a:p>
        </p:txBody>
      </p:sp>
      <p:sp>
        <p:nvSpPr>
          <p:cNvPr id="19" name="flow-arrow">
            <a:extLst xmlns:a="http://schemas.openxmlformats.org/drawingml/2006/main">
              <a:ext uri="{FF2B5EF4-FFF2-40B4-BE49-F238E27FC236}">
                <a16:creationId xmlns:a16="http://schemas.microsoft.com/office/drawing/2014/main" id="{57E3BB34-5E54-4E64-8DAF-7654D7E5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qoder-step-3">
            <a:extLst xmlns:a="http://schemas.openxmlformats.org/drawingml/2006/main">
              <a:ext uri="{FF2B5EF4-FFF2-40B4-BE49-F238E27FC236}">
                <a16:creationId xmlns:a16="http://schemas.microsoft.com/office/drawing/2014/main" id="{97645812-4E3A-4B23-88C7-036FC425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1" name="qoder-step-3-number">
            <a:extLst xmlns:a="http://schemas.openxmlformats.org/drawingml/2006/main">
              <a:ext uri="{FF2B5EF4-FFF2-40B4-BE49-F238E27FC236}">
                <a16:creationId xmlns:a16="http://schemas.microsoft.com/office/drawing/2014/main" id="{5E4FE635-BA81-4D6D-8E16-5C17BF49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2" name="qoder-step-3-label">
            <a:extLst xmlns:a="http://schemas.openxmlformats.org/drawingml/2006/main">
              <a:ext uri="{FF2B5EF4-FFF2-40B4-BE49-F238E27FC236}">
                <a16:creationId xmlns:a16="http://schemas.microsoft.com/office/drawing/2014/main" id="{79FF8459-C97F-4737-9A01-13FDB58AA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新 Chat 运行</a:t>
            </a:r>
          </a:p>
        </p:txBody>
      </p:sp>
      <p:sp>
        <p:nvSpPr>
          <p:cNvPr id="23" name="qoder-step-3-body">
            <a:extLst xmlns:a="http://schemas.openxmlformats.org/drawingml/2006/main">
              <a:ext uri="{FF2B5EF4-FFF2-40B4-BE49-F238E27FC236}">
                <a16:creationId xmlns:a16="http://schemas.microsoft.com/office/drawing/2014/main" id="{050B4030-6183-4C09-80B2-AF084C302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用 / 选择 Skill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只给本次必要输入</a:t>
            </a:r>
          </a:p>
        </p:txBody>
      </p:sp>
      <p:sp>
        <p:nvSpPr>
          <p:cNvPr id="24" name="create-prompt">
            <a:extLst xmlns:a="http://schemas.openxmlformats.org/drawingml/2006/main">
              <a:ext uri="{FF2B5EF4-FFF2-40B4-BE49-F238E27FC236}">
                <a16:creationId xmlns:a16="http://schemas.microsoft.com/office/drawing/2014/main" id="{DC64A858-6001-437C-800E-803B1DBE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00625"/>
            <a:ext cx="11277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给 Qoder 的提示词：把刚才做对的日报方法整理成完整 Skill ZIP，保存规则和处理脚本，让新 Chat 只给数据、日期和输出位置就能复用。</a:t>
            </a:r>
          </a:p>
        </p:txBody>
      </p:sp>
      <p:sp>
        <p:nvSpPr>
          <p:cNvPr id="25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F375DE1B-C430-4702-B878-205B5832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takeaway">
            <a:extLst xmlns:a="http://schemas.openxmlformats.org/drawingml/2006/main">
              <a:ext uri="{FF2B5EF4-FFF2-40B4-BE49-F238E27FC236}">
                <a16:creationId xmlns:a16="http://schemas.microsoft.com/office/drawing/2014/main" id="{D2E888D6-4AAE-4C6C-85E1-150F2AD0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先手动选择验证执行，再用自然语言验证触发。Qoder 操作入口按当前产品版本核对。</a:t>
            </a:r>
          </a:p>
        </p:txBody>
      </p:sp>
      <p:sp>
        <p:nvSpPr>
          <p:cNvPr id="27" name="byline">
            <a:extLst xmlns:a="http://schemas.openxmlformats.org/drawingml/2006/main">
              <a:ext uri="{FF2B5EF4-FFF2-40B4-BE49-F238E27FC236}">
                <a16:creationId xmlns:a16="http://schemas.microsoft.com/office/drawing/2014/main" id="{DC2BB0B0-5F4C-4349-BEEA-0D2AE989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8" name="page">
            <a:extLst xmlns:a="http://schemas.openxmlformats.org/drawingml/2006/main">
              <a:ext uri="{FF2B5EF4-FFF2-40B4-BE49-F238E27FC236}">
                <a16:creationId xmlns:a16="http://schemas.microsoft.com/office/drawing/2014/main" id="{5997AB20-C939-45D7-8958-91C227BF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09 / 11</a:t>
            </a:r>
          </a:p>
        </p:txBody>
      </p:sp>
    </p:spTree>
    <p:extLst>
      <p:ext uri="{BB962C8B-B14F-4D97-AF65-F5344CB8AC3E}">
        <p14:creationId xmlns:p14="http://schemas.microsoft.com/office/powerpoint/2010/main" val="18392035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23DDE5-9248-4F5E-8CB6-81FD716D15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b27639177f477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492DF310-BDDF-4BA8-8F09-442DB9ED6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72F7889-C560-4E47-BB16-5E8585AF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如何验证并改进 Skill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E31A3D45-54E3-4AE6-B5B6-82A125F3A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Tests 判定任务是否成功，Evals 帮助观察触发、任务表现和真实使用效果。</a:t>
            </a:r>
          </a:p>
        </p:txBody>
      </p:sp>
      <p:sp>
        <p:nvSpPr>
          <p:cNvPr id="5" name="verification-0">
            <a:extLst xmlns:a="http://schemas.openxmlformats.org/drawingml/2006/main">
              <a:ext uri="{FF2B5EF4-FFF2-40B4-BE49-F238E27FC236}">
                <a16:creationId xmlns:a16="http://schemas.microsoft.com/office/drawing/2014/main" id="{E40BE8B7-58EA-414B-B2D3-6ABE2B56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verification-0-label">
            <a:extLst xmlns:a="http://schemas.openxmlformats.org/drawingml/2006/main">
              <a:ext uri="{FF2B5EF4-FFF2-40B4-BE49-F238E27FC236}">
                <a16:creationId xmlns:a16="http://schemas.microsoft.com/office/drawing/2014/main" id="{01D13E99-1BE3-4283-A401-C73556DB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Trigger Evals</a:t>
            </a:r>
          </a:p>
        </p:txBody>
      </p:sp>
      <p:sp>
        <p:nvSpPr>
          <p:cNvPr id="7" name="verification-0-sub">
            <a:extLst xmlns:a="http://schemas.openxmlformats.org/drawingml/2006/main">
              <a:ext uri="{FF2B5EF4-FFF2-40B4-BE49-F238E27FC236}">
                <a16:creationId xmlns:a16="http://schemas.microsoft.com/office/drawing/2014/main" id="{93F7F758-ABE0-46DA-829C-E7E22988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正确触发，避免误触发</a:t>
            </a:r>
          </a:p>
        </p:txBody>
      </p:sp>
      <p:sp>
        <p:nvSpPr>
          <p:cNvPr id="8" name="verification-0-body">
            <a:extLst xmlns:a="http://schemas.openxmlformats.org/drawingml/2006/main">
              <a:ext uri="{FF2B5EF4-FFF2-40B4-BE49-F238E27FC236}">
                <a16:creationId xmlns:a16="http://schemas.microsoft.com/office/drawing/2014/main" id="{8E6386E4-F3D4-4B9C-A86E-7317F7D2B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检查真实请求的触发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属于基础验证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E00E9A0C-BB77-4562-8869-23CABDE8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verification-1">
            <a:extLst xmlns:a="http://schemas.openxmlformats.org/drawingml/2006/main">
              <a:ext uri="{FF2B5EF4-FFF2-40B4-BE49-F238E27FC236}">
                <a16:creationId xmlns:a16="http://schemas.microsoft.com/office/drawing/2014/main" id="{93925AE8-AB49-47BC-8701-32CA38DF6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verification-1-label">
            <a:extLst xmlns:a="http://schemas.openxmlformats.org/drawingml/2006/main">
              <a:ext uri="{FF2B5EF4-FFF2-40B4-BE49-F238E27FC236}">
                <a16:creationId xmlns:a16="http://schemas.microsoft.com/office/drawing/2014/main" id="{3368F896-9991-4010-ACDE-9792F118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Task Evals</a:t>
            </a:r>
          </a:p>
        </p:txBody>
      </p:sp>
      <p:sp>
        <p:nvSpPr>
          <p:cNvPr id="12" name="verification-1-sub">
            <a:extLst xmlns:a="http://schemas.openxmlformats.org/drawingml/2006/main">
              <a:ext uri="{FF2B5EF4-FFF2-40B4-BE49-F238E27FC236}">
                <a16:creationId xmlns:a16="http://schemas.microsoft.com/office/drawing/2014/main" id="{9D0D38A2-DC35-4EF8-A23A-586AB631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同一批任务，比较版本</a:t>
            </a:r>
          </a:p>
        </p:txBody>
      </p:sp>
      <p:sp>
        <p:nvSpPr>
          <p:cNvPr id="13" name="verification-1-body">
            <a:extLst xmlns:a="http://schemas.openxmlformats.org/drawingml/2006/main">
              <a:ext uri="{FF2B5EF4-FFF2-40B4-BE49-F238E27FC236}">
                <a16:creationId xmlns:a16="http://schemas.microsoft.com/office/drawing/2014/main" id="{87534EB0-F142-4A50-8F7E-2484E157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共用 Tests 判定成功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比较质量、耗时、Token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BEA4DECB-743F-46EE-8DD2-84DB6ABA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verification-2">
            <a:extLst xmlns:a="http://schemas.openxmlformats.org/drawingml/2006/main">
              <a:ext uri="{FF2B5EF4-FFF2-40B4-BE49-F238E27FC236}">
                <a16:creationId xmlns:a16="http://schemas.microsoft.com/office/drawing/2014/main" id="{6F38E338-AC61-4599-A0B9-A5C77899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verification-2-label">
            <a:extLst xmlns:a="http://schemas.openxmlformats.org/drawingml/2006/main">
              <a:ext uri="{FF2B5EF4-FFF2-40B4-BE49-F238E27FC236}">
                <a16:creationId xmlns:a16="http://schemas.microsoft.com/office/drawing/2014/main" id="{0BAFD2B1-B905-4E0C-BC02-8564541A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Production Evals</a:t>
            </a:r>
          </a:p>
        </p:txBody>
      </p:sp>
      <p:sp>
        <p:nvSpPr>
          <p:cNvPr id="17" name="verification-2-sub">
            <a:extLst xmlns:a="http://schemas.openxmlformats.org/drawingml/2006/main">
              <a:ext uri="{FF2B5EF4-FFF2-40B4-BE49-F238E27FC236}">
                <a16:creationId xmlns:a16="http://schemas.microsoft.com/office/drawing/2014/main" id="{D5F2B6EC-2B80-418F-9EAA-B47CF9195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真实使用中持续观察</a:t>
            </a:r>
          </a:p>
        </p:txBody>
      </p:sp>
      <p:sp>
        <p:nvSpPr>
          <p:cNvPr id="18" name="verification-2-body">
            <a:extLst xmlns:a="http://schemas.openxmlformats.org/drawingml/2006/main">
              <a:ext uri="{FF2B5EF4-FFF2-40B4-BE49-F238E27FC236}">
                <a16:creationId xmlns:a16="http://schemas.microsoft.com/office/drawing/2014/main" id="{D3FCF9A3-49DC-4C29-9E97-B83501CC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记录失败与人工接管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跟踪质量、耗时和成本</a:t>
            </a:r>
          </a:p>
        </p:txBody>
      </p:sp>
      <p:sp>
        <p:nvSpPr>
          <p:cNvPr id="19" name="case-0">
            <a:extLst xmlns:a="http://schemas.openxmlformats.org/drawingml/2006/main">
              <a:ext uri="{FF2B5EF4-FFF2-40B4-BE49-F238E27FC236}">
                <a16:creationId xmlns:a16="http://schemas.microsoft.com/office/drawing/2014/main" id="{1185DB91-CC1B-4620-9930-B86BCE1B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76775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0" name="case-0-name">
            <a:extLst xmlns:a="http://schemas.openxmlformats.org/drawingml/2006/main">
              <a:ext uri="{FF2B5EF4-FFF2-40B4-BE49-F238E27FC236}">
                <a16:creationId xmlns:a16="http://schemas.microsoft.com/office/drawing/2014/main" id="{7F786E9D-8D90-4C94-A4B1-C79E7324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Golden Tasks</a:t>
            </a:r>
          </a:p>
        </p:txBody>
      </p:sp>
      <p:sp>
        <p:nvSpPr>
          <p:cNvPr id="21" name="case-0-expected">
            <a:extLst xmlns:a="http://schemas.openxmlformats.org/drawingml/2006/main">
              <a:ext uri="{FF2B5EF4-FFF2-40B4-BE49-F238E27FC236}">
                <a16:creationId xmlns:a16="http://schemas.microsoft.com/office/drawing/2014/main" id="{1BF0BDCE-A403-4F9A-BD5D-F35EB0D6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10 个真实端到端需求</a:t>
            </a:r>
          </a:p>
        </p:txBody>
      </p:sp>
      <p:sp>
        <p:nvSpPr>
          <p:cNvPr id="22" name="case-1">
            <a:extLst xmlns:a="http://schemas.openxmlformats.org/drawingml/2006/main">
              <a:ext uri="{FF2B5EF4-FFF2-40B4-BE49-F238E27FC236}">
                <a16:creationId xmlns:a16="http://schemas.microsoft.com/office/drawing/2014/main" id="{DC04E66A-9B3C-456A-82FB-CC57AB16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676775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case-1-name">
            <a:extLst xmlns:a="http://schemas.openxmlformats.org/drawingml/2006/main">
              <a:ext uri="{FF2B5EF4-FFF2-40B4-BE49-F238E27FC236}">
                <a16:creationId xmlns:a16="http://schemas.microsoft.com/office/drawing/2014/main" id="{DC107313-8675-4009-9EE4-86BA148B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73392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V1 / V2（假设）</a:t>
            </a:r>
          </a:p>
        </p:txBody>
      </p:sp>
      <p:sp>
        <p:nvSpPr>
          <p:cNvPr id="24" name="case-1-expected">
            <a:extLst xmlns:a="http://schemas.openxmlformats.org/drawingml/2006/main">
              <a:ext uri="{FF2B5EF4-FFF2-40B4-BE49-F238E27FC236}">
                <a16:creationId xmlns:a16="http://schemas.microsoft.com/office/drawing/2014/main" id="{1AADC1F0-AF69-4443-A0DE-0894B110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507682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成功率 60% / 80%</a:t>
            </a:r>
          </a:p>
        </p:txBody>
      </p:sp>
      <p:sp>
        <p:nvSpPr>
          <p:cNvPr id="25" name="case-2">
            <a:extLst xmlns:a="http://schemas.openxmlformats.org/drawingml/2006/main">
              <a:ext uri="{FF2B5EF4-FFF2-40B4-BE49-F238E27FC236}">
                <a16:creationId xmlns:a16="http://schemas.microsoft.com/office/drawing/2014/main" id="{E3B17111-84AA-4E38-95F6-45D4FD61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76775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case-2-name">
            <a:extLst xmlns:a="http://schemas.openxmlformats.org/drawingml/2006/main">
              <a:ext uri="{FF2B5EF4-FFF2-40B4-BE49-F238E27FC236}">
                <a16:creationId xmlns:a16="http://schemas.microsoft.com/office/drawing/2014/main" id="{5740DE00-23FA-417E-938E-AF0AEE54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73392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相同 Tests 判定</a:t>
            </a:r>
          </a:p>
        </p:txBody>
      </p:sp>
      <p:sp>
        <p:nvSpPr>
          <p:cNvPr id="27" name="case-2-expected">
            <a:extLst xmlns:a="http://schemas.openxmlformats.org/drawingml/2006/main">
              <a:ext uri="{FF2B5EF4-FFF2-40B4-BE49-F238E27FC236}">
                <a16:creationId xmlns:a16="http://schemas.microsoft.com/office/drawing/2014/main" id="{9D6A8953-4E6B-4923-8BCD-C94A4EE9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07682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提升 20 个百分点（假设）</a:t>
            </a:r>
          </a:p>
        </p:txBody>
      </p:sp>
      <p:sp>
        <p:nvSpPr>
          <p:cNvPr id="28" name="grading-note">
            <a:extLst xmlns:a="http://schemas.openxmlformats.org/drawingml/2006/main">
              <a:ext uri="{FF2B5EF4-FFF2-40B4-BE49-F238E27FC236}">
                <a16:creationId xmlns:a16="http://schemas.microsoft.com/office/drawing/2014/main" id="{DC631E29-8FF3-4BDC-BB56-1F6DF1B4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48300"/>
            <a:ext cx="11277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LLM 核对示例：场景 1 + 实际输出 + 执行记录 → 逐项结论与证据（见讲解）。</a:t>
            </a:r>
          </a:p>
        </p:txBody>
      </p:sp>
      <p:sp>
        <p:nvSpPr>
          <p:cNvPr id="29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1596AFBC-2E4E-4EAA-8E40-D0954251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0" name="takeaway">
            <a:extLst xmlns:a="http://schemas.openxmlformats.org/drawingml/2006/main">
              <a:ext uri="{FF2B5EF4-FFF2-40B4-BE49-F238E27FC236}">
                <a16:creationId xmlns:a16="http://schemas.microsoft.com/office/drawing/2014/main" id="{E28D0491-BEA4-4E4F-BC1F-0591A91A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同一任务、同一 Tests 判定，比较质量与成本。示例需重复运行并控制其他变量。</a:t>
            </a:r>
          </a:p>
        </p:txBody>
      </p:sp>
      <p:sp>
        <p:nvSpPr>
          <p:cNvPr id="31" name="byline">
            <a:extLst xmlns:a="http://schemas.openxmlformats.org/drawingml/2006/main">
              <a:ext uri="{FF2B5EF4-FFF2-40B4-BE49-F238E27FC236}">
                <a16:creationId xmlns:a16="http://schemas.microsoft.com/office/drawing/2014/main" id="{42CE80F5-25D1-4EBC-89F8-342885196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2" name="page">
            <a:extLst xmlns:a="http://schemas.openxmlformats.org/drawingml/2006/main">
              <a:ext uri="{FF2B5EF4-FFF2-40B4-BE49-F238E27FC236}">
                <a16:creationId xmlns:a16="http://schemas.microsoft.com/office/drawing/2014/main" id="{F8FFBF09-E174-41AA-9098-93A94A59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10 / 11</a:t>
            </a:r>
          </a:p>
        </p:txBody>
      </p:sp>
    </p:spTree>
    <p:extLst>
      <p:ext uri="{BB962C8B-B14F-4D97-AF65-F5344CB8AC3E}">
        <p14:creationId xmlns:p14="http://schemas.microsoft.com/office/powerpoint/2010/main" val="180769399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D2D957-9E6E-4487-B294-CE2A8BECF7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80fe4118924d5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A77D2D5C-8D5B-40A6-A230-8BF277A8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A9F72E8-CE50-4F7B-ABDA-9EFD0B4C6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开始实践与问题反馈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8DBDA99D-5C18-4FFA-8118-060BDBF9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把日常工作中的一个成功方法，变成下一次可以继续使用的 Skill。</a:t>
            </a:r>
          </a:p>
        </p:txBody>
      </p:sp>
      <p:sp>
        <p:nvSpPr>
          <p:cNvPr id="5" name="practice-path">
            <a:extLst xmlns:a="http://schemas.openxmlformats.org/drawingml/2006/main">
              <a:ext uri="{FF2B5EF4-FFF2-40B4-BE49-F238E27FC236}">
                <a16:creationId xmlns:a16="http://schemas.microsoft.com/office/drawing/2014/main" id="{3A06A756-1665-4400-A116-5C41A05E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ractice-path-label-band">
            <a:extLst xmlns:a="http://schemas.openxmlformats.org/drawingml/2006/main">
              <a:ext uri="{FF2B5EF4-FFF2-40B4-BE49-F238E27FC236}">
                <a16:creationId xmlns:a16="http://schemas.microsoft.com/office/drawing/2014/main" id="{94B92B46-6F79-4185-95AF-34E5CDE2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ractice-path-label">
            <a:extLst xmlns:a="http://schemas.openxmlformats.org/drawingml/2006/main">
              <a:ext uri="{FF2B5EF4-FFF2-40B4-BE49-F238E27FC236}">
                <a16:creationId xmlns:a16="http://schemas.microsoft.com/office/drawing/2014/main" id="{695635C6-875A-4A86-913D-028D8306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1460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今天就可以开始的一次实践</a:t>
            </a:r>
          </a:p>
        </p:txBody>
      </p:sp>
      <p:sp>
        <p:nvSpPr>
          <p:cNvPr id="8" name="practice-0-number">
            <a:extLst xmlns:a="http://schemas.openxmlformats.org/drawingml/2006/main">
              <a:ext uri="{FF2B5EF4-FFF2-40B4-BE49-F238E27FC236}">
                <a16:creationId xmlns:a16="http://schemas.microsoft.com/office/drawing/2014/main" id="{8654B207-D709-4C85-86A4-4889D923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051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practice-0-label">
            <a:extLst xmlns:a="http://schemas.openxmlformats.org/drawingml/2006/main">
              <a:ext uri="{FF2B5EF4-FFF2-40B4-BE49-F238E27FC236}">
                <a16:creationId xmlns:a16="http://schemas.microsoft.com/office/drawing/2014/main" id="{1EE7990C-3E54-4A11-955B-3537F6DD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1051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选任务并自评</a:t>
            </a:r>
          </a:p>
        </p:txBody>
      </p:sp>
      <p:sp>
        <p:nvSpPr>
          <p:cNvPr id="10" name="practice-0-body">
            <a:extLst xmlns:a="http://schemas.openxmlformats.org/drawingml/2006/main">
              <a:ext uri="{FF2B5EF4-FFF2-40B4-BE49-F238E27FC236}">
                <a16:creationId xmlns:a16="http://schemas.microsoft.com/office/drawing/2014/main" id="{5CA83B09-80CA-495E-A852-0996E6AC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4671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规则清楚，先确认验收依据</a:t>
            </a:r>
          </a:p>
        </p:txBody>
      </p:sp>
      <p:sp>
        <p:nvSpPr>
          <p:cNvPr id="11" name="practice-1-number">
            <a:extLst xmlns:a="http://schemas.openxmlformats.org/drawingml/2006/main">
              <a:ext uri="{FF2B5EF4-FFF2-40B4-BE49-F238E27FC236}">
                <a16:creationId xmlns:a16="http://schemas.microsoft.com/office/drawing/2014/main" id="{0EA0D8EA-9C2B-4944-A6BA-DBF46AE1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8290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practice-1-label">
            <a:extLst xmlns:a="http://schemas.openxmlformats.org/drawingml/2006/main">
              <a:ext uri="{FF2B5EF4-FFF2-40B4-BE49-F238E27FC236}">
                <a16:creationId xmlns:a16="http://schemas.microsoft.com/office/drawing/2014/main" id="{3C7BF4E2-CA42-4CC6-A9B9-44BD1BBA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8290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生成并运行检查</a:t>
            </a:r>
          </a:p>
        </p:txBody>
      </p:sp>
      <p:sp>
        <p:nvSpPr>
          <p:cNvPr id="13" name="practice-1-body">
            <a:extLst xmlns:a="http://schemas.openxmlformats.org/drawingml/2006/main">
              <a:ext uri="{FF2B5EF4-FFF2-40B4-BE49-F238E27FC236}">
                <a16:creationId xmlns:a16="http://schemas.microsoft.com/office/drawing/2014/main" id="{5A203E30-8D9C-4502-AA8C-D454A12B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1910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共用样例，保留实际结果与记录</a:t>
            </a:r>
          </a:p>
        </p:txBody>
      </p:sp>
      <p:sp>
        <p:nvSpPr>
          <p:cNvPr id="14" name="practice-2-number">
            <a:extLst xmlns:a="http://schemas.openxmlformats.org/drawingml/2006/main">
              <a:ext uri="{FF2B5EF4-FFF2-40B4-BE49-F238E27FC236}">
                <a16:creationId xmlns:a16="http://schemas.microsoft.com/office/drawing/2014/main" id="{ADBD4B31-6743-4F9C-BAEC-663AC143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529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5" name="practice-2-label">
            <a:extLst xmlns:a="http://schemas.openxmlformats.org/drawingml/2006/main">
              <a:ext uri="{FF2B5EF4-FFF2-40B4-BE49-F238E27FC236}">
                <a16:creationId xmlns:a16="http://schemas.microsoft.com/office/drawing/2014/main" id="{03FC5055-892A-49B2-990F-DEB10B3BC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5529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换人复用并迭代</a:t>
            </a:r>
          </a:p>
        </p:txBody>
      </p:sp>
      <p:sp>
        <p:nvSpPr>
          <p:cNvPr id="16" name="practice-2-body">
            <a:extLst xmlns:a="http://schemas.openxmlformats.org/drawingml/2006/main">
              <a:ext uri="{FF2B5EF4-FFF2-40B4-BE49-F238E27FC236}">
                <a16:creationId xmlns:a16="http://schemas.microsoft.com/office/drawing/2014/main" id="{13BB888E-EC0A-4E4E-88E5-4C254DC5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9149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同版本再试，把新问题补进用例</a:t>
            </a:r>
          </a:p>
        </p:txBody>
      </p:sp>
      <p:sp>
        <p:nvSpPr>
          <p:cNvPr id="17" name="feedback-panel">
            <a:extLst xmlns:a="http://schemas.openxmlformats.org/drawingml/2006/main">
              <a:ext uri="{FF2B5EF4-FFF2-40B4-BE49-F238E27FC236}">
                <a16:creationId xmlns:a16="http://schemas.microsoft.com/office/drawing/2014/main" id="{39E86ACA-76E7-46D6-8379-B13A5BED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feedback-panel-label-band">
            <a:extLst xmlns:a="http://schemas.openxmlformats.org/drawingml/2006/main">
              <a:ext uri="{FF2B5EF4-FFF2-40B4-BE49-F238E27FC236}">
                <a16:creationId xmlns:a16="http://schemas.microsoft.com/office/drawing/2014/main" id="{4CB1FB30-B972-4686-8960-0CA5A1AF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9" name="feedback-panel-label">
            <a:extLst xmlns:a="http://schemas.openxmlformats.org/drawingml/2006/main">
              <a:ext uri="{FF2B5EF4-FFF2-40B4-BE49-F238E27FC236}">
                <a16:creationId xmlns:a16="http://schemas.microsoft.com/office/drawing/2014/main" id="{26B1DD7E-FDE9-47C5-8F09-2CFA4E69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514600"/>
            <a:ext cx="4829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问题反馈</a:t>
            </a:r>
          </a:p>
        </p:txBody>
      </p:sp>
      <p:sp>
        <p:nvSpPr>
          <p:cNvPr id="20" name="feedback-title">
            <a:extLst xmlns:a="http://schemas.openxmlformats.org/drawingml/2006/main">
              <a:ext uri="{FF2B5EF4-FFF2-40B4-BE49-F238E27FC236}">
                <a16:creationId xmlns:a16="http://schemas.microsoft.com/office/drawing/2014/main" id="{06B41688-9752-43C0-9B4E-A6B52E1D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4752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5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遇到问题，联系张坚、李琦</a:t>
            </a:r>
          </a:p>
        </p:txBody>
      </p:sp>
      <p:sp>
        <p:nvSpPr>
          <p:cNvPr id="21" name="feedback-item-0">
            <a:extLst xmlns:a="http://schemas.openxmlformats.org/drawingml/2006/main">
              <a:ext uri="{FF2B5EF4-FFF2-40B4-BE49-F238E27FC236}">
                <a16:creationId xmlns:a16="http://schemas.microsoft.com/office/drawing/2014/main" id="{D9CB6E6E-3C67-44B3-A892-7DFB56A65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15290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脱敏输入样例</a:t>
            </a:r>
          </a:p>
        </p:txBody>
      </p:sp>
      <p:sp>
        <p:nvSpPr>
          <p:cNvPr id="22" name="feedback-item-1">
            <a:extLst xmlns:a="http://schemas.openxmlformats.org/drawingml/2006/main">
              <a:ext uri="{FF2B5EF4-FFF2-40B4-BE49-F238E27FC236}">
                <a16:creationId xmlns:a16="http://schemas.microsoft.com/office/drawing/2014/main" id="{274BA4A7-C574-4830-A21F-20BBB069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486275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预期结果与实际结果</a:t>
            </a:r>
          </a:p>
        </p:txBody>
      </p:sp>
      <p:sp>
        <p:nvSpPr>
          <p:cNvPr id="23" name="feedback-item-2">
            <a:extLst xmlns:a="http://schemas.openxmlformats.org/drawingml/2006/main">
              <a:ext uri="{FF2B5EF4-FFF2-40B4-BE49-F238E27FC236}">
                <a16:creationId xmlns:a16="http://schemas.microsoft.com/office/drawing/2014/main" id="{E0574AC1-7BE1-45EC-899C-B652245F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81965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出错截图与校验记录</a:t>
            </a:r>
          </a:p>
        </p:txBody>
      </p:sp>
      <p:sp>
        <p:nvSpPr>
          <p:cNvPr id="24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7B992C48-FACE-4A31-8090-C705B164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5" name="takeaway">
            <a:extLst xmlns:a="http://schemas.openxmlformats.org/drawingml/2006/main">
              <a:ext uri="{FF2B5EF4-FFF2-40B4-BE49-F238E27FC236}">
                <a16:creationId xmlns:a16="http://schemas.microsoft.com/office/drawing/2014/main" id="{7167C8AD-8CCC-48DF-93FE-F6A9849C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业务同事沉淀方法与验收标准，技术同事协助固定关键处理，团队共同验证和改进。</a:t>
            </a:r>
          </a:p>
        </p:txBody>
      </p:sp>
      <p:sp>
        <p:nvSpPr>
          <p:cNvPr id="26" name="byline">
            <a:extLst xmlns:a="http://schemas.openxmlformats.org/drawingml/2006/main">
              <a:ext uri="{FF2B5EF4-FFF2-40B4-BE49-F238E27FC236}">
                <a16:creationId xmlns:a16="http://schemas.microsoft.com/office/drawing/2014/main" id="{A17A21B7-BF23-410E-9F62-B029A696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7" name="page">
            <a:extLst xmlns:a="http://schemas.openxmlformats.org/drawingml/2006/main">
              <a:ext uri="{FF2B5EF4-FFF2-40B4-BE49-F238E27FC236}">
                <a16:creationId xmlns:a16="http://schemas.microsoft.com/office/drawing/2014/main" id="{B3883FB1-86C8-4EF8-B9D8-BD0AE27F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11 / 11</a:t>
            </a:r>
          </a:p>
        </p:txBody>
      </p:sp>
    </p:spTree>
    <p:extLst>
      <p:ext uri="{BB962C8B-B14F-4D97-AF65-F5344CB8AC3E}">
        <p14:creationId xmlns:p14="http://schemas.microsoft.com/office/powerpoint/2010/main" val="17298349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2026-10-14T16:07:15.8680000Z</dcterms:created>
  <dcterms:modified xsi:type="dcterms:W3CDTF">2026-10-14T16:07:15.8680000Z</dcterms:modified>
</coreProperties>
</file>