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c7aef5d5fc48e0" /><Relationship Type="http://schemas.openxmlformats.org/officeDocument/2006/relationships/extended-properties" Target="/docProps/app.xml" Id="Rf095a6fb48314c11" /><Relationship Type="http://schemas.openxmlformats.org/officeDocument/2006/relationships/officeDocument" Target="/ppt/presentation.xml" Id="Rc463b85c07904b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d401d71bd2481b"/>
  </p:sldMasterIdLst>
  <p:notesMasterIdLst>
    <p:notesMasterId xmlns:r="http://schemas.openxmlformats.org/officeDocument/2006/relationships" r:id="R53259b33831441c3"/>
  </p:notesMasterIdLst>
  <p:sldIdLst>
    <p:sldId xmlns:r="http://schemas.openxmlformats.org/officeDocument/2006/relationships" id="256" r:id="R89f3abc41e794509"/>
    <p:sldId xmlns:r="http://schemas.openxmlformats.org/officeDocument/2006/relationships" id="257" r:id="R10e26b70e00f4ca8"/>
    <p:sldId xmlns:r="http://schemas.openxmlformats.org/officeDocument/2006/relationships" id="258" r:id="R0e4518c6c33b4c52"/>
    <p:sldId xmlns:r="http://schemas.openxmlformats.org/officeDocument/2006/relationships" id="259" r:id="R63df1e381c864f18"/>
    <p:sldId xmlns:r="http://schemas.openxmlformats.org/officeDocument/2006/relationships" id="260" r:id="R9f3418fcca3949e9"/>
    <p:sldId xmlns:r="http://schemas.openxmlformats.org/officeDocument/2006/relationships" id="261" r:id="R51bf32bc667947c4"/>
    <p:sldId xmlns:r="http://schemas.openxmlformats.org/officeDocument/2006/relationships" id="262" r:id="R0d039386797b49d8"/>
    <p:sldId xmlns:r="http://schemas.openxmlformats.org/officeDocument/2006/relationships" id="263" r:id="R65a370ade213452b"/>
    <p:sldId xmlns:r="http://schemas.openxmlformats.org/officeDocument/2006/relationships" id="264" r:id="Red1bc0c7f28146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acdffb2de34896" /><Relationship Type="http://schemas.openxmlformats.org/officeDocument/2006/relationships/slideMaster" Target="/ppt/slideMasters/slideMaster1.xml" Id="R9fd401d71bd2481b" /><Relationship Type="http://schemas.openxmlformats.org/officeDocument/2006/relationships/notesMaster" Target="/ppt/notesMasters/notesMaster1.xml" Id="R53259b33831441c3" /><Relationship Type="http://schemas.openxmlformats.org/officeDocument/2006/relationships/presProps" Target="/ppt/presProps.xml" Id="Re9fab4a8fd734ec3" /><Relationship Type="http://schemas.openxmlformats.org/officeDocument/2006/relationships/tableStyles" Target="/ppt/tableStyles.xml" Id="R4d966acfa7a84eb5" /><Relationship Type="http://schemas.openxmlformats.org/officeDocument/2006/relationships/slide" Target="/ppt/slides/slide1.xml" Id="R89f3abc41e794509" /><Relationship Type="http://schemas.openxmlformats.org/officeDocument/2006/relationships/slide" Target="/ppt/slides/slide2.xml" Id="R10e26b70e00f4ca8" /><Relationship Type="http://schemas.openxmlformats.org/officeDocument/2006/relationships/slide" Target="/ppt/slides/slide3.xml" Id="R0e4518c6c33b4c52" /><Relationship Type="http://schemas.openxmlformats.org/officeDocument/2006/relationships/slide" Target="/ppt/slides/slide4.xml" Id="R63df1e381c864f18" /><Relationship Type="http://schemas.openxmlformats.org/officeDocument/2006/relationships/slide" Target="/ppt/slides/slide5.xml" Id="R9f3418fcca3949e9" /><Relationship Type="http://schemas.openxmlformats.org/officeDocument/2006/relationships/slide" Target="/ppt/slides/slide6.xml" Id="R51bf32bc667947c4" /><Relationship Type="http://schemas.openxmlformats.org/officeDocument/2006/relationships/slide" Target="/ppt/slides/slide7.xml" Id="R0d039386797b49d8" /><Relationship Type="http://schemas.openxmlformats.org/officeDocument/2006/relationships/slide" Target="/ppt/slides/slide8.xml" Id="R65a370ade213452b" /><Relationship Type="http://schemas.openxmlformats.org/officeDocument/2006/relationships/slide" Target="/ppt/slides/slide9.xml" Id="Red1bc0c7f28146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22a85e063d467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000d934cec94700" /><Relationship Type="http://schemas.openxmlformats.org/officeDocument/2006/relationships/notesMaster" Target="/ppt/notesMasters/notesMaster1.xml" Id="R66b739cb615e42c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e591fc6b764f9c" /><Relationship Type="http://schemas.openxmlformats.org/officeDocument/2006/relationships/notesMaster" Target="/ppt/notesMasters/notesMaster1.xml" Id="R6d85dce5a19a43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5c57d862ef401b" /><Relationship Type="http://schemas.openxmlformats.org/officeDocument/2006/relationships/notesMaster" Target="/ppt/notesMasters/notesMaster1.xml" Id="R4d2d77e18151450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5542a2d98e453c" /><Relationship Type="http://schemas.openxmlformats.org/officeDocument/2006/relationships/notesMaster" Target="/ppt/notesMasters/notesMaster1.xml" Id="R61da8377aeef4ac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f934c2e2ff4b49" /><Relationship Type="http://schemas.openxmlformats.org/officeDocument/2006/relationships/notesMaster" Target="/ppt/notesMasters/notesMaster1.xml" Id="R3d299c8caeac45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db40ac5187436b" /><Relationship Type="http://schemas.openxmlformats.org/officeDocument/2006/relationships/notesMaster" Target="/ppt/notesMasters/notesMaster1.xml" Id="Raa7ec83f45f242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b640cba4de4c3f" /><Relationship Type="http://schemas.openxmlformats.org/officeDocument/2006/relationships/notesMaster" Target="/ppt/notesMasters/notesMaster1.xml" Id="R4998baa48b7448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e82589d4864a0f" /><Relationship Type="http://schemas.openxmlformats.org/officeDocument/2006/relationships/notesMaster" Target="/ppt/notesMasters/notesMaster1.xml" Id="Rcbbe80447db249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3ae18abe064ea8" /><Relationship Type="http://schemas.openxmlformats.org/officeDocument/2006/relationships/notesMaster" Target="/ppt/notesMasters/notesMaster1.xml" Id="Rdea75d3838be48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本页讲解：比如，今天花了几轮对话把日报做好，明天换个 Chat，同样的日期、去重和平均耗时又得重新解释。我们可以把今天用过的数据、确认的规则和核对过的结果留下来，再请 AI 把处理方法整理成 Skill。以后拿到同类数据，就有一套现成的方法可以继续用。交给同事时，他也能顺着这些资料看懂这份日报是怎么算出来、怎么验过的。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继续阅读：deep.html#practice-route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02 的当前现象与下一步目标；分享对话中用户的 Qoder 使用观察。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本页讲解：这 7 行就是我们交给 AI 的原始明细。T004 出现了两次，同一张工单只能算一次；T006 是 10 月 11 日创建的，也不该进入 10 日的日报。处理后剩下 5 张工单，其中 3 张已完成、2 张待处理。完成的 3 张分别用了 60、45、90 分钟，加起来 195 分钟，除以 3，平均就是 65 分钟。我们希望 AI 把明细整理成这样的日报，并让人能核对它怎么算的。把这些规则保存成 Skill，下次拿到新数据，就有了可以沿用的方法。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继续阅读：deep.html#ticket-practice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来源与对应：同一份虚构 practice/ticket-daily-report/tests/fixtures/normal.json 的完整 7 行；按 business-rules.md 及已确认 tests/expected/2026-10-10.json 核对。表格仅转换阅读标签，未改变原始数据。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本页讲解：刚才那份日报，在一个 Chat 里做对，就完成了当次任务。把规则和处理脚本保存成 Skill，下一次便有了可调用的方法。不过，另一位同事拿到新数据，也能做对吗？还要实际试一试。我们讲的 Skill Engineering，就是在沉淀方法之后，继续检查换对话、换数据、遇到异常时会发生什么。这样才知道，保存的方法离开原来的聊天还能不能工作。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继续阅读：deep.html#validation-scope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来源与对应：原海报、原横版课件 01 与 03 的核心公式、三步进阶与价值；价值表述为工程目标，未声称已测量收益。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本页讲解：算出 65 分钟之前，还有不少判断要做。统计哪一天、字段齐不齐、重复工单能不能合并，都影响最后的结果。假如同一个 ID 的两行耗时不同，就要停下来弄清原因，不能悄悄选一个。图里的 Workflow 管这些推进和停止的决定，Data Processing 按确认的规则去重、筛选和计算。两部分接起来，结果验过了，才把日报交出去。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继续阅读：deep.html#workflow-and-code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来源与对应：分享对话中的二维模型与五步工单日报流程；恢复上一版遗漏的两层与两种执行方式的区分。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本页讲解：拿刚才的平均耗时来说，195 除以 3，适合交给固定脚本，下一次也按同一规则计算。AI 则可以帮助理解需求：客户说的日期是创建日期，还是完成日期？字段名称换了，含义是否相同？把这些问题说清楚之后，再交给工具执行。脚本也可能写错分母，所以我们还要拿已知结果的样例核对，不能因为用了代码就省掉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继续阅读：deep.html#workflow-and-code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04 的完整二维分工矩阵与核心原则。关键口径仍由业务负责人确认；可变业务规则不全部写死在程序中。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本页讲解：参考包的入口 SKILL.md 说明何时使用、怎样完成和停止；业务规则在 references，处理代码在 scripts/pipeline.py。tests 保存程序检查、输入样例和已确认答案；evals/evals.json 保存让 Agent 完成的任务与核对项，直接引用 tests 的样例和答案。它可以由人或负责评审的 LLM 读取。任务实际执行后，再把输出和工具执行记录交给评审方；仅有配置文件不会产生评估结果。当前参考包没有自动评估程序，tests/check-regression.py 只检查固定脚本。简单任务仍可只有 SKILL.md，模板等资源按需放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继续阅读：deep.html#directories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来源与对应：用实际 ticket-daily-report 参考包目录说明职责。assets/ 可按需增加。Agent Skills 规范仅要求 SKILL.md；tests/evals 为按需扩展。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参考包的 pipeline.py 执行输入检查、处理与校验。目标同事的 Qoder 环境仍需分别验证。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本页讲解：先在普通 Chat 中做对日报，再把规则和实际使用的脚本整理成 Skill ZIP，安装后开新 Chat。第一次还没保存规则，需要把业务口径说明白；安装后只需说“用 normal.json 生成 2026-10-10 的工单日报，保存到新的结果文件夹”。每次都重讲算法，就无法看出 Skill 是否真的保存了方法。先用 / 选择技能检查执行，再不选择技能，用自然语言试它能否自动找到。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继续阅读：deep.html#qoder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来源与对应：普通 Chat 完成、提炼、安装、新 Chat 验证的四步跟练；Qoder 官方技能指南。Agent Skills 评估指南要求场景使用真实用户会说的任务提示。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本页讲解：工单跟练先验证结果与安装复用。更完整的 Task Evals 使用固定的真实任务和相同 Tests 比较版本：10 个 Golden Tasks 覆盖登录、支付、权限、超时和异常处理；假设 V1 完成 6 个、V2 完成 8 个，成功率从 60% 到 80%，提升 20 个百分点，同时比较质量、耗时、Token 和失败原因。数字仅为示例，需重复运行并控制模型、工具、数据和环境。评分可用程序、人工或 LLM。例如，参考包正常任务完成后，另开评审 Chat，提供 evals.json 的场景 1、已确认答案、实际日报及工具执行记录，请它逐项给出结论和证据。日报为 65，但没有实际调用日志时，调用项应为 UNKNOWN；日报为 39 时，数字项为 FAIL。只让 LLM 核对已有材料不会重跑任务，当前没有自动评估程序。Trigger 看正确触发，Production 持续观察真实质量、成本与失败。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继续阅读：deep.html#eval-walkthrough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来源与对应：用户给定 Golden Tasks 理论示例：10 个真实 E2E 需求，V1 假设 6/10、V2 假设 8/10，相同 Tests 判定。Trigger、Task、Production 为本课教学视角，并非统一强制分类。Agent Skills 评估指南 https://agentskills.io/skill-creation/evaluating-skills 与 Anthropic Agent evals https://www.anthropic.com/engineering/demystifying-evals-for-ai-agents 支持真实任务、基线比较、程序/模型/人工评分和生产观察。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本页讲解：从一件重复工作开始。已有 Skill 时，先用只读自评定位缺口；没有 Skill 时先完成前面的四步。准备完整 Skill、输入样例和已确认答案，让 AI 先列检查计划，逐案核对后再确认。随后生成适配自己脚本接口与输出的 tests 和 evals，两者共用包内样例与答案。按使用说明实际运行，保留命令、退出码、结果和失败记录，复制完整包到新目录也应能检查。检查程序同样可能写错，显示 PASS 后仍要确认它读了正确标准。Agent 任务另开 Chat 执行并留证，再由核对者评审。未确认口径保持待确认，不能为通过检查改答案。分享时请同事用同版本复测，把脱敏输入、预期与实际和执行记录交给张坚、李琦。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继续阅读：deep.html#verification-prep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来源与对应：用户取消五期培训安排后的自主实践与反馈要求；本会话指定张坚、李琦作为反馈联系人。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46c12af1d64e6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a314b5ec4246a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4c846fc00748f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477e16f3994f6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8d5ad118ac403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e574838a2149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B56DD24-066F-40DA-9E42-C57215BF63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F208F0E-5BE2-4A89-BD5F-951DFF079A7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E362AB1-5298-497B-B718-071E8536F7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2E67A8F-486F-45B7-AC9F-C5A964B5BD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8EDFE9B-3273-4D87-83A6-27959CF5E6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5FA25E8-688C-4ED4-B672-233D3C3B02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C26B481-DEBC-4872-85F6-43E61C6B2C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7277C5C-D18F-4D12-A7ED-E5545BD2D60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261C823-78C1-45CE-BC12-4C416712AA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11D9B77-5675-4E50-BCAE-A102270989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33f0250db14d27" /><Relationship Type="http://schemas.openxmlformats.org/officeDocument/2006/relationships/slideLayout" Target="/ppt/slideLayouts/slideLayout1.xml" Id="R53f1e18085c0490b" /><Relationship Type="http://schemas.openxmlformats.org/officeDocument/2006/relationships/slideLayout" Target="/ppt/slideLayouts/slideLayout2.xml" Id="R9133bfa73bca4eaf" /><Relationship Type="http://schemas.openxmlformats.org/officeDocument/2006/relationships/slideLayout" Target="/ppt/slideLayouts/slideLayout3.xml" Id="R8a60ecce200d479a" /><Relationship Type="http://schemas.openxmlformats.org/officeDocument/2006/relationships/slideLayout" Target="/ppt/slideLayouts/slideLayout4.xml" Id="R07c8520c8ade4d75" /><Relationship Type="http://schemas.openxmlformats.org/officeDocument/2006/relationships/slideLayout" Target="/ppt/slideLayouts/slideLayout5.xml" Id="R1572e2fbace04943" /><Relationship Type="http://schemas.openxmlformats.org/officeDocument/2006/relationships/slideLayout" Target="/ppt/slideLayouts/slideLayout6.xml" Id="R4fffbfa9566049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f1e18085c0490b"/>
    <p:sldLayoutId xmlns:r="http://schemas.openxmlformats.org/officeDocument/2006/relationships" id="2147483650" r:id="R9133bfa73bca4eaf"/>
    <p:sldLayoutId xmlns:r="http://schemas.openxmlformats.org/officeDocument/2006/relationships" id="2147483651" r:id="R8a60ecce200d479a"/>
    <p:sldLayoutId xmlns:r="http://schemas.openxmlformats.org/officeDocument/2006/relationships" id="2147483652" r:id="R07c8520c8ade4d75"/>
    <p:sldLayoutId xmlns:r="http://schemas.openxmlformats.org/officeDocument/2006/relationships" id="2147483653" r:id="R1572e2fbace04943"/>
    <p:sldLayoutId xmlns:r="http://schemas.openxmlformats.org/officeDocument/2006/relationships" id="2147483654" r:id="R4fffbfa9566049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b1d7587d3245fb" /><Relationship Type="http://schemas.openxmlformats.org/officeDocument/2006/relationships/image" Target="/ppt/media/image.png" Id="R5faaa1ad9c7f443d" /><Relationship Type="http://schemas.openxmlformats.org/officeDocument/2006/relationships/notesSlide" Target="/ppt/notesSlides/notesSlide1.xml" Id="R3c11a4206c714f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8c2635e8764f74" /><Relationship Type="http://schemas.openxmlformats.org/officeDocument/2006/relationships/image" Target="/ppt/media/image2.png" Id="R8191b139dd404b86" /><Relationship Type="http://schemas.openxmlformats.org/officeDocument/2006/relationships/notesSlide" Target="/ppt/notesSlides/notesSlide2.xml" Id="R9da9f45a9fea42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48f11ab7bd42a4" /><Relationship Type="http://schemas.openxmlformats.org/officeDocument/2006/relationships/image" Target="/ppt/media/image3.png" Id="Rad551f14542c4332" /><Relationship Type="http://schemas.openxmlformats.org/officeDocument/2006/relationships/notesSlide" Target="/ppt/notesSlides/notesSlide3.xml" Id="Rdaf88e455b494e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ef83fa66e644f8" /><Relationship Type="http://schemas.openxmlformats.org/officeDocument/2006/relationships/image" Target="/ppt/media/image4.png" Id="R02318137a0f34fe2" /><Relationship Type="http://schemas.openxmlformats.org/officeDocument/2006/relationships/notesSlide" Target="/ppt/notesSlides/notesSlide4.xml" Id="R2dc06991266a43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cbb99ba89a4a45" /><Relationship Type="http://schemas.openxmlformats.org/officeDocument/2006/relationships/image" Target="/ppt/media/image5.png" Id="R0c796347bd284c55" /><Relationship Type="http://schemas.openxmlformats.org/officeDocument/2006/relationships/notesSlide" Target="/ppt/notesSlides/notesSlide5.xml" Id="R1329830147544a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59b7958aa840e3" /><Relationship Type="http://schemas.openxmlformats.org/officeDocument/2006/relationships/image" Target="/ppt/media/image6.png" Id="R80c1c92b09fc456b" /><Relationship Type="http://schemas.openxmlformats.org/officeDocument/2006/relationships/notesSlide" Target="/ppt/notesSlides/notesSlide6.xml" Id="R63ac8449485043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2bd8e85a504e83" /><Relationship Type="http://schemas.openxmlformats.org/officeDocument/2006/relationships/image" Target="/ppt/media/image7.png" Id="Rc02ffd1fd7b84ead" /><Relationship Type="http://schemas.openxmlformats.org/officeDocument/2006/relationships/notesSlide" Target="/ppt/notesSlides/notesSlide7.xml" Id="R43978318a4704e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02b3e8dc1e438b" /><Relationship Type="http://schemas.openxmlformats.org/officeDocument/2006/relationships/image" Target="/ppt/media/image8.png" Id="R05cc8ff57f0a44ba" /><Relationship Type="http://schemas.openxmlformats.org/officeDocument/2006/relationships/notesSlide" Target="/ppt/notesSlides/notesSlide8.xml" Id="R378ad43202084d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9da90cef3d4c6b" /><Relationship Type="http://schemas.openxmlformats.org/officeDocument/2006/relationships/image" Target="/ppt/media/image9.png" Id="R644292898f2a4792" /><Relationship Type="http://schemas.openxmlformats.org/officeDocument/2006/relationships/notesSlide" Target="/ppt/notesSlides/notesSlide9.xml" Id="R2727673b1d164b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7FA16D-05C2-4761-B200-2810B4D271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aa1ad9c7f443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A97C538B-CC65-4EA4-BF60-073AC68E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3D6329E-C8D7-4495-90A1-FF6D55CB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为什么需要 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A1340D1D-AA65-491A-95B8-6D2949B1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让一次成功的任务，沉淀为可复用、可验证、可迭代的团队能力</a:t>
            </a:r>
          </a:p>
        </p:txBody>
      </p:sp>
      <p:sp>
        <p:nvSpPr>
          <p:cNvPr id="5" name="panel-0">
            <a:extLst xmlns:a="http://schemas.openxmlformats.org/drawingml/2006/main">
              <a:ext uri="{FF2B5EF4-FFF2-40B4-BE49-F238E27FC236}">
                <a16:creationId xmlns:a16="http://schemas.microsoft.com/office/drawing/2014/main" id="{3F10085C-D7E3-45E3-BCE0-C1D16FAB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anel-0-label-band">
            <a:extLst xmlns:a="http://schemas.openxmlformats.org/drawingml/2006/main">
              <a:ext uri="{FF2B5EF4-FFF2-40B4-BE49-F238E27FC236}">
                <a16:creationId xmlns:a16="http://schemas.microsoft.com/office/drawing/2014/main" id="{9119E0BD-F959-4CF5-AB97-60732C50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anel-0-label">
            <a:extLst xmlns:a="http://schemas.openxmlformats.org/drawingml/2006/main">
              <a:ext uri="{FF2B5EF4-FFF2-40B4-BE49-F238E27FC236}">
                <a16:creationId xmlns:a16="http://schemas.microsoft.com/office/drawing/2014/main" id="{4C68EE9C-7567-49BB-A727-014969DB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当前现象</a:t>
            </a:r>
          </a:p>
        </p:txBody>
      </p:sp>
      <p:sp>
        <p:nvSpPr>
          <p:cNvPr id="8" name="item-0-0-title">
            <a:extLst xmlns:a="http://schemas.openxmlformats.org/drawingml/2006/main">
              <a:ext uri="{FF2B5EF4-FFF2-40B4-BE49-F238E27FC236}">
                <a16:creationId xmlns:a16="http://schemas.microsoft.com/office/drawing/2014/main" id="{7317E687-50B8-4285-89C0-224E7B69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已经开始使用 Qoder</a:t>
            </a:r>
          </a:p>
        </p:txBody>
      </p:sp>
      <p:sp>
        <p:nvSpPr>
          <p:cNvPr id="9" name="item-0-0-body">
            <a:extLst xmlns:a="http://schemas.openxmlformats.org/drawingml/2006/main">
              <a:ext uri="{FF2B5EF4-FFF2-40B4-BE49-F238E27FC236}">
                <a16:creationId xmlns:a16="http://schemas.microsoft.com/office/drawing/2014/main" id="{B96A2373-589F-4F08-9BB6-097D11CB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不少同事已把 AI 用到日常工作中</a:t>
            </a:r>
          </a:p>
        </p:txBody>
      </p:sp>
      <p:sp>
        <p:nvSpPr>
          <p:cNvPr id="10" name="item-0-1-title">
            <a:extLst xmlns:a="http://schemas.openxmlformats.org/drawingml/2006/main">
              <a:ext uri="{FF2B5EF4-FFF2-40B4-BE49-F238E27FC236}">
                <a16:creationId xmlns:a16="http://schemas.microsoft.com/office/drawing/2014/main" id="{8D39BA67-705D-4088-8F9F-9F20A3F68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数据处理是主要场景</a:t>
            </a:r>
          </a:p>
        </p:txBody>
      </p:sp>
      <p:sp>
        <p:nvSpPr>
          <p:cNvPr id="11" name="item-0-1-body">
            <a:extLst xmlns:a="http://schemas.openxmlformats.org/drawingml/2006/main">
              <a:ext uri="{FF2B5EF4-FFF2-40B4-BE49-F238E27FC236}">
                <a16:creationId xmlns:a16="http://schemas.microsoft.com/office/drawing/2014/main" id="{20C4CE40-4FB2-48E2-9493-7A4918B6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整理明细、汇总报表、解释结果</a:t>
            </a:r>
          </a:p>
        </p:txBody>
      </p:sp>
      <p:sp>
        <p:nvSpPr>
          <p:cNvPr id="12" name="item-0-2-title">
            <a:extLst xmlns:a="http://schemas.openxmlformats.org/drawingml/2006/main">
              <a:ext uri="{FF2B5EF4-FFF2-40B4-BE49-F238E27FC236}">
                <a16:creationId xmlns:a16="http://schemas.microsoft.com/office/drawing/2014/main" id="{E35024E4-FCAE-4ACE-99EF-015AA5B5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主要仍通过 Chat 完成工作</a:t>
            </a:r>
          </a:p>
        </p:txBody>
      </p:sp>
      <p:sp>
        <p:nvSpPr>
          <p:cNvPr id="13" name="item-0-2-body">
            <a:extLst xmlns:a="http://schemas.openxmlformats.org/drawingml/2006/main">
              <a:ext uri="{FF2B5EF4-FFF2-40B4-BE49-F238E27FC236}">
                <a16:creationId xmlns:a16="http://schemas.microsoft.com/office/drawing/2014/main" id="{B8F9E7F4-A6C1-4EA4-9802-4FB7789C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每次重新说明需求，再反复调整</a:t>
            </a:r>
          </a:p>
        </p:txBody>
      </p:sp>
      <p:sp>
        <p:nvSpPr>
          <p:cNvPr id="14" name="item-0-3-title">
            <a:extLst xmlns:a="http://schemas.openxmlformats.org/drawingml/2006/main">
              <a:ext uri="{FF2B5EF4-FFF2-40B4-BE49-F238E27FC236}">
                <a16:creationId xmlns:a16="http://schemas.microsoft.com/office/drawing/2014/main" id="{4EB60B53-CD5D-4483-8E78-02C7D5A0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成功经验尚未稳定沉淀</a:t>
            </a:r>
          </a:p>
        </p:txBody>
      </p:sp>
      <p:sp>
        <p:nvSpPr>
          <p:cNvPr id="15" name="item-0-3-body">
            <a:extLst xmlns:a="http://schemas.openxmlformats.org/drawingml/2006/main">
              <a:ext uri="{FF2B5EF4-FFF2-40B4-BE49-F238E27FC236}">
                <a16:creationId xmlns:a16="http://schemas.microsoft.com/office/drawing/2014/main" id="{B0487311-D9CB-4111-8140-83B22C2B7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换一个 Chat，往往又要从头解释</a:t>
            </a:r>
          </a:p>
        </p:txBody>
      </p:sp>
      <p:sp>
        <p:nvSpPr>
          <p:cNvPr id="16" name="panel-1">
            <a:extLst xmlns:a="http://schemas.openxmlformats.org/drawingml/2006/main">
              <a:ext uri="{FF2B5EF4-FFF2-40B4-BE49-F238E27FC236}">
                <a16:creationId xmlns:a16="http://schemas.microsoft.com/office/drawing/2014/main" id="{A72AECEC-363D-4F15-830D-B13474BC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7" name="panel-1-label-band">
            <a:extLst xmlns:a="http://schemas.openxmlformats.org/drawingml/2006/main">
              <a:ext uri="{FF2B5EF4-FFF2-40B4-BE49-F238E27FC236}">
                <a16:creationId xmlns:a16="http://schemas.microsoft.com/office/drawing/2014/main" id="{321B785C-9B70-43F7-AC92-CA58EF0C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anel-1-label">
            <a:extLst xmlns:a="http://schemas.openxmlformats.org/drawingml/2006/main">
              <a:ext uri="{FF2B5EF4-FFF2-40B4-BE49-F238E27FC236}">
                <a16:creationId xmlns:a16="http://schemas.microsoft.com/office/drawing/2014/main" id="{CFA9EC76-DC68-4C45-9E48-45953AB34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下一步目标</a:t>
            </a:r>
          </a:p>
        </p:txBody>
      </p:sp>
      <p:sp>
        <p:nvSpPr>
          <p:cNvPr id="19" name="item-1-0-title">
            <a:extLst xmlns:a="http://schemas.openxmlformats.org/drawingml/2006/main">
              <a:ext uri="{FF2B5EF4-FFF2-40B4-BE49-F238E27FC236}">
                <a16:creationId xmlns:a16="http://schemas.microsoft.com/office/drawing/2014/main" id="{451B26E5-F7EA-4EBE-858F-C921DA7E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感知 Skill 的作用</a:t>
            </a:r>
          </a:p>
        </p:txBody>
      </p:sp>
      <p:sp>
        <p:nvSpPr>
          <p:cNvPr id="20" name="item-1-0-body">
            <a:extLst xmlns:a="http://schemas.openxmlformats.org/drawingml/2006/main">
              <a:ext uri="{FF2B5EF4-FFF2-40B4-BE49-F238E27FC236}">
                <a16:creationId xmlns:a16="http://schemas.microsoft.com/office/drawing/2014/main" id="{3036BE2E-497F-4BAA-97F0-8F69C709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看见流程和规则复用带来的价值</a:t>
            </a:r>
          </a:p>
        </p:txBody>
      </p:sp>
      <p:sp>
        <p:nvSpPr>
          <p:cNvPr id="21" name="item-1-1-title">
            <a:extLst xmlns:a="http://schemas.openxmlformats.org/drawingml/2006/main">
              <a:ext uri="{FF2B5EF4-FFF2-40B4-BE49-F238E27FC236}">
                <a16:creationId xmlns:a16="http://schemas.microsoft.com/office/drawing/2014/main" id="{8AD81EFE-A8CA-4248-867D-35B728B3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一次性完成成为可复用能力</a:t>
            </a:r>
          </a:p>
        </p:txBody>
      </p:sp>
      <p:sp>
        <p:nvSpPr>
          <p:cNvPr id="22" name="item-1-1-body">
            <a:extLst xmlns:a="http://schemas.openxmlformats.org/drawingml/2006/main">
              <a:ext uri="{FF2B5EF4-FFF2-40B4-BE49-F238E27FC236}">
                <a16:creationId xmlns:a16="http://schemas.microsoft.com/office/drawing/2014/main" id="{61D703EA-27C9-45B9-AD80-FA8D2985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把成功方法留在完整的能力包中</a:t>
            </a:r>
          </a:p>
        </p:txBody>
      </p:sp>
      <p:sp>
        <p:nvSpPr>
          <p:cNvPr id="23" name="item-1-2-title">
            <a:extLst xmlns:a="http://schemas.openxmlformats.org/drawingml/2006/main">
              <a:ext uri="{FF2B5EF4-FFF2-40B4-BE49-F238E27FC236}">
                <a16:creationId xmlns:a16="http://schemas.microsoft.com/office/drawing/2014/main" id="{58B1260D-0B97-4D45-B839-C3813C57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个人经验成为团队共同方法</a:t>
            </a:r>
          </a:p>
        </p:txBody>
      </p:sp>
      <p:sp>
        <p:nvSpPr>
          <p:cNvPr id="24" name="item-1-2-body">
            <a:extLst xmlns:a="http://schemas.openxmlformats.org/drawingml/2006/main">
              <a:ext uri="{FF2B5EF4-FFF2-40B4-BE49-F238E27FC236}">
                <a16:creationId xmlns:a16="http://schemas.microsoft.com/office/drawing/2014/main" id="{CC282948-C864-464B-AC4E-5039FDA6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让另一位同事也能按同一口径完成</a:t>
            </a:r>
          </a:p>
        </p:txBody>
      </p:sp>
      <p:sp>
        <p:nvSpPr>
          <p:cNvPr id="25" name="item-1-3-title">
            <a:extLst xmlns:a="http://schemas.openxmlformats.org/drawingml/2006/main">
              <a:ext uri="{FF2B5EF4-FFF2-40B4-BE49-F238E27FC236}">
                <a16:creationId xmlns:a16="http://schemas.microsoft.com/office/drawing/2014/main" id="{2BB16B4E-9652-4FD4-AA19-B79FC97B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形成共同的工程语言</a:t>
            </a:r>
          </a:p>
        </p:txBody>
      </p:sp>
      <p:sp>
        <p:nvSpPr>
          <p:cNvPr id="26" name="item-1-3-body">
            <a:extLst xmlns:a="http://schemas.openxmlformats.org/drawingml/2006/main">
              <a:ext uri="{FF2B5EF4-FFF2-40B4-BE49-F238E27FC236}">
                <a16:creationId xmlns:a16="http://schemas.microsoft.com/office/drawing/2014/main" id="{7BA198E1-1DA5-41A7-9FC3-0C2FDB8B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知道如何设计、执行、验证和改进</a:t>
            </a:r>
          </a:p>
        </p:txBody>
      </p:sp>
      <p:sp>
        <p:nvSpPr>
          <p:cNvPr id="27" name="flow-arrow">
            <a:extLst xmlns:a="http://schemas.openxmlformats.org/drawingml/2006/main">
              <a:ext uri="{FF2B5EF4-FFF2-40B4-BE49-F238E27FC236}">
                <a16:creationId xmlns:a16="http://schemas.microsoft.com/office/drawing/2014/main" id="{330B988F-DF09-4441-88D3-C194BA5A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05225"/>
            <a:ext cx="3429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1BF08E51-5875-4CB0-976B-EE89339C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6B63D0E7-5CBF-4ED8-B765-BDC106D9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把 Chat 中成功的方法沉淀为 Skill，再通过验证与复用完善它。</a:t>
            </a:r>
          </a:p>
        </p:txBody>
      </p:sp>
      <p:sp>
        <p:nvSpPr>
          <p:cNvPr id="30" name="byline">
            <a:extLst xmlns:a="http://schemas.openxmlformats.org/drawingml/2006/main">
              <a:ext uri="{FF2B5EF4-FFF2-40B4-BE49-F238E27FC236}">
                <a16:creationId xmlns:a16="http://schemas.microsoft.com/office/drawing/2014/main" id="{329FCD2E-F5D5-4990-A656-21BC99E9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1" name="page">
            <a:extLst xmlns:a="http://schemas.openxmlformats.org/drawingml/2006/main">
              <a:ext uri="{FF2B5EF4-FFF2-40B4-BE49-F238E27FC236}">
                <a16:creationId xmlns:a16="http://schemas.microsoft.com/office/drawing/2014/main" id="{4867B877-C064-450C-ABEF-2C8C97AD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01 / 09</a:t>
            </a:r>
          </a:p>
        </p:txBody>
      </p:sp>
    </p:spTree>
    <p:extLst>
      <p:ext uri="{BB962C8B-B14F-4D97-AF65-F5344CB8AC3E}">
        <p14:creationId xmlns:p14="http://schemas.microsoft.com/office/powerpoint/2010/main" val="12320567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330BD3-AA30-449C-86F2-BED09AEFF9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91b139dd404b8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BEF26419-7A0C-4614-9172-3610A7E8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027417-1A63-474E-BF2E-5DB653019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从一次数据处理任务说起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8FBCE760-1091-48B0-B2C8-5C8454A4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拿到下面这份工单明细，怎样让 AI 把它整理成 10 月 10 日的日报？</a:t>
            </a:r>
          </a:p>
        </p:txBody>
      </p:sp>
      <p:sp>
        <p:nvSpPr>
          <p:cNvPr id="5" name="input-label">
            <a:extLst xmlns:a="http://schemas.openxmlformats.org/drawingml/2006/main">
              <a:ext uri="{FF2B5EF4-FFF2-40B4-BE49-F238E27FC236}">
                <a16:creationId xmlns:a16="http://schemas.microsoft.com/office/drawing/2014/main" id="{0EB7A408-7D5F-4461-A810-5C30CC57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输入：7 行虚构工单明细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1200BC-2146-4E67-8B87-2D0449FED6F9}"/>
              </a:ext>
            </a:extLst>
          </p:cNvPr>
          <p:cNvGraphicFramePr/>
          <p:nvPr/>
        </p:nvGraphicFramePr>
        <p:xfrm>
          <a:off xmlns:a="http://schemas.openxmlformats.org/drawingml/2006/main" x="457200" y="2781300"/>
          <a:ext xmlns:a="http://schemas.openxmlformats.org/drawingml/2006/main" cx="5619750" cy="2543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04875"/>
                <a:gridCol w="1676400"/>
                <a:gridCol w="1285875"/>
                <a:gridCol w="1752600"/>
              </a:tblGrid>
              <a:tr h="342900"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工单 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创建日期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状态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耗时 / 分钟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60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45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T006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ample-note">
            <a:extLst xmlns:a="http://schemas.openxmlformats.org/drawingml/2006/main">
              <a:ext uri="{FF2B5EF4-FFF2-40B4-BE49-F238E27FC236}">
                <a16:creationId xmlns:a16="http://schemas.microsoft.com/office/drawing/2014/main" id="{A47AE815-0630-422C-AF2B-8F26A5A9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5619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T004 重复一行；T006 属于 10 月 11 日。</a:t>
            </a:r>
          </a:p>
        </p:txBody>
      </p:sp>
      <p:sp>
        <p:nvSpPr>
          <p:cNvPr id="8" name="sample-task">
            <a:extLst xmlns:a="http://schemas.openxmlformats.org/drawingml/2006/main">
              <a:ext uri="{FF2B5EF4-FFF2-40B4-BE49-F238E27FC236}">
                <a16:creationId xmlns:a16="http://schemas.microsoft.com/office/drawing/2014/main" id="{9255375E-B91B-4A1A-8756-29EA7491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9" name="sample-task-label-band">
            <a:extLst xmlns:a="http://schemas.openxmlformats.org/drawingml/2006/main">
              <a:ext uri="{FF2B5EF4-FFF2-40B4-BE49-F238E27FC236}">
                <a16:creationId xmlns:a16="http://schemas.microsoft.com/office/drawing/2014/main" id="{C58A076F-B647-4D65-B810-3AF3A747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0" name="sample-task-label">
            <a:extLst xmlns:a="http://schemas.openxmlformats.org/drawingml/2006/main">
              <a:ext uri="{FF2B5EF4-FFF2-40B4-BE49-F238E27FC236}">
                <a16:creationId xmlns:a16="http://schemas.microsoft.com/office/drawing/2014/main" id="{2ABF4E2A-3DBC-4C5D-A644-834F1756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495550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交给 AI 的任务</a:t>
            </a:r>
          </a:p>
        </p:txBody>
      </p:sp>
      <p:sp>
        <p:nvSpPr>
          <p:cNvPr id="11" name="sample-task-body">
            <a:extLst xmlns:a="http://schemas.openxmlformats.org/drawingml/2006/main">
              <a:ext uri="{FF2B5EF4-FFF2-40B4-BE49-F238E27FC236}">
                <a16:creationId xmlns:a16="http://schemas.microsoft.com/office/drawing/2014/main" id="{DFD8F5EF-B3E0-44B0-9731-78B07EF7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0375"/>
            <a:ext cx="49625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请统计 10 月 10 日创建的工单。相同 ID 完全一致时保留一条，日期、状态或耗时不一致时停下来等我确认。告诉我总数、完成数、待处理数和完成单平均耗时。</a:t>
            </a:r>
          </a:p>
        </p:txBody>
      </p:sp>
      <p:sp>
        <p:nvSpPr>
          <p:cNvPr id="12" name="sample-output">
            <a:extLst xmlns:a="http://schemas.openxmlformats.org/drawingml/2006/main">
              <a:ext uri="{FF2B5EF4-FFF2-40B4-BE49-F238E27FC236}">
                <a16:creationId xmlns:a16="http://schemas.microsoft.com/office/drawing/2014/main" id="{147F09EF-8304-4178-9FD5-E6F9322D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ample-output-label-band">
            <a:extLst xmlns:a="http://schemas.openxmlformats.org/drawingml/2006/main">
              <a:ext uri="{FF2B5EF4-FFF2-40B4-BE49-F238E27FC236}">
                <a16:creationId xmlns:a16="http://schemas.microsoft.com/office/drawing/2014/main" id="{FCC5FDEB-B7AA-49E1-83D1-1BECC9BF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sample-output-label">
            <a:extLst xmlns:a="http://schemas.openxmlformats.org/drawingml/2006/main">
              <a:ext uri="{FF2B5EF4-FFF2-40B4-BE49-F238E27FC236}">
                <a16:creationId xmlns:a16="http://schemas.microsoft.com/office/drawing/2014/main" id="{BD7E1E94-DBBD-43D8-918E-61DC486A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14825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应该交回的日报</a:t>
            </a:r>
          </a:p>
        </p:txBody>
      </p:sp>
      <p:sp>
        <p:nvSpPr>
          <p:cNvPr id="15" name="sample-output-0">
            <a:extLst xmlns:a="http://schemas.openxmlformats.org/drawingml/2006/main">
              <a:ext uri="{FF2B5EF4-FFF2-40B4-BE49-F238E27FC236}">
                <a16:creationId xmlns:a16="http://schemas.microsoft.com/office/drawing/2014/main" id="{53406FBE-7FFA-4B5F-BC7A-179A1CD1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8101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5 单：完成 3 单，待处理 2 单</a:t>
            </a:r>
          </a:p>
        </p:txBody>
      </p:sp>
      <p:sp>
        <p:nvSpPr>
          <p:cNvPr id="16" name="sample-output-1">
            <a:extLst xmlns:a="http://schemas.openxmlformats.org/drawingml/2006/main">
              <a:ext uri="{FF2B5EF4-FFF2-40B4-BE49-F238E27FC236}">
                <a16:creationId xmlns:a16="http://schemas.microsoft.com/office/drawing/2014/main" id="{C31A7AA8-25EC-4A7D-B7F9-B52A051E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1530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完成单平均：(60 + 45 + 90) ÷ 3 = 65 分钟</a:t>
            </a:r>
          </a:p>
        </p:txBody>
      </p:sp>
      <p:sp>
        <p:nvSpPr>
          <p:cNvPr id="1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DAA40D26-F4E5-4317-814D-494B11033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takeaway">
            <a:extLst xmlns:a="http://schemas.openxmlformats.org/drawingml/2006/main">
              <a:ext uri="{FF2B5EF4-FFF2-40B4-BE49-F238E27FC236}">
                <a16:creationId xmlns:a16="http://schemas.microsoft.com/office/drawing/2014/main" id="{184FA875-F7DF-423E-8CD1-EE8636BD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这份明细要变成一份日报：去重、按创建日期筛选，再统计数量与完成单平均耗时。</a:t>
            </a:r>
          </a:p>
        </p:txBody>
      </p:sp>
      <p:sp>
        <p:nvSpPr>
          <p:cNvPr id="19" name="byline">
            <a:extLst xmlns:a="http://schemas.openxmlformats.org/drawingml/2006/main">
              <a:ext uri="{FF2B5EF4-FFF2-40B4-BE49-F238E27FC236}">
                <a16:creationId xmlns:a16="http://schemas.microsoft.com/office/drawing/2014/main" id="{14609374-B6D7-47C4-9A64-FEE8F86E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0" name="page">
            <a:extLst xmlns:a="http://schemas.openxmlformats.org/drawingml/2006/main">
              <a:ext uri="{FF2B5EF4-FFF2-40B4-BE49-F238E27FC236}">
                <a16:creationId xmlns:a16="http://schemas.microsoft.com/office/drawing/2014/main" id="{B5820E6E-6ABE-423F-9E38-C5C75CE6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02 / 09</a:t>
            </a:r>
          </a:p>
        </p:txBody>
      </p:sp>
    </p:spTree>
    <p:extLst>
      <p:ext uri="{BB962C8B-B14F-4D97-AF65-F5344CB8AC3E}">
        <p14:creationId xmlns:p14="http://schemas.microsoft.com/office/powerpoint/2010/main" val="6822540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EBA134-FFEB-4DD2-B7EA-793E043441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551f14542c433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44FBA10E-F697-49C5-A2A7-DA8CE558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0B5F01F-4060-472E-A586-3FDD7FD3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Chat、Skill、Skill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B21CCD3B-2C5B-4881-8C53-0DFFD7F5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把一次成功的任务，转化成能跨对话复用、执行关键操作、具备验证机制的工作能力。</a:t>
            </a:r>
          </a:p>
        </p:txBody>
      </p:sp>
      <p:sp>
        <p:nvSpPr>
          <p:cNvPr id="5" name="formula-panel">
            <a:extLst xmlns:a="http://schemas.openxmlformats.org/drawingml/2006/main">
              <a:ext uri="{FF2B5EF4-FFF2-40B4-BE49-F238E27FC236}">
                <a16:creationId xmlns:a16="http://schemas.microsoft.com/office/drawing/2014/main" id="{844B401B-800E-420D-AF6B-11F36438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43150"/>
            <a:ext cx="11277600" cy="94297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formula">
            <a:extLst xmlns:a="http://schemas.openxmlformats.org/drawingml/2006/main">
              <a:ext uri="{FF2B5EF4-FFF2-40B4-BE49-F238E27FC236}">
                <a16:creationId xmlns:a16="http://schemas.microsoft.com/office/drawing/2014/main" id="{2D1968A0-4C4F-4E0E-8215-B23A9C39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 = Skill Design + Deterministic Execution + Validation + Evaluation + Reuse</a:t>
            </a:r>
          </a:p>
        </p:txBody>
      </p:sp>
      <p:sp>
        <p:nvSpPr>
          <p:cNvPr id="7" name="formula-zh-0">
            <a:extLst xmlns:a="http://schemas.openxmlformats.org/drawingml/2006/main">
              <a:ext uri="{FF2B5EF4-FFF2-40B4-BE49-F238E27FC236}">
                <a16:creationId xmlns:a16="http://schemas.microsoft.com/office/drawing/2014/main" id="{6467B0F3-A1F1-4868-84D9-C1F39860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技能设计</a:t>
            </a:r>
          </a:p>
        </p:txBody>
      </p:sp>
      <p:sp>
        <p:nvSpPr>
          <p:cNvPr id="8" name="formula-zh-1">
            <a:extLst xmlns:a="http://schemas.openxmlformats.org/drawingml/2006/main">
              <a:ext uri="{FF2B5EF4-FFF2-40B4-BE49-F238E27FC236}">
                <a16:creationId xmlns:a16="http://schemas.microsoft.com/office/drawing/2014/main" id="{B1DBE232-2FE0-4D3C-83B7-29128661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确定性执行</a:t>
            </a:r>
          </a:p>
        </p:txBody>
      </p:sp>
      <p:sp>
        <p:nvSpPr>
          <p:cNvPr id="9" name="formula-zh-2">
            <a:extLst xmlns:a="http://schemas.openxmlformats.org/drawingml/2006/main">
              <a:ext uri="{FF2B5EF4-FFF2-40B4-BE49-F238E27FC236}">
                <a16:creationId xmlns:a16="http://schemas.microsoft.com/office/drawing/2014/main" id="{B6C28CD9-7725-4CB1-875D-9C4C57EA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结果验证</a:t>
            </a:r>
          </a:p>
        </p:txBody>
      </p:sp>
      <p:sp>
        <p:nvSpPr>
          <p:cNvPr id="10" name="formula-zh-3">
            <a:extLst xmlns:a="http://schemas.openxmlformats.org/drawingml/2006/main">
              <a:ext uri="{FF2B5EF4-FFF2-40B4-BE49-F238E27FC236}">
                <a16:creationId xmlns:a16="http://schemas.microsoft.com/office/drawing/2014/main" id="{A780348D-2635-4501-890F-E4341060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效果评估</a:t>
            </a:r>
          </a:p>
        </p:txBody>
      </p:sp>
      <p:sp>
        <p:nvSpPr>
          <p:cNvPr id="11" name="formula-zh-4">
            <a:extLst xmlns:a="http://schemas.openxmlformats.org/drawingml/2006/main">
              <a:ext uri="{FF2B5EF4-FFF2-40B4-BE49-F238E27FC236}">
                <a16:creationId xmlns:a16="http://schemas.microsoft.com/office/drawing/2014/main" id="{3E1C4977-CF2F-427E-AB82-E6EC03D6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复用传播</a:t>
            </a:r>
          </a:p>
        </p:txBody>
      </p:sp>
      <p:sp>
        <p:nvSpPr>
          <p:cNvPr id="12" name="progression-0">
            <a:extLst xmlns:a="http://schemas.openxmlformats.org/drawingml/2006/main">
              <a:ext uri="{FF2B5EF4-FFF2-40B4-BE49-F238E27FC236}">
                <a16:creationId xmlns:a16="http://schemas.microsoft.com/office/drawing/2014/main" id="{DEC34909-8C16-41FA-AF79-1C87FF70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progression-0-title">
            <a:extLst xmlns:a="http://schemas.openxmlformats.org/drawingml/2006/main">
              <a:ext uri="{FF2B5EF4-FFF2-40B4-BE49-F238E27FC236}">
                <a16:creationId xmlns:a16="http://schemas.microsoft.com/office/drawing/2014/main" id="{B91FD561-C116-4F4E-B63E-38A4C903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 使用</a:t>
            </a:r>
          </a:p>
        </p:txBody>
      </p:sp>
      <p:sp>
        <p:nvSpPr>
          <p:cNvPr id="14" name="progression-0-sub">
            <a:extLst xmlns:a="http://schemas.openxmlformats.org/drawingml/2006/main">
              <a:ext uri="{FF2B5EF4-FFF2-40B4-BE49-F238E27FC236}">
                <a16:creationId xmlns:a16="http://schemas.microsoft.com/office/drawing/2014/main" id="{1F6AC83B-2042-40B9-BAF3-F71BE10D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单次完成任务</a:t>
            </a:r>
          </a:p>
        </p:txBody>
      </p:sp>
      <p:sp>
        <p:nvSpPr>
          <p:cNvPr id="15" name="progression-0-body">
            <a:extLst xmlns:a="http://schemas.openxmlformats.org/drawingml/2006/main">
              <a:ext uri="{FF2B5EF4-FFF2-40B4-BE49-F238E27FC236}">
                <a16:creationId xmlns:a16="http://schemas.microsoft.com/office/drawing/2014/main" id="{C29EFA4B-6047-465A-B8AC-9465B63A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提出问题，获得答案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解决当下的任务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66BBAAA1-6205-474C-91D7-3BEC8244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ogression-1">
            <a:extLst xmlns:a="http://schemas.openxmlformats.org/drawingml/2006/main">
              <a:ext uri="{FF2B5EF4-FFF2-40B4-BE49-F238E27FC236}">
                <a16:creationId xmlns:a16="http://schemas.microsoft.com/office/drawing/2014/main" id="{FF6B9AEC-5E0B-4014-BB85-AC99B78A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rogression-1-title">
            <a:extLst xmlns:a="http://schemas.openxmlformats.org/drawingml/2006/main">
              <a:ext uri="{FF2B5EF4-FFF2-40B4-BE49-F238E27FC236}">
                <a16:creationId xmlns:a16="http://schemas.microsoft.com/office/drawing/2014/main" id="{EE402384-9032-4B4A-AD89-5C769FC9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使用</a:t>
            </a:r>
          </a:p>
        </p:txBody>
      </p:sp>
      <p:sp>
        <p:nvSpPr>
          <p:cNvPr id="19" name="progression-1-sub">
            <a:extLst xmlns:a="http://schemas.openxmlformats.org/drawingml/2006/main">
              <a:ext uri="{FF2B5EF4-FFF2-40B4-BE49-F238E27FC236}">
                <a16:creationId xmlns:a16="http://schemas.microsoft.com/office/drawing/2014/main" id="{A45AC7D3-2E24-49BB-96AB-9FF83E92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复用已有能力</a:t>
            </a:r>
          </a:p>
        </p:txBody>
      </p:sp>
      <p:sp>
        <p:nvSpPr>
          <p:cNvPr id="20" name="progression-1-body">
            <a:extLst xmlns:a="http://schemas.openxmlformats.org/drawingml/2006/main">
              <a:ext uri="{FF2B5EF4-FFF2-40B4-BE49-F238E27FC236}">
                <a16:creationId xmlns:a16="http://schemas.microsoft.com/office/drawing/2014/main" id="{CC15540F-2DE6-41F9-8B69-E6992792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调用已沉淀的流程和资源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按约定方法完成任务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1CE3E313-2C1B-4A0C-97D4-4B34CA02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rogression-2">
            <a:extLst xmlns:a="http://schemas.openxmlformats.org/drawingml/2006/main">
              <a:ext uri="{FF2B5EF4-FFF2-40B4-BE49-F238E27FC236}">
                <a16:creationId xmlns:a16="http://schemas.microsoft.com/office/drawing/2014/main" id="{44906FF1-3187-4054-9D63-52B26225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progression-2-title">
            <a:extLst xmlns:a="http://schemas.openxmlformats.org/drawingml/2006/main">
              <a:ext uri="{FF2B5EF4-FFF2-40B4-BE49-F238E27FC236}">
                <a16:creationId xmlns:a16="http://schemas.microsoft.com/office/drawing/2014/main" id="{F4442912-F1A3-4866-A7B5-B75C2E53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</a:t>
            </a:r>
          </a:p>
        </p:txBody>
      </p:sp>
      <p:sp>
        <p:nvSpPr>
          <p:cNvPr id="24" name="progression-2-sub">
            <a:extLst xmlns:a="http://schemas.openxmlformats.org/drawingml/2006/main">
              <a:ext uri="{FF2B5EF4-FFF2-40B4-BE49-F238E27FC236}">
                <a16:creationId xmlns:a16="http://schemas.microsoft.com/office/drawing/2014/main" id="{2429E8EB-B0D7-4938-A68B-11C77ACC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工程化沉淀与持续优化</a:t>
            </a:r>
          </a:p>
        </p:txBody>
      </p:sp>
      <p:sp>
        <p:nvSpPr>
          <p:cNvPr id="25" name="progression-2-body">
            <a:extLst xmlns:a="http://schemas.openxmlformats.org/drawingml/2006/main">
              <a:ext uri="{FF2B5EF4-FFF2-40B4-BE49-F238E27FC236}">
                <a16:creationId xmlns:a16="http://schemas.microsoft.com/office/drawing/2014/main" id="{91F13B49-CAD0-4932-A3AD-8A5F1D6A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分清规则、实现与验证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换对话、换数据、换人复用</a:t>
            </a:r>
          </a:p>
        </p:txBody>
      </p:sp>
      <p:sp>
        <p:nvSpPr>
          <p:cNvPr id="2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FB36D363-ED3D-4144-ABA7-571D6EDC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takeaway">
            <a:extLst xmlns:a="http://schemas.openxmlformats.org/drawingml/2006/main">
              <a:ext uri="{FF2B5EF4-FFF2-40B4-BE49-F238E27FC236}">
                <a16:creationId xmlns:a16="http://schemas.microsoft.com/office/drawing/2014/main" id="{F15B6A79-3351-4D73-8CD2-03D9E53C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更稳定：新 Chat 也能复现。更可靠：关键计算可验证。更高效：团队可复用、可传播。</a:t>
            </a:r>
          </a:p>
        </p:txBody>
      </p:sp>
      <p:sp>
        <p:nvSpPr>
          <p:cNvPr id="28" name="byline">
            <a:extLst xmlns:a="http://schemas.openxmlformats.org/drawingml/2006/main">
              <a:ext uri="{FF2B5EF4-FFF2-40B4-BE49-F238E27FC236}">
                <a16:creationId xmlns:a16="http://schemas.microsoft.com/office/drawing/2014/main" id="{05FBA665-FB8D-4CD7-B434-B81393596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9" name="page">
            <a:extLst xmlns:a="http://schemas.openxmlformats.org/drawingml/2006/main">
              <a:ext uri="{FF2B5EF4-FFF2-40B4-BE49-F238E27FC236}">
                <a16:creationId xmlns:a16="http://schemas.microsoft.com/office/drawing/2014/main" id="{F040075C-DAA5-490D-AF08-E2C98323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03 / 09</a:t>
            </a:r>
          </a:p>
        </p:txBody>
      </p:sp>
    </p:spTree>
    <p:extLst>
      <p:ext uri="{BB962C8B-B14F-4D97-AF65-F5344CB8AC3E}">
        <p14:creationId xmlns:p14="http://schemas.microsoft.com/office/powerpoint/2010/main" val="1333488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5F7CBE-74A7-4F6D-BE00-AE7E0E4DE4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318137a0f34fe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43030017-2DFD-471A-8911-A4346DA2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89A9AB-7FAD-4DDC-9FC6-5F1DC000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一个数据处理 Skill 的两个部分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15C883A8-E6B5-41B2-8BCF-00FDA68E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Workflow 安排任务怎样推进，Data Processing 完成数据的解析、转换与计算。</a:t>
            </a:r>
          </a:p>
        </p:txBody>
      </p:sp>
      <p:sp>
        <p:nvSpPr>
          <p:cNvPr id="5" name="workflow-label-band">
            <a:extLst xmlns:a="http://schemas.openxmlformats.org/drawingml/2006/main">
              <a:ext uri="{FF2B5EF4-FFF2-40B4-BE49-F238E27FC236}">
                <a16:creationId xmlns:a16="http://schemas.microsoft.com/office/drawing/2014/main" id="{C431FDE8-753A-4BDD-985C-F6E0365C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3625"/>
            <a:ext cx="112776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workflow-label">
            <a:extLst xmlns:a="http://schemas.openxmlformats.org/drawingml/2006/main">
              <a:ext uri="{FF2B5EF4-FFF2-40B4-BE49-F238E27FC236}">
                <a16:creationId xmlns:a16="http://schemas.microsoft.com/office/drawing/2014/main" id="{E49F334F-1A62-4132-B153-868CF5DA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09825"/>
            <a:ext cx="1093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Workflow：任务怎样推进</a:t>
            </a:r>
          </a:p>
        </p:txBody>
      </p:sp>
      <p:sp>
        <p:nvSpPr>
          <p:cNvPr id="7" name="step-0">
            <a:extLst xmlns:a="http://schemas.openxmlformats.org/drawingml/2006/main">
              <a:ext uri="{FF2B5EF4-FFF2-40B4-BE49-F238E27FC236}">
                <a16:creationId xmlns:a16="http://schemas.microsoft.com/office/drawing/2014/main" id="{32612DAA-AB63-4E75-8581-0711A9DD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8" name="step-0-number">
            <a:extLst xmlns:a="http://schemas.openxmlformats.org/drawingml/2006/main">
              <a:ext uri="{FF2B5EF4-FFF2-40B4-BE49-F238E27FC236}">
                <a16:creationId xmlns:a16="http://schemas.microsoft.com/office/drawing/2014/main" id="{B5BFAEF8-DED1-4DF3-A341-351DC0EA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step-0-title">
            <a:extLst xmlns:a="http://schemas.openxmlformats.org/drawingml/2006/main">
              <a:ext uri="{FF2B5EF4-FFF2-40B4-BE49-F238E27FC236}">
                <a16:creationId xmlns:a16="http://schemas.microsoft.com/office/drawing/2014/main" id="{9F4E4CAE-BC83-474E-A8F3-E7A29A3F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理解任务</a:t>
            </a:r>
          </a:p>
        </p:txBody>
      </p:sp>
      <p:sp>
        <p:nvSpPr>
          <p:cNvPr id="10" name="step-0-body">
            <a:extLst xmlns:a="http://schemas.openxmlformats.org/drawingml/2006/main">
              <a:ext uri="{FF2B5EF4-FFF2-40B4-BE49-F238E27FC236}">
                <a16:creationId xmlns:a16="http://schemas.microsoft.com/office/drawing/2014/main" id="{06C2C280-3C16-4752-988E-C3517B7A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确认目标与业务规则</a:t>
            </a:r>
          </a:p>
        </p:txBody>
      </p:sp>
      <p:sp>
        <p:nvSpPr>
          <p:cNvPr id="11" name="flow-arrow">
            <a:extLst xmlns:a="http://schemas.openxmlformats.org/drawingml/2006/main">
              <a:ext uri="{FF2B5EF4-FFF2-40B4-BE49-F238E27FC236}">
                <a16:creationId xmlns:a16="http://schemas.microsoft.com/office/drawing/2014/main" id="{A9468C3B-9A91-45C5-8181-550661F2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3853F158-89C1-49A5-9200-FDD2D481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tep-1-number">
            <a:extLst xmlns:a="http://schemas.openxmlformats.org/drawingml/2006/main">
              <a:ext uri="{FF2B5EF4-FFF2-40B4-BE49-F238E27FC236}">
                <a16:creationId xmlns:a16="http://schemas.microsoft.com/office/drawing/2014/main" id="{7EF412B7-E429-4BEB-AE41-E072892B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4" name="step-1-title">
            <a:extLst xmlns:a="http://schemas.openxmlformats.org/drawingml/2006/main">
              <a:ext uri="{FF2B5EF4-FFF2-40B4-BE49-F238E27FC236}">
                <a16:creationId xmlns:a16="http://schemas.microsoft.com/office/drawing/2014/main" id="{82B3EA0F-94E9-4BE4-8D11-59BF027B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检查输入</a:t>
            </a:r>
          </a:p>
        </p:txBody>
      </p:sp>
      <p:sp>
        <p:nvSpPr>
          <p:cNvPr id="15" name="step-1-body">
            <a:extLst xmlns:a="http://schemas.openxmlformats.org/drawingml/2006/main">
              <a:ext uri="{FF2B5EF4-FFF2-40B4-BE49-F238E27FC236}">
                <a16:creationId xmlns:a16="http://schemas.microsoft.com/office/drawing/2014/main" id="{B5EA6398-ED11-41BA-8EFA-CE013E20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核对字段、类型、日期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B4CB2AE5-8748-48D5-BA99-6DF29B1F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tep-2">
            <a:extLst xmlns:a="http://schemas.openxmlformats.org/drawingml/2006/main">
              <a:ext uri="{FF2B5EF4-FFF2-40B4-BE49-F238E27FC236}">
                <a16:creationId xmlns:a16="http://schemas.microsoft.com/office/drawing/2014/main" id="{C2220153-2815-420F-80BD-7CEF44BB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step-2-number">
            <a:extLst xmlns:a="http://schemas.openxmlformats.org/drawingml/2006/main">
              <a:ext uri="{FF2B5EF4-FFF2-40B4-BE49-F238E27FC236}">
                <a16:creationId xmlns:a16="http://schemas.microsoft.com/office/drawing/2014/main" id="{BEBFE2AB-0B7D-41A7-A2EF-89CCAB8B8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9" name="step-2-title">
            <a:extLst xmlns:a="http://schemas.openxmlformats.org/drawingml/2006/main">
              <a:ext uri="{FF2B5EF4-FFF2-40B4-BE49-F238E27FC236}">
                <a16:creationId xmlns:a16="http://schemas.microsoft.com/office/drawing/2014/main" id="{84A78B1D-D90A-4BF9-AF3C-70F79CE4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执行处理</a:t>
            </a:r>
          </a:p>
        </p:txBody>
      </p:sp>
      <p:sp>
        <p:nvSpPr>
          <p:cNvPr id="20" name="step-2-body">
            <a:extLst xmlns:a="http://schemas.openxmlformats.org/drawingml/2006/main">
              <a:ext uri="{FF2B5EF4-FFF2-40B4-BE49-F238E27FC236}">
                <a16:creationId xmlns:a16="http://schemas.microsoft.com/office/drawing/2014/main" id="{1E294615-3B4C-4CF2-B0F1-E7C80798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筛选、关联、去重、汇总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9CE825DC-C493-4909-AEF7-240C3139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ep-3">
            <a:extLst xmlns:a="http://schemas.openxmlformats.org/drawingml/2006/main">
              <a:ext uri="{FF2B5EF4-FFF2-40B4-BE49-F238E27FC236}">
                <a16:creationId xmlns:a16="http://schemas.microsoft.com/office/drawing/2014/main" id="{4906FB13-D725-4D22-9C8D-C92E4784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step-3-number">
            <a:extLst xmlns:a="http://schemas.openxmlformats.org/drawingml/2006/main">
              <a:ext uri="{FF2B5EF4-FFF2-40B4-BE49-F238E27FC236}">
                <a16:creationId xmlns:a16="http://schemas.microsoft.com/office/drawing/2014/main" id="{A9C4FE01-5CFD-4ED8-9768-D0C633D3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4" name="step-3-title">
            <a:extLst xmlns:a="http://schemas.openxmlformats.org/drawingml/2006/main">
              <a:ext uri="{FF2B5EF4-FFF2-40B4-BE49-F238E27FC236}">
                <a16:creationId xmlns:a16="http://schemas.microsoft.com/office/drawing/2014/main" id="{30106ACD-149A-4DE1-9557-5F60FC601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验证结果</a:t>
            </a:r>
          </a:p>
        </p:txBody>
      </p:sp>
      <p:sp>
        <p:nvSpPr>
          <p:cNvPr id="25" name="step-3-body">
            <a:extLst xmlns:a="http://schemas.openxmlformats.org/drawingml/2006/main">
              <a:ext uri="{FF2B5EF4-FFF2-40B4-BE49-F238E27FC236}">
                <a16:creationId xmlns:a16="http://schemas.microsoft.com/office/drawing/2014/main" id="{7FC13AF8-0FF1-4FA3-A0B8-D099FC9E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每次核对，失败停止</a:t>
            </a:r>
          </a:p>
        </p:txBody>
      </p:sp>
      <p:sp>
        <p:nvSpPr>
          <p:cNvPr id="26" name="flow-arrow">
            <a:extLst xmlns:a="http://schemas.openxmlformats.org/drawingml/2006/main">
              <a:ext uri="{FF2B5EF4-FFF2-40B4-BE49-F238E27FC236}">
                <a16:creationId xmlns:a16="http://schemas.microsoft.com/office/drawing/2014/main" id="{F77CC430-41B4-4616-83E7-C35FCA83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ep-4">
            <a:extLst xmlns:a="http://schemas.openxmlformats.org/drawingml/2006/main">
              <a:ext uri="{FF2B5EF4-FFF2-40B4-BE49-F238E27FC236}">
                <a16:creationId xmlns:a16="http://schemas.microsoft.com/office/drawing/2014/main" id="{E5FF4121-4217-4CED-A3A1-0EAB37F7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8" name="step-4-number">
            <a:extLst xmlns:a="http://schemas.openxmlformats.org/drawingml/2006/main">
              <a:ext uri="{FF2B5EF4-FFF2-40B4-BE49-F238E27FC236}">
                <a16:creationId xmlns:a16="http://schemas.microsoft.com/office/drawing/2014/main" id="{52E554EE-EDC3-4B06-9A7A-321A42D6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05</a:t>
            </a:r>
          </a:p>
        </p:txBody>
      </p:sp>
      <p:sp>
        <p:nvSpPr>
          <p:cNvPr id="29" name="step-4-title">
            <a:extLst xmlns:a="http://schemas.openxmlformats.org/drawingml/2006/main">
              <a:ext uri="{FF2B5EF4-FFF2-40B4-BE49-F238E27FC236}">
                <a16:creationId xmlns:a16="http://schemas.microsoft.com/office/drawing/2014/main" id="{C7FAAB9C-5615-42B2-BBB9-C3CB8CE9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分析交付</a:t>
            </a:r>
          </a:p>
        </p:txBody>
      </p:sp>
      <p:sp>
        <p:nvSpPr>
          <p:cNvPr id="30" name="step-4-body">
            <a:extLst xmlns:a="http://schemas.openxmlformats.org/drawingml/2006/main">
              <a:ext uri="{FF2B5EF4-FFF2-40B4-BE49-F238E27FC236}">
                <a16:creationId xmlns:a16="http://schemas.microsoft.com/office/drawing/2014/main" id="{B48F96AC-5DD7-4168-B9D5-AA35BD02E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解释结果并交付报表</a:t>
            </a:r>
          </a:p>
        </p:txBody>
      </p:sp>
      <p:sp>
        <p:nvSpPr>
          <p:cNvPr id="31" name="workflow-part-0">
            <a:extLst xmlns:a="http://schemas.openxmlformats.org/drawingml/2006/main">
              <a:ext uri="{FF2B5EF4-FFF2-40B4-BE49-F238E27FC236}">
                <a16:creationId xmlns:a16="http://schemas.microsoft.com/office/drawing/2014/main" id="{E031F4E2-AA77-4F7A-8AE2-28EECD55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2" name="workflow-part-0-label">
            <a:extLst xmlns:a="http://schemas.openxmlformats.org/drawingml/2006/main">
              <a:ext uri="{FF2B5EF4-FFF2-40B4-BE49-F238E27FC236}">
                <a16:creationId xmlns:a16="http://schemas.microsoft.com/office/drawing/2014/main" id="{F91C648F-6948-4B5F-89CF-3E88AF09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Workflow（工作流）</a:t>
            </a:r>
          </a:p>
        </p:txBody>
      </p:sp>
      <p:sp>
        <p:nvSpPr>
          <p:cNvPr id="33" name="workflow-part-0-body">
            <a:extLst xmlns:a="http://schemas.openxmlformats.org/drawingml/2006/main">
              <a:ext uri="{FF2B5EF4-FFF2-40B4-BE49-F238E27FC236}">
                <a16:creationId xmlns:a16="http://schemas.microsoft.com/office/drawing/2014/main" id="{E91DD8B4-AF2B-47FF-9C8F-A25CB4E4D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决定步骤顺序、如何处理歧义、何时继续、何时停止。</a:t>
            </a:r>
          </a:p>
        </p:txBody>
      </p:sp>
      <p:sp>
        <p:nvSpPr>
          <p:cNvPr id="34" name="workflow-part-1">
            <a:extLst xmlns:a="http://schemas.openxmlformats.org/drawingml/2006/main">
              <a:ext uri="{FF2B5EF4-FFF2-40B4-BE49-F238E27FC236}">
                <a16:creationId xmlns:a16="http://schemas.microsoft.com/office/drawing/2014/main" id="{0FD047D2-B143-4E4B-98B8-9B92A8627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5" name="workflow-part-1-label">
            <a:extLst xmlns:a="http://schemas.openxmlformats.org/drawingml/2006/main">
              <a:ext uri="{FF2B5EF4-FFF2-40B4-BE49-F238E27FC236}">
                <a16:creationId xmlns:a16="http://schemas.microsoft.com/office/drawing/2014/main" id="{BF2E21CA-09A1-4D96-B7D3-D799F776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Data Processing（数据处理）</a:t>
            </a:r>
          </a:p>
        </p:txBody>
      </p:sp>
      <p:sp>
        <p:nvSpPr>
          <p:cNvPr id="36" name="workflow-part-1-body">
            <a:extLst xmlns:a="http://schemas.openxmlformats.org/drawingml/2006/main">
              <a:ext uri="{FF2B5EF4-FFF2-40B4-BE49-F238E27FC236}">
                <a16:creationId xmlns:a16="http://schemas.microsoft.com/office/drawing/2014/main" id="{3E277326-AEC1-4C90-98BB-48C420C59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按确认的规则完成运算，并返回结果、异常与校验信息。</a:t>
            </a:r>
          </a:p>
        </p:txBody>
      </p:sp>
      <p:sp>
        <p:nvSpPr>
          <p:cNvPr id="3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04106C49-CA2D-473C-9C37-D23728C9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8" name="takeaway">
            <a:extLst xmlns:a="http://schemas.openxmlformats.org/drawingml/2006/main">
              <a:ext uri="{FF2B5EF4-FFF2-40B4-BE49-F238E27FC236}">
                <a16:creationId xmlns:a16="http://schemas.microsoft.com/office/drawing/2014/main" id="{285D20A8-F80A-4B36-87DF-6D02E83C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Workflow 安排执行与停止；每次运行通过结果校验后，再分析交付。</a:t>
            </a:r>
          </a:p>
        </p:txBody>
      </p:sp>
      <p:sp>
        <p:nvSpPr>
          <p:cNvPr id="39" name="byline">
            <a:extLst xmlns:a="http://schemas.openxmlformats.org/drawingml/2006/main">
              <a:ext uri="{FF2B5EF4-FFF2-40B4-BE49-F238E27FC236}">
                <a16:creationId xmlns:a16="http://schemas.microsoft.com/office/drawing/2014/main" id="{E8431DF0-013D-4C36-80AE-27CADC89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40" name="page">
            <a:extLst xmlns:a="http://schemas.openxmlformats.org/drawingml/2006/main">
              <a:ext uri="{FF2B5EF4-FFF2-40B4-BE49-F238E27FC236}">
                <a16:creationId xmlns:a16="http://schemas.microsoft.com/office/drawing/2014/main" id="{1E8DC753-23E2-4414-9019-309866BE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04 / 09</a:t>
            </a:r>
          </a:p>
        </p:txBody>
      </p:sp>
    </p:spTree>
    <p:extLst>
      <p:ext uri="{BB962C8B-B14F-4D97-AF65-F5344CB8AC3E}">
        <p14:creationId xmlns:p14="http://schemas.microsoft.com/office/powerpoint/2010/main" val="5290842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B9C3AF-3E21-4A23-B188-E23E7F6648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796347bd284c5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0D2AAA37-4D0A-46A7-B246-ECAD697B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33B1BC-3B15-4E68-AE89-593BD35C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AI 推理 vs 确定性执行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3CC5C236-FCA4-44C5-BC7C-2E14EFCF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在工作流与数据处理两个层次上，分别确定 AI 和固定代码的职责。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828F09-F914-4F82-A618-F3239E235877}"/>
              </a:ext>
            </a:extLst>
          </p:cNvPr>
          <p:cNvGraphicFramePr/>
          <p:nvPr/>
        </p:nvGraphicFramePr>
        <p:xfrm>
          <a:off xmlns:a="http://schemas.openxmlformats.org/drawingml/2006/main" x="457200" y="2381250"/>
          <a:ext xmlns:a="http://schemas.openxmlformats.org/drawingml/2006/main" cx="112776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305300"/>
                <a:gridCol w="4305300"/>
              </a:tblGrid>
              <a:tr h="49530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工作层次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AI 推理负责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确定性实现负责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Workflow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工作流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识别任务意图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判断异常原因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选择处理策略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固定步骤顺序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状态检查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必经校验、停止条件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Data Processing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数据处理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理解字段含义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识别非标准格式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解释异常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筛选、关联、去重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汇总、金额计算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格式验证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B611C508-01B8-47B1-886C-0B215438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FAF5B0B9-56E2-4C4A-998F-1F45F276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让 Agent 处理不确定性，让代码处理确定性，让验证机制决定结果是否可信。</a:t>
            </a:r>
          </a:p>
        </p:txBody>
      </p:sp>
      <p:sp>
        <p:nvSpPr>
          <p:cNvPr id="8" name="byline">
            <a:extLst xmlns:a="http://schemas.openxmlformats.org/drawingml/2006/main">
              <a:ext uri="{FF2B5EF4-FFF2-40B4-BE49-F238E27FC236}">
                <a16:creationId xmlns:a16="http://schemas.microsoft.com/office/drawing/2014/main" id="{56363C6B-15A0-4BA2-8AEF-A31A0CD5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400C2C86-0B80-4487-BB96-4A668D9C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05 / 09</a:t>
            </a:r>
          </a:p>
        </p:txBody>
      </p:sp>
    </p:spTree>
    <p:extLst>
      <p:ext uri="{BB962C8B-B14F-4D97-AF65-F5344CB8AC3E}">
        <p14:creationId xmlns:p14="http://schemas.microsoft.com/office/powerpoint/2010/main" val="6600968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6EAFEA-90CA-4905-8682-5A0A4B8BAB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c1c92b09fc456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CE3273E1-0849-446B-AA37-51FFE3A5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ACD9DEA-AE4B-4206-B334-95D0C6AD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一个好的 Skill 长什么样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369AD76D-A841-47CC-B508-FD9FCDCF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参考工单 Skill：入口、规则、实现、测试和评估场景各有用途。</a:t>
            </a:r>
          </a:p>
        </p:txBody>
      </p:sp>
      <p:sp>
        <p:nvSpPr>
          <p:cNvPr id="5" name="skill-root">
            <a:extLst xmlns:a="http://schemas.openxmlformats.org/drawingml/2006/main">
              <a:ext uri="{FF2B5EF4-FFF2-40B4-BE49-F238E27FC236}">
                <a16:creationId xmlns:a16="http://schemas.microsoft.com/office/drawing/2014/main" id="{60050290-7F0B-4E3B-ACB6-39E22232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14575"/>
            <a:ext cx="4638675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3F2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skill-root-label">
            <a:extLst xmlns:a="http://schemas.openxmlformats.org/drawingml/2006/main">
              <a:ext uri="{FF2B5EF4-FFF2-40B4-BE49-F238E27FC236}">
                <a16:creationId xmlns:a16="http://schemas.microsoft.com/office/drawing/2014/main" id="{74F0AC5C-4238-4E52-811C-326C16DA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90775"/>
            <a:ext cx="43719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ticket-daily-report/</a:t>
            </a:r>
          </a:p>
        </p:txBody>
      </p:sp>
      <p:sp>
        <p:nvSpPr>
          <p:cNvPr id="7" name="root-stem">
            <a:extLst xmlns:a="http://schemas.openxmlformats.org/drawingml/2006/main">
              <a:ext uri="{FF2B5EF4-FFF2-40B4-BE49-F238E27FC236}">
                <a16:creationId xmlns:a16="http://schemas.microsoft.com/office/drawing/2014/main" id="{6AF8F87C-8468-4CAA-B102-9C2E9B30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90825"/>
            <a:ext cx="285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irectory-branch">
            <a:extLst xmlns:a="http://schemas.openxmlformats.org/drawingml/2006/main">
              <a:ext uri="{FF2B5EF4-FFF2-40B4-BE49-F238E27FC236}">
                <a16:creationId xmlns:a16="http://schemas.microsoft.com/office/drawing/2014/main" id="{6F41FD51-47E7-4D41-A34C-1C0C6B05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" y="2990850"/>
            <a:ext cx="920496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irectory-stem-0">
            <a:extLst xmlns:a="http://schemas.openxmlformats.org/drawingml/2006/main">
              <a:ext uri="{FF2B5EF4-FFF2-40B4-BE49-F238E27FC236}">
                <a16:creationId xmlns:a16="http://schemas.microsoft.com/office/drawing/2014/main" id="{D4EFEAB3-4C74-4B5D-B3A2-128CB6E2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directory-stem-1">
            <a:extLst xmlns:a="http://schemas.openxmlformats.org/drawingml/2006/main">
              <a:ext uri="{FF2B5EF4-FFF2-40B4-BE49-F238E27FC236}">
                <a16:creationId xmlns:a16="http://schemas.microsoft.com/office/drawing/2014/main" id="{F8BD102C-9625-4964-82A8-98AE9C3A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irectory-stem-2">
            <a:extLst xmlns:a="http://schemas.openxmlformats.org/drawingml/2006/main">
              <a:ext uri="{FF2B5EF4-FFF2-40B4-BE49-F238E27FC236}">
                <a16:creationId xmlns:a16="http://schemas.microsoft.com/office/drawing/2014/main" id="{23B34D91-670C-43AD-84D2-60121104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irectory-stem-3">
            <a:extLst xmlns:a="http://schemas.openxmlformats.org/drawingml/2006/main">
              <a:ext uri="{FF2B5EF4-FFF2-40B4-BE49-F238E27FC236}">
                <a16:creationId xmlns:a16="http://schemas.microsoft.com/office/drawing/2014/main" id="{82C69FD7-0C17-40A2-A720-7E50158D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724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irectory-stem-4">
            <a:extLst xmlns:a="http://schemas.openxmlformats.org/drawingml/2006/main">
              <a:ext uri="{FF2B5EF4-FFF2-40B4-BE49-F238E27FC236}">
                <a16:creationId xmlns:a16="http://schemas.microsoft.com/office/drawing/2014/main" id="{080C6660-F159-4B7A-A5E2-338E0E10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directory-0">
            <a:extLst xmlns:a="http://schemas.openxmlformats.org/drawingml/2006/main">
              <a:ext uri="{FF2B5EF4-FFF2-40B4-BE49-F238E27FC236}">
                <a16:creationId xmlns:a16="http://schemas.microsoft.com/office/drawing/2014/main" id="{5BFF0C63-DF8A-40CE-9DFC-77EB5E71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5" name="directory-0-label">
            <a:extLst xmlns:a="http://schemas.openxmlformats.org/drawingml/2006/main">
              <a:ext uri="{FF2B5EF4-FFF2-40B4-BE49-F238E27FC236}">
                <a16:creationId xmlns:a16="http://schemas.microsoft.com/office/drawing/2014/main" id="{DA4A5D99-8387-45A9-B6FD-76576FBC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SKILL.md</a:t>
            </a:r>
          </a:p>
        </p:txBody>
      </p:sp>
      <p:sp>
        <p:nvSpPr>
          <p:cNvPr id="16" name="directory-0-sub">
            <a:extLst xmlns:a="http://schemas.openxmlformats.org/drawingml/2006/main">
              <a:ext uri="{FF2B5EF4-FFF2-40B4-BE49-F238E27FC236}">
                <a16:creationId xmlns:a16="http://schemas.microsoft.com/office/drawing/2014/main" id="{896AE2ED-AB19-43FA-A50F-49490992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执行入口与行为契约</a:t>
            </a:r>
          </a:p>
        </p:txBody>
      </p:sp>
      <p:sp>
        <p:nvSpPr>
          <p:cNvPr id="17" name="directory-0-body">
            <a:extLst xmlns:a="http://schemas.openxmlformats.org/drawingml/2006/main">
              <a:ext uri="{FF2B5EF4-FFF2-40B4-BE49-F238E27FC236}">
                <a16:creationId xmlns:a16="http://schemas.microsoft.com/office/drawing/2014/main" id="{4A3ECF9B-1141-49FB-AD15-5EA4E4F1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使用条件与输入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执行路径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完成与停止条件</a:t>
            </a:r>
          </a:p>
        </p:txBody>
      </p:sp>
      <p:sp>
        <p:nvSpPr>
          <p:cNvPr id="18" name="directory-1">
            <a:extLst xmlns:a="http://schemas.openxmlformats.org/drawingml/2006/main">
              <a:ext uri="{FF2B5EF4-FFF2-40B4-BE49-F238E27FC236}">
                <a16:creationId xmlns:a16="http://schemas.microsoft.com/office/drawing/2014/main" id="{84366B3A-79E8-47B1-B7A4-098C1647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844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directory-1-label">
            <a:extLst xmlns:a="http://schemas.openxmlformats.org/drawingml/2006/main">
              <a:ext uri="{FF2B5EF4-FFF2-40B4-BE49-F238E27FC236}">
                <a16:creationId xmlns:a16="http://schemas.microsoft.com/office/drawing/2014/main" id="{8C0B4E09-AFBA-4793-8597-AE5037B9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references/</a:t>
            </a:r>
          </a:p>
        </p:txBody>
      </p:sp>
      <p:sp>
        <p:nvSpPr>
          <p:cNvPr id="20" name="directory-1-sub">
            <a:extLst xmlns:a="http://schemas.openxmlformats.org/drawingml/2006/main">
              <a:ext uri="{FF2B5EF4-FFF2-40B4-BE49-F238E27FC236}">
                <a16:creationId xmlns:a16="http://schemas.microsoft.com/office/drawing/2014/main" id="{D254D823-5504-43F0-B6EC-51F1C960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业务规则与数据契约</a:t>
            </a:r>
          </a:p>
        </p:txBody>
      </p:sp>
      <p:sp>
        <p:nvSpPr>
          <p:cNvPr id="21" name="directory-1-body">
            <a:extLst xmlns:a="http://schemas.openxmlformats.org/drawingml/2006/main">
              <a:ext uri="{FF2B5EF4-FFF2-40B4-BE49-F238E27FC236}">
                <a16:creationId xmlns:a16="http://schemas.microsoft.com/office/drawing/2014/main" id="{5B547125-22AA-4BEA-B3AB-4D2D57A8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data-contract.md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business-rules.md</a:t>
            </a:r>
          </a:p>
        </p:txBody>
      </p:sp>
      <p:sp>
        <p:nvSpPr>
          <p:cNvPr id="22" name="directory-2">
            <a:extLst xmlns:a="http://schemas.openxmlformats.org/drawingml/2006/main">
              <a:ext uri="{FF2B5EF4-FFF2-40B4-BE49-F238E27FC236}">
                <a16:creationId xmlns:a16="http://schemas.microsoft.com/office/drawing/2014/main" id="{B7B8575D-3FAC-4A68-90A8-6648817C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968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directory-2-label">
            <a:extLst xmlns:a="http://schemas.openxmlformats.org/drawingml/2006/main">
              <a:ext uri="{FF2B5EF4-FFF2-40B4-BE49-F238E27FC236}">
                <a16:creationId xmlns:a16="http://schemas.microsoft.com/office/drawing/2014/main" id="{D4138FC9-33CF-45E2-9B24-1747D31B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scripts/</a:t>
            </a:r>
          </a:p>
        </p:txBody>
      </p:sp>
      <p:sp>
        <p:nvSpPr>
          <p:cNvPr id="24" name="directory-2-sub">
            <a:extLst xmlns:a="http://schemas.openxmlformats.org/drawingml/2006/main">
              <a:ext uri="{FF2B5EF4-FFF2-40B4-BE49-F238E27FC236}">
                <a16:creationId xmlns:a16="http://schemas.microsoft.com/office/drawing/2014/main" id="{824C7D6B-DC9F-458E-9B05-ED6D90BB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确定性实现</a:t>
            </a:r>
          </a:p>
        </p:txBody>
      </p:sp>
      <p:sp>
        <p:nvSpPr>
          <p:cNvPr id="25" name="directory-2-body">
            <a:extLst xmlns:a="http://schemas.openxmlformats.org/drawingml/2006/main">
              <a:ext uri="{FF2B5EF4-FFF2-40B4-BE49-F238E27FC236}">
                <a16:creationId xmlns:a16="http://schemas.microsoft.com/office/drawing/2014/main" id="{53A12CCC-2A00-40B8-A50F-FF6AC29B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pipeline.py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检查、计算、校验</a:t>
            </a:r>
          </a:p>
        </p:txBody>
      </p:sp>
      <p:sp>
        <p:nvSpPr>
          <p:cNvPr id="26" name="directory-3">
            <a:extLst xmlns:a="http://schemas.openxmlformats.org/drawingml/2006/main">
              <a:ext uri="{FF2B5EF4-FFF2-40B4-BE49-F238E27FC236}">
                <a16:creationId xmlns:a16="http://schemas.microsoft.com/office/drawing/2014/main" id="{1CB44B78-C3BE-4F73-8EDB-ADED3CF5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directory-3-label">
            <a:extLst xmlns:a="http://schemas.openxmlformats.org/drawingml/2006/main">
              <a:ext uri="{FF2B5EF4-FFF2-40B4-BE49-F238E27FC236}">
                <a16:creationId xmlns:a16="http://schemas.microsoft.com/office/drawing/2014/main" id="{4BB14C1A-E1F6-4814-987C-F6932982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tests/</a:t>
            </a:r>
          </a:p>
        </p:txBody>
      </p:sp>
      <p:sp>
        <p:nvSpPr>
          <p:cNvPr id="28" name="directory-3-sub">
            <a:extLst xmlns:a="http://schemas.openxmlformats.org/drawingml/2006/main">
              <a:ext uri="{FF2B5EF4-FFF2-40B4-BE49-F238E27FC236}">
                <a16:creationId xmlns:a16="http://schemas.microsoft.com/office/drawing/2014/main" id="{57806A2A-FF63-4979-931E-87CFB302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程序测试与共用样例</a:t>
            </a:r>
          </a:p>
        </p:txBody>
      </p:sp>
      <p:sp>
        <p:nvSpPr>
          <p:cNvPr id="29" name="directory-3-body">
            <a:extLst xmlns:a="http://schemas.openxmlformats.org/drawingml/2006/main">
              <a:ext uri="{FF2B5EF4-FFF2-40B4-BE49-F238E27FC236}">
                <a16:creationId xmlns:a16="http://schemas.microsoft.com/office/drawing/2014/main" id="{F93D2265-311F-4733-BC12-049A7F57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fixtures/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expected/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check-regression.py</a:t>
            </a:r>
          </a:p>
        </p:txBody>
      </p:sp>
      <p:sp>
        <p:nvSpPr>
          <p:cNvPr id="30" name="directory-4">
            <a:extLst xmlns:a="http://schemas.openxmlformats.org/drawingml/2006/main">
              <a:ext uri="{FF2B5EF4-FFF2-40B4-BE49-F238E27FC236}">
                <a16:creationId xmlns:a16="http://schemas.microsoft.com/office/drawing/2014/main" id="{B1102C6D-2196-4470-A461-F64146A9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16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1" name="directory-4-label">
            <a:extLst xmlns:a="http://schemas.openxmlformats.org/drawingml/2006/main">
              <a:ext uri="{FF2B5EF4-FFF2-40B4-BE49-F238E27FC236}">
                <a16:creationId xmlns:a16="http://schemas.microsoft.com/office/drawing/2014/main" id="{E1037A93-F807-4CE5-8D4C-1BD511F5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evals/</a:t>
            </a:r>
          </a:p>
        </p:txBody>
      </p:sp>
      <p:sp>
        <p:nvSpPr>
          <p:cNvPr id="32" name="directory-4-sub">
            <a:extLst xmlns:a="http://schemas.openxmlformats.org/drawingml/2006/main">
              <a:ext uri="{FF2B5EF4-FFF2-40B4-BE49-F238E27FC236}">
                <a16:creationId xmlns:a16="http://schemas.microsoft.com/office/drawing/2014/main" id="{45F1C2B8-131F-496F-B12E-3559E95C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AI 任务与核对标准</a:t>
            </a:r>
          </a:p>
        </p:txBody>
      </p:sp>
      <p:sp>
        <p:nvSpPr>
          <p:cNvPr id="33" name="directory-4-body">
            <a:extLst xmlns:a="http://schemas.openxmlformats.org/drawingml/2006/main">
              <a:ext uri="{FF2B5EF4-FFF2-40B4-BE49-F238E27FC236}">
                <a16:creationId xmlns:a16="http://schemas.microsoft.com/office/drawing/2014/main" id="{C40AAC62-A18A-445D-9467-42E93589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evals.json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README.txt</a:t>
            </a:r>
          </a:p>
        </p:txBody>
      </p:sp>
      <p:sp>
        <p:nvSpPr>
          <p:cNvPr id="34" name="optional-directories">
            <a:extLst xmlns:a="http://schemas.openxmlformats.org/drawingml/2006/main">
              <a:ext uri="{FF2B5EF4-FFF2-40B4-BE49-F238E27FC236}">
                <a16:creationId xmlns:a16="http://schemas.microsoft.com/office/drawing/2014/main" id="{30CF18BB-BC2C-4CB3-AE9D-B1B20082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3525"/>
            <a:ext cx="1127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按需增加 assets/ 存放模板；evals.json 保存场景，当前没有自动评估程序。</a:t>
            </a:r>
          </a:p>
        </p:txBody>
      </p:sp>
      <p:sp>
        <p:nvSpPr>
          <p:cNvPr id="3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3A9C190E-1D9E-46DB-8319-DCF3ECAF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6" name="takeaway">
            <a:extLst xmlns:a="http://schemas.openxmlformats.org/drawingml/2006/main">
              <a:ext uri="{FF2B5EF4-FFF2-40B4-BE49-F238E27FC236}">
                <a16:creationId xmlns:a16="http://schemas.microsoft.com/office/drawing/2014/main" id="{C75CD07F-1731-4C58-87A2-DF77C761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主文件简洁，细节按需加载（Progressive Disclosure）。简单任务可以只有 SKILL.md。</a:t>
            </a:r>
          </a:p>
        </p:txBody>
      </p:sp>
      <p:sp>
        <p:nvSpPr>
          <p:cNvPr id="37" name="byline">
            <a:extLst xmlns:a="http://schemas.openxmlformats.org/drawingml/2006/main">
              <a:ext uri="{FF2B5EF4-FFF2-40B4-BE49-F238E27FC236}">
                <a16:creationId xmlns:a16="http://schemas.microsoft.com/office/drawing/2014/main" id="{9E2F1177-5221-4E45-B592-67E2E020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8" name="page">
            <a:extLst xmlns:a="http://schemas.openxmlformats.org/drawingml/2006/main">
              <a:ext uri="{FF2B5EF4-FFF2-40B4-BE49-F238E27FC236}">
                <a16:creationId xmlns:a16="http://schemas.microsoft.com/office/drawing/2014/main" id="{A1CBB4C0-5204-4D3F-BAB7-87A2AC5E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06 / 09</a:t>
            </a:r>
          </a:p>
        </p:txBody>
      </p:sp>
    </p:spTree>
    <p:extLst>
      <p:ext uri="{BB962C8B-B14F-4D97-AF65-F5344CB8AC3E}">
        <p14:creationId xmlns:p14="http://schemas.microsoft.com/office/powerpoint/2010/main" val="1017299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A460A8-8273-4B35-A8A6-2995D5E6D7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2ffd1fd7b84ea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05776106-F843-4B9D-AE00-BA64D761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6F6004-4DCB-4308-BEE2-2EC49946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Qoder 实操：沉淀一个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B744FF43-11D3-4EB3-863F-6938674C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以已经做对的工单日报为起点，把任务方法整理成能独立执行的能力包。</a:t>
            </a:r>
          </a:p>
        </p:txBody>
      </p:sp>
      <p:sp>
        <p:nvSpPr>
          <p:cNvPr id="5" name="qoder-step-0">
            <a:extLst xmlns:a="http://schemas.openxmlformats.org/drawingml/2006/main">
              <a:ext uri="{FF2B5EF4-FFF2-40B4-BE49-F238E27FC236}">
                <a16:creationId xmlns:a16="http://schemas.microsoft.com/office/drawing/2014/main" id="{C76FCE05-7D9A-4878-A308-4DF2FDA1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qoder-step-0-number">
            <a:extLst xmlns:a="http://schemas.openxmlformats.org/drawingml/2006/main">
              <a:ext uri="{FF2B5EF4-FFF2-40B4-BE49-F238E27FC236}">
                <a16:creationId xmlns:a16="http://schemas.microsoft.com/office/drawing/2014/main" id="{2C1838DF-3D53-451E-96ED-EFDC99DB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7" name="qoder-step-0-label">
            <a:extLst xmlns:a="http://schemas.openxmlformats.org/drawingml/2006/main">
              <a:ext uri="{FF2B5EF4-FFF2-40B4-BE49-F238E27FC236}">
                <a16:creationId xmlns:a16="http://schemas.microsoft.com/office/drawing/2014/main" id="{113B018D-6E05-4811-B95C-8A5FDDD5E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成功任务</a:t>
            </a:r>
          </a:p>
        </p:txBody>
      </p:sp>
      <p:sp>
        <p:nvSpPr>
          <p:cNvPr id="8" name="qoder-step-0-body">
            <a:extLst xmlns:a="http://schemas.openxmlformats.org/drawingml/2006/main">
              <a:ext uri="{FF2B5EF4-FFF2-40B4-BE49-F238E27FC236}">
                <a16:creationId xmlns:a16="http://schemas.microsoft.com/office/drawing/2014/main" id="{D5857B70-E271-4BC9-8D1E-CA063B8B7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保存输入、口径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和核对过的结果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ADE18F4C-2316-4DA6-B11B-FEE6C0C8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qoder-step-1">
            <a:extLst xmlns:a="http://schemas.openxmlformats.org/drawingml/2006/main">
              <a:ext uri="{FF2B5EF4-FFF2-40B4-BE49-F238E27FC236}">
                <a16:creationId xmlns:a16="http://schemas.microsoft.com/office/drawing/2014/main" id="{900117F9-8886-4C4E-B598-8048718E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qoder-step-1-number">
            <a:extLst xmlns:a="http://schemas.openxmlformats.org/drawingml/2006/main">
              <a:ext uri="{FF2B5EF4-FFF2-40B4-BE49-F238E27FC236}">
                <a16:creationId xmlns:a16="http://schemas.microsoft.com/office/drawing/2014/main" id="{28BEF629-615E-4CEA-A259-71593C54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qoder-step-1-label">
            <a:extLst xmlns:a="http://schemas.openxmlformats.org/drawingml/2006/main">
              <a:ext uri="{FF2B5EF4-FFF2-40B4-BE49-F238E27FC236}">
                <a16:creationId xmlns:a16="http://schemas.microsoft.com/office/drawing/2014/main" id="{9A6EFE0C-2B50-47E7-A137-774B6B28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提炼 Skill</a:t>
            </a:r>
          </a:p>
        </p:txBody>
      </p:sp>
      <p:sp>
        <p:nvSpPr>
          <p:cNvPr id="13" name="qoder-step-1-body">
            <a:extLst xmlns:a="http://schemas.openxmlformats.org/drawingml/2006/main">
              <a:ext uri="{FF2B5EF4-FFF2-40B4-BE49-F238E27FC236}">
                <a16:creationId xmlns:a16="http://schemas.microsoft.com/office/drawing/2014/main" id="{9A8127B2-8D1B-4E27-A773-E1E09B17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写清契约与流程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保存关键处理脚本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A9A51110-4B19-4270-9374-580CB519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qoder-step-2">
            <a:extLst xmlns:a="http://schemas.openxmlformats.org/drawingml/2006/main">
              <a:ext uri="{FF2B5EF4-FFF2-40B4-BE49-F238E27FC236}">
                <a16:creationId xmlns:a16="http://schemas.microsoft.com/office/drawing/2014/main" id="{28D1DD34-2039-4D23-8497-C043CC4D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qoder-step-2-number">
            <a:extLst xmlns:a="http://schemas.openxmlformats.org/drawingml/2006/main">
              <a:ext uri="{FF2B5EF4-FFF2-40B4-BE49-F238E27FC236}">
                <a16:creationId xmlns:a16="http://schemas.microsoft.com/office/drawing/2014/main" id="{76309812-77A5-4B62-917E-855E74D0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7" name="qoder-step-2-label">
            <a:extLst xmlns:a="http://schemas.openxmlformats.org/drawingml/2006/main">
              <a:ext uri="{FF2B5EF4-FFF2-40B4-BE49-F238E27FC236}">
                <a16:creationId xmlns:a16="http://schemas.microsoft.com/office/drawing/2014/main" id="{E31DEE73-22ED-4559-A390-0B682BDB1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导入完整包</a:t>
            </a:r>
          </a:p>
        </p:txBody>
      </p:sp>
      <p:sp>
        <p:nvSpPr>
          <p:cNvPr id="18" name="qoder-step-2-body">
            <a:extLst xmlns:a="http://schemas.openxmlformats.org/drawingml/2006/main">
              <a:ext uri="{FF2B5EF4-FFF2-40B4-BE49-F238E27FC236}">
                <a16:creationId xmlns:a16="http://schemas.microsoft.com/office/drawing/2014/main" id="{A9513EBE-747D-4083-8AF3-099F82DD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在技能管理中导入 ZIP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确认出现在已安装中</a:t>
            </a:r>
          </a:p>
        </p:txBody>
      </p:sp>
      <p:sp>
        <p:nvSpPr>
          <p:cNvPr id="19" name="flow-arrow">
            <a:extLst xmlns:a="http://schemas.openxmlformats.org/drawingml/2006/main">
              <a:ext uri="{FF2B5EF4-FFF2-40B4-BE49-F238E27FC236}">
                <a16:creationId xmlns:a16="http://schemas.microsoft.com/office/drawing/2014/main" id="{557420C2-917F-4422-BC60-A7330B87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qoder-step-3">
            <a:extLst xmlns:a="http://schemas.openxmlformats.org/drawingml/2006/main">
              <a:ext uri="{FF2B5EF4-FFF2-40B4-BE49-F238E27FC236}">
                <a16:creationId xmlns:a16="http://schemas.microsoft.com/office/drawing/2014/main" id="{AD4FA777-1598-43D9-AA74-B5EA0352F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1" name="qoder-step-3-number">
            <a:extLst xmlns:a="http://schemas.openxmlformats.org/drawingml/2006/main">
              <a:ext uri="{FF2B5EF4-FFF2-40B4-BE49-F238E27FC236}">
                <a16:creationId xmlns:a16="http://schemas.microsoft.com/office/drawing/2014/main" id="{7F5D1D04-88C6-4AF0-8452-1C207B77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2" name="qoder-step-3-label">
            <a:extLst xmlns:a="http://schemas.openxmlformats.org/drawingml/2006/main">
              <a:ext uri="{FF2B5EF4-FFF2-40B4-BE49-F238E27FC236}">
                <a16:creationId xmlns:a16="http://schemas.microsoft.com/office/drawing/2014/main" id="{F28B4FAD-1CE9-4631-9D86-6598DCEB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新 Chat 运行</a:t>
            </a:r>
          </a:p>
        </p:txBody>
      </p:sp>
      <p:sp>
        <p:nvSpPr>
          <p:cNvPr id="23" name="qoder-step-3-body">
            <a:extLst xmlns:a="http://schemas.openxmlformats.org/drawingml/2006/main">
              <a:ext uri="{FF2B5EF4-FFF2-40B4-BE49-F238E27FC236}">
                <a16:creationId xmlns:a16="http://schemas.microsoft.com/office/drawing/2014/main" id="{8D736AD7-AF2E-47B7-AECA-9F77D979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用 / 选择 Skill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只给本次必要输入</a:t>
            </a:r>
          </a:p>
        </p:txBody>
      </p:sp>
      <p:sp>
        <p:nvSpPr>
          <p:cNvPr id="24" name="create-prompt">
            <a:extLst xmlns:a="http://schemas.openxmlformats.org/drawingml/2006/main">
              <a:ext uri="{FF2B5EF4-FFF2-40B4-BE49-F238E27FC236}">
                <a16:creationId xmlns:a16="http://schemas.microsoft.com/office/drawing/2014/main" id="{6B5D0CA1-0F8F-44E8-8A0C-1B3C2D3E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00625"/>
            <a:ext cx="11277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给 Qoder 的提示词：把刚才做对的日报方法整理成完整 Skill ZIP，保存规则和处理脚本，让新 Chat 只给数据、日期和输出位置就能复用。</a:t>
            </a:r>
          </a:p>
        </p:txBody>
      </p:sp>
      <p:sp>
        <p:nvSpPr>
          <p:cNvPr id="2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BF4A27B2-0A5E-4AE4-988E-7D37DBD6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takeaway">
            <a:extLst xmlns:a="http://schemas.openxmlformats.org/drawingml/2006/main">
              <a:ext uri="{FF2B5EF4-FFF2-40B4-BE49-F238E27FC236}">
                <a16:creationId xmlns:a16="http://schemas.microsoft.com/office/drawing/2014/main" id="{2F70E4E9-8690-4BAA-B437-34D73809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先手动选择验证执行，再用自然语言验证触发。Qoder 操作入口按当前产品版本核对。</a:t>
            </a:r>
          </a:p>
        </p:txBody>
      </p:sp>
      <p:sp>
        <p:nvSpPr>
          <p:cNvPr id="27" name="byline">
            <a:extLst xmlns:a="http://schemas.openxmlformats.org/drawingml/2006/main">
              <a:ext uri="{FF2B5EF4-FFF2-40B4-BE49-F238E27FC236}">
                <a16:creationId xmlns:a16="http://schemas.microsoft.com/office/drawing/2014/main" id="{E7414004-5CAE-407E-8CFA-9995992F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8" name="page">
            <a:extLst xmlns:a="http://schemas.openxmlformats.org/drawingml/2006/main">
              <a:ext uri="{FF2B5EF4-FFF2-40B4-BE49-F238E27FC236}">
                <a16:creationId xmlns:a16="http://schemas.microsoft.com/office/drawing/2014/main" id="{6C3643BD-5B9A-456F-B729-F7DBBD85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07 / 09</a:t>
            </a:r>
          </a:p>
        </p:txBody>
      </p:sp>
    </p:spTree>
    <p:extLst>
      <p:ext uri="{BB962C8B-B14F-4D97-AF65-F5344CB8AC3E}">
        <p14:creationId xmlns:p14="http://schemas.microsoft.com/office/powerpoint/2010/main" val="5244922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2E1149-ADFD-4D11-BA06-D779D4DC68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cc8ff57f0a44b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03C09CB5-E99F-4E6C-8DA9-C4ADFB8B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55DCB7-B1EA-4D85-9663-CA1001E6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如何验证并改进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A7651C4A-7651-4206-8DCD-4582152E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Tests 判定任务是否成功，Evals 帮助观察触发、任务表现和真实使用效果。</a:t>
            </a:r>
          </a:p>
        </p:txBody>
      </p:sp>
      <p:sp>
        <p:nvSpPr>
          <p:cNvPr id="5" name="verification-0">
            <a:extLst xmlns:a="http://schemas.openxmlformats.org/drawingml/2006/main">
              <a:ext uri="{FF2B5EF4-FFF2-40B4-BE49-F238E27FC236}">
                <a16:creationId xmlns:a16="http://schemas.microsoft.com/office/drawing/2014/main" id="{2D9D50E9-F5CE-4D94-A1FA-B9E99F0D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verification-0-label">
            <a:extLst xmlns:a="http://schemas.openxmlformats.org/drawingml/2006/main">
              <a:ext uri="{FF2B5EF4-FFF2-40B4-BE49-F238E27FC236}">
                <a16:creationId xmlns:a16="http://schemas.microsoft.com/office/drawing/2014/main" id="{8BCD0C8B-0ED9-484D-81DA-F4306720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Trigger Evals</a:t>
            </a:r>
          </a:p>
        </p:txBody>
      </p:sp>
      <p:sp>
        <p:nvSpPr>
          <p:cNvPr id="7" name="verification-0-sub">
            <a:extLst xmlns:a="http://schemas.openxmlformats.org/drawingml/2006/main">
              <a:ext uri="{FF2B5EF4-FFF2-40B4-BE49-F238E27FC236}">
                <a16:creationId xmlns:a16="http://schemas.microsoft.com/office/drawing/2014/main" id="{331B50AE-C078-4D8D-9544-76182B3E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正确触发，避免误触发</a:t>
            </a:r>
          </a:p>
        </p:txBody>
      </p:sp>
      <p:sp>
        <p:nvSpPr>
          <p:cNvPr id="8" name="verification-0-body">
            <a:extLst xmlns:a="http://schemas.openxmlformats.org/drawingml/2006/main">
              <a:ext uri="{FF2B5EF4-FFF2-40B4-BE49-F238E27FC236}">
                <a16:creationId xmlns:a16="http://schemas.microsoft.com/office/drawing/2014/main" id="{7FA0A253-3EF2-489C-B3BE-5F96376B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检查真实请求的触发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属于基础验证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500B74E7-47AF-463E-96F2-1B1B18E6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verification-1">
            <a:extLst xmlns:a="http://schemas.openxmlformats.org/drawingml/2006/main">
              <a:ext uri="{FF2B5EF4-FFF2-40B4-BE49-F238E27FC236}">
                <a16:creationId xmlns:a16="http://schemas.microsoft.com/office/drawing/2014/main" id="{39FF3460-CC4F-47F4-B039-51677E54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verification-1-label">
            <a:extLst xmlns:a="http://schemas.openxmlformats.org/drawingml/2006/main">
              <a:ext uri="{FF2B5EF4-FFF2-40B4-BE49-F238E27FC236}">
                <a16:creationId xmlns:a16="http://schemas.microsoft.com/office/drawing/2014/main" id="{D00FD81F-9C2E-4E94-8018-D58C2B01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Task Evals</a:t>
            </a:r>
          </a:p>
        </p:txBody>
      </p:sp>
      <p:sp>
        <p:nvSpPr>
          <p:cNvPr id="12" name="verification-1-sub">
            <a:extLst xmlns:a="http://schemas.openxmlformats.org/drawingml/2006/main">
              <a:ext uri="{FF2B5EF4-FFF2-40B4-BE49-F238E27FC236}">
                <a16:creationId xmlns:a16="http://schemas.microsoft.com/office/drawing/2014/main" id="{4CDCC2DC-354D-4CA2-BDAF-9CA24672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同一批任务，比较版本</a:t>
            </a:r>
          </a:p>
        </p:txBody>
      </p:sp>
      <p:sp>
        <p:nvSpPr>
          <p:cNvPr id="13" name="verification-1-body">
            <a:extLst xmlns:a="http://schemas.openxmlformats.org/drawingml/2006/main">
              <a:ext uri="{FF2B5EF4-FFF2-40B4-BE49-F238E27FC236}">
                <a16:creationId xmlns:a16="http://schemas.microsoft.com/office/drawing/2014/main" id="{BFE402AB-A9F1-4CF2-836F-5BBAA0A4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共用 Tests 判定成功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比较质量、耗时、Token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E38AFEB6-76CB-44FD-B4C8-01903828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ification-2">
            <a:extLst xmlns:a="http://schemas.openxmlformats.org/drawingml/2006/main">
              <a:ext uri="{FF2B5EF4-FFF2-40B4-BE49-F238E27FC236}">
                <a16:creationId xmlns:a16="http://schemas.microsoft.com/office/drawing/2014/main" id="{E6086F41-DFFE-4BBF-A164-8D34BDAD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verification-2-label">
            <a:extLst xmlns:a="http://schemas.openxmlformats.org/drawingml/2006/main">
              <a:ext uri="{FF2B5EF4-FFF2-40B4-BE49-F238E27FC236}">
                <a16:creationId xmlns:a16="http://schemas.microsoft.com/office/drawing/2014/main" id="{828106B9-C785-4EAD-978E-E4B591A7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Production Evals</a:t>
            </a:r>
          </a:p>
        </p:txBody>
      </p:sp>
      <p:sp>
        <p:nvSpPr>
          <p:cNvPr id="17" name="verification-2-sub">
            <a:extLst xmlns:a="http://schemas.openxmlformats.org/drawingml/2006/main">
              <a:ext uri="{FF2B5EF4-FFF2-40B4-BE49-F238E27FC236}">
                <a16:creationId xmlns:a16="http://schemas.microsoft.com/office/drawing/2014/main" id="{25C1C217-D93E-47AE-AE35-FFC64E28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真实使用中持续观察</a:t>
            </a:r>
          </a:p>
        </p:txBody>
      </p:sp>
      <p:sp>
        <p:nvSpPr>
          <p:cNvPr id="18" name="verification-2-body">
            <a:extLst xmlns:a="http://schemas.openxmlformats.org/drawingml/2006/main">
              <a:ext uri="{FF2B5EF4-FFF2-40B4-BE49-F238E27FC236}">
                <a16:creationId xmlns:a16="http://schemas.microsoft.com/office/drawing/2014/main" id="{E106D9DF-22EC-4514-B8B9-6F930136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记录失败与人工接管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跟踪质量、耗时和成本</a:t>
            </a:r>
          </a:p>
        </p:txBody>
      </p:sp>
      <p:sp>
        <p:nvSpPr>
          <p:cNvPr id="19" name="case-0">
            <a:extLst xmlns:a="http://schemas.openxmlformats.org/drawingml/2006/main">
              <a:ext uri="{FF2B5EF4-FFF2-40B4-BE49-F238E27FC236}">
                <a16:creationId xmlns:a16="http://schemas.microsoft.com/office/drawing/2014/main" id="{658A4CB4-9F6D-40E8-A4C0-E9CD1781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0" name="case-0-name">
            <a:extLst xmlns:a="http://schemas.openxmlformats.org/drawingml/2006/main">
              <a:ext uri="{FF2B5EF4-FFF2-40B4-BE49-F238E27FC236}">
                <a16:creationId xmlns:a16="http://schemas.microsoft.com/office/drawing/2014/main" id="{E7D17CAA-6C33-4CE8-864C-2C8CD561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Golden Tasks</a:t>
            </a:r>
          </a:p>
        </p:txBody>
      </p:sp>
      <p:sp>
        <p:nvSpPr>
          <p:cNvPr id="21" name="case-0-expected">
            <a:extLst xmlns:a="http://schemas.openxmlformats.org/drawingml/2006/main">
              <a:ext uri="{FF2B5EF4-FFF2-40B4-BE49-F238E27FC236}">
                <a16:creationId xmlns:a16="http://schemas.microsoft.com/office/drawing/2014/main" id="{0C232641-69CC-4942-ACE2-2826AE81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10 个真实端到端需求</a:t>
            </a:r>
          </a:p>
        </p:txBody>
      </p:sp>
      <p:sp>
        <p:nvSpPr>
          <p:cNvPr id="22" name="case-1">
            <a:extLst xmlns:a="http://schemas.openxmlformats.org/drawingml/2006/main">
              <a:ext uri="{FF2B5EF4-FFF2-40B4-BE49-F238E27FC236}">
                <a16:creationId xmlns:a16="http://schemas.microsoft.com/office/drawing/2014/main" id="{1E85BBB5-7040-49E5-888C-9CF4E1A2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case-1-name">
            <a:extLst xmlns:a="http://schemas.openxmlformats.org/drawingml/2006/main">
              <a:ext uri="{FF2B5EF4-FFF2-40B4-BE49-F238E27FC236}">
                <a16:creationId xmlns:a16="http://schemas.microsoft.com/office/drawing/2014/main" id="{857DB20C-9B07-45BD-B074-34B070BE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V1 / V2（假设）</a:t>
            </a:r>
          </a:p>
        </p:txBody>
      </p:sp>
      <p:sp>
        <p:nvSpPr>
          <p:cNvPr id="24" name="case-1-expected">
            <a:extLst xmlns:a="http://schemas.openxmlformats.org/drawingml/2006/main">
              <a:ext uri="{FF2B5EF4-FFF2-40B4-BE49-F238E27FC236}">
                <a16:creationId xmlns:a16="http://schemas.microsoft.com/office/drawing/2014/main" id="{4DD431E3-E6BE-4BA1-BE3F-D311B28B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成功率 60% / 80%</a:t>
            </a:r>
          </a:p>
        </p:txBody>
      </p:sp>
      <p:sp>
        <p:nvSpPr>
          <p:cNvPr id="25" name="case-2">
            <a:extLst xmlns:a="http://schemas.openxmlformats.org/drawingml/2006/main">
              <a:ext uri="{FF2B5EF4-FFF2-40B4-BE49-F238E27FC236}">
                <a16:creationId xmlns:a16="http://schemas.microsoft.com/office/drawing/2014/main" id="{929CC51F-CE9C-4746-9A0B-9BB55CB8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case-2-name">
            <a:extLst xmlns:a="http://schemas.openxmlformats.org/drawingml/2006/main">
              <a:ext uri="{FF2B5EF4-FFF2-40B4-BE49-F238E27FC236}">
                <a16:creationId xmlns:a16="http://schemas.microsoft.com/office/drawing/2014/main" id="{63D3FA48-3FBA-45F3-AF7B-AB00BA14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相同 Tests 判定</a:t>
            </a:r>
          </a:p>
        </p:txBody>
      </p:sp>
      <p:sp>
        <p:nvSpPr>
          <p:cNvPr id="27" name="case-2-expected">
            <a:extLst xmlns:a="http://schemas.openxmlformats.org/drawingml/2006/main">
              <a:ext uri="{FF2B5EF4-FFF2-40B4-BE49-F238E27FC236}">
                <a16:creationId xmlns:a16="http://schemas.microsoft.com/office/drawing/2014/main" id="{5152A67F-0E23-4A68-BFBC-6799F050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提升 20 个百分点（假设）</a:t>
            </a:r>
          </a:p>
        </p:txBody>
      </p:sp>
      <p:sp>
        <p:nvSpPr>
          <p:cNvPr id="28" name="grading-note">
            <a:extLst xmlns:a="http://schemas.openxmlformats.org/drawingml/2006/main">
              <a:ext uri="{FF2B5EF4-FFF2-40B4-BE49-F238E27FC236}">
                <a16:creationId xmlns:a16="http://schemas.microsoft.com/office/drawing/2014/main" id="{82A8A2F2-F5E7-4642-B4EC-BAA68041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48300"/>
            <a:ext cx="11277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LLM 核对示例：场景 1 + 实际输出 + 执行记录 → 逐项结论与证据（见讲解）。</a:t>
            </a:r>
          </a:p>
        </p:txBody>
      </p:sp>
      <p:sp>
        <p:nvSpPr>
          <p:cNvPr id="29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F2547E26-7C31-4823-81C2-4B06A6D5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0" name="takeaway">
            <a:extLst xmlns:a="http://schemas.openxmlformats.org/drawingml/2006/main">
              <a:ext uri="{FF2B5EF4-FFF2-40B4-BE49-F238E27FC236}">
                <a16:creationId xmlns:a16="http://schemas.microsoft.com/office/drawing/2014/main" id="{F44702D1-A216-4118-9F3A-6A170D9B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同一任务、同一 Tests 判定，比较质量与成本。示例需重复运行并控制其他变量。</a:t>
            </a:r>
          </a:p>
        </p:txBody>
      </p:sp>
      <p:sp>
        <p:nvSpPr>
          <p:cNvPr id="31" name="byline">
            <a:extLst xmlns:a="http://schemas.openxmlformats.org/drawingml/2006/main">
              <a:ext uri="{FF2B5EF4-FFF2-40B4-BE49-F238E27FC236}">
                <a16:creationId xmlns:a16="http://schemas.microsoft.com/office/drawing/2014/main" id="{822033B8-A796-4131-910E-9908D3A3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2" name="page">
            <a:extLst xmlns:a="http://schemas.openxmlformats.org/drawingml/2006/main">
              <a:ext uri="{FF2B5EF4-FFF2-40B4-BE49-F238E27FC236}">
                <a16:creationId xmlns:a16="http://schemas.microsoft.com/office/drawing/2014/main" id="{C1606F4C-CB1E-4AF9-B1CC-25E57246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08 / 09</a:t>
            </a:r>
          </a:p>
        </p:txBody>
      </p:sp>
    </p:spTree>
    <p:extLst>
      <p:ext uri="{BB962C8B-B14F-4D97-AF65-F5344CB8AC3E}">
        <p14:creationId xmlns:p14="http://schemas.microsoft.com/office/powerpoint/2010/main" val="2967675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91EC3F-3F89-41D2-935E-ADC3367546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292898f2a479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56787199-4C21-4BC0-A9C9-30512191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1DF5531-636C-4125-AA79-266CC0D3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开始实践与问题反馈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553DDFBF-E169-4B3B-BC24-F6F1CE16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把日常工作中的一个成功方法，变成下一次可以继续使用的 Skill。</a:t>
            </a:r>
          </a:p>
        </p:txBody>
      </p:sp>
      <p:sp>
        <p:nvSpPr>
          <p:cNvPr id="5" name="practice-path">
            <a:extLst xmlns:a="http://schemas.openxmlformats.org/drawingml/2006/main">
              <a:ext uri="{FF2B5EF4-FFF2-40B4-BE49-F238E27FC236}">
                <a16:creationId xmlns:a16="http://schemas.microsoft.com/office/drawing/2014/main" id="{D483CC0F-09B1-4D05-9DE0-A898C24A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ractice-path-label-band">
            <a:extLst xmlns:a="http://schemas.openxmlformats.org/drawingml/2006/main">
              <a:ext uri="{FF2B5EF4-FFF2-40B4-BE49-F238E27FC236}">
                <a16:creationId xmlns:a16="http://schemas.microsoft.com/office/drawing/2014/main" id="{48C11571-7B12-43ED-B6F3-723CDE08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ractice-path-label">
            <a:extLst xmlns:a="http://schemas.openxmlformats.org/drawingml/2006/main">
              <a:ext uri="{FF2B5EF4-FFF2-40B4-BE49-F238E27FC236}">
                <a16:creationId xmlns:a16="http://schemas.microsoft.com/office/drawing/2014/main" id="{044BEF81-7A05-4EC9-95B6-D92C99F9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46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今天就可以开始的一次实践</a:t>
            </a:r>
          </a:p>
        </p:txBody>
      </p:sp>
      <p:sp>
        <p:nvSpPr>
          <p:cNvPr id="8" name="practice-0-number">
            <a:extLst xmlns:a="http://schemas.openxmlformats.org/drawingml/2006/main">
              <a:ext uri="{FF2B5EF4-FFF2-40B4-BE49-F238E27FC236}">
                <a16:creationId xmlns:a16="http://schemas.microsoft.com/office/drawing/2014/main" id="{4B66051C-F8AE-4AA3-8B63-D6D7431B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051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practice-0-label">
            <a:extLst xmlns:a="http://schemas.openxmlformats.org/drawingml/2006/main">
              <a:ext uri="{FF2B5EF4-FFF2-40B4-BE49-F238E27FC236}">
                <a16:creationId xmlns:a16="http://schemas.microsoft.com/office/drawing/2014/main" id="{C25EDD4D-2773-4FDA-A8BB-093EC45B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1051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选任务并自评</a:t>
            </a:r>
          </a:p>
        </p:txBody>
      </p:sp>
      <p:sp>
        <p:nvSpPr>
          <p:cNvPr id="10" name="practice-0-body">
            <a:extLst xmlns:a="http://schemas.openxmlformats.org/drawingml/2006/main">
              <a:ext uri="{FF2B5EF4-FFF2-40B4-BE49-F238E27FC236}">
                <a16:creationId xmlns:a16="http://schemas.microsoft.com/office/drawing/2014/main" id="{E7274446-DCAC-4AF2-9975-29BF0754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4671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规则清楚，先确认验收依据</a:t>
            </a:r>
          </a:p>
        </p:txBody>
      </p:sp>
      <p:sp>
        <p:nvSpPr>
          <p:cNvPr id="11" name="practice-1-number">
            <a:extLst xmlns:a="http://schemas.openxmlformats.org/drawingml/2006/main">
              <a:ext uri="{FF2B5EF4-FFF2-40B4-BE49-F238E27FC236}">
                <a16:creationId xmlns:a16="http://schemas.microsoft.com/office/drawing/2014/main" id="{BD8BCDB8-BCD6-47FE-AA64-6A438630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8290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practice-1-label">
            <a:extLst xmlns:a="http://schemas.openxmlformats.org/drawingml/2006/main">
              <a:ext uri="{FF2B5EF4-FFF2-40B4-BE49-F238E27FC236}">
                <a16:creationId xmlns:a16="http://schemas.microsoft.com/office/drawing/2014/main" id="{B7452A9F-52C7-4718-A621-8CA9643A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8290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生成并运行检查</a:t>
            </a:r>
          </a:p>
        </p:txBody>
      </p:sp>
      <p:sp>
        <p:nvSpPr>
          <p:cNvPr id="13" name="practice-1-body">
            <a:extLst xmlns:a="http://schemas.openxmlformats.org/drawingml/2006/main">
              <a:ext uri="{FF2B5EF4-FFF2-40B4-BE49-F238E27FC236}">
                <a16:creationId xmlns:a16="http://schemas.microsoft.com/office/drawing/2014/main" id="{BC059EC1-75FC-49C4-AA8E-217970EC8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910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共用样例，保留实际结果与记录</a:t>
            </a:r>
          </a:p>
        </p:txBody>
      </p:sp>
      <p:sp>
        <p:nvSpPr>
          <p:cNvPr id="14" name="practice-2-number">
            <a:extLst xmlns:a="http://schemas.openxmlformats.org/drawingml/2006/main">
              <a:ext uri="{FF2B5EF4-FFF2-40B4-BE49-F238E27FC236}">
                <a16:creationId xmlns:a16="http://schemas.microsoft.com/office/drawing/2014/main" id="{40B10364-2C95-40F6-A982-B126273F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529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5" name="practice-2-label">
            <a:extLst xmlns:a="http://schemas.openxmlformats.org/drawingml/2006/main">
              <a:ext uri="{FF2B5EF4-FFF2-40B4-BE49-F238E27FC236}">
                <a16:creationId xmlns:a16="http://schemas.microsoft.com/office/drawing/2014/main" id="{AA56992A-E0E7-4B3E-836B-11B9E912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529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换人复用并迭代</a:t>
            </a:r>
          </a:p>
        </p:txBody>
      </p:sp>
      <p:sp>
        <p:nvSpPr>
          <p:cNvPr id="16" name="practice-2-body">
            <a:extLst xmlns:a="http://schemas.openxmlformats.org/drawingml/2006/main">
              <a:ext uri="{FF2B5EF4-FFF2-40B4-BE49-F238E27FC236}">
                <a16:creationId xmlns:a16="http://schemas.microsoft.com/office/drawing/2014/main" id="{AAA215DF-ED91-4525-BCF2-E8F5240D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149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同版本再试，把新问题补进用例</a:t>
            </a:r>
          </a:p>
        </p:txBody>
      </p:sp>
      <p:sp>
        <p:nvSpPr>
          <p:cNvPr id="17" name="feedback-panel">
            <a:extLst xmlns:a="http://schemas.openxmlformats.org/drawingml/2006/main">
              <a:ext uri="{FF2B5EF4-FFF2-40B4-BE49-F238E27FC236}">
                <a16:creationId xmlns:a16="http://schemas.microsoft.com/office/drawing/2014/main" id="{C7D1E5E2-255A-44D0-9216-1B1CD88D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feedback-panel-label-band">
            <a:extLst xmlns:a="http://schemas.openxmlformats.org/drawingml/2006/main">
              <a:ext uri="{FF2B5EF4-FFF2-40B4-BE49-F238E27FC236}">
                <a16:creationId xmlns:a16="http://schemas.microsoft.com/office/drawing/2014/main" id="{9A146DD0-9775-40AD-9428-E86825E4C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feedback-panel-label">
            <a:extLst xmlns:a="http://schemas.openxmlformats.org/drawingml/2006/main">
              <a:ext uri="{FF2B5EF4-FFF2-40B4-BE49-F238E27FC236}">
                <a16:creationId xmlns:a16="http://schemas.microsoft.com/office/drawing/2014/main" id="{CFD8A258-06FD-4E8A-A880-A862F7E6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514600"/>
            <a:ext cx="4829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问题反馈</a:t>
            </a:r>
          </a:p>
        </p:txBody>
      </p:sp>
      <p:sp>
        <p:nvSpPr>
          <p:cNvPr id="20" name="feedback-title">
            <a:extLst xmlns:a="http://schemas.openxmlformats.org/drawingml/2006/main">
              <a:ext uri="{FF2B5EF4-FFF2-40B4-BE49-F238E27FC236}">
                <a16:creationId xmlns:a16="http://schemas.microsoft.com/office/drawing/2014/main" id="{792A3A69-3F00-41B4-9581-1F377772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4752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5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遇到问题，联系张坚、李琦</a:t>
            </a:r>
          </a:p>
        </p:txBody>
      </p:sp>
      <p:sp>
        <p:nvSpPr>
          <p:cNvPr id="21" name="feedback-item-0">
            <a:extLst xmlns:a="http://schemas.openxmlformats.org/drawingml/2006/main">
              <a:ext uri="{FF2B5EF4-FFF2-40B4-BE49-F238E27FC236}">
                <a16:creationId xmlns:a16="http://schemas.microsoft.com/office/drawing/2014/main" id="{65B3AC13-BDDB-4572-95CE-D5D0156A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15290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脱敏输入样例</a:t>
            </a:r>
          </a:p>
        </p:txBody>
      </p:sp>
      <p:sp>
        <p:nvSpPr>
          <p:cNvPr id="22" name="feedback-item-1">
            <a:extLst xmlns:a="http://schemas.openxmlformats.org/drawingml/2006/main">
              <a:ext uri="{FF2B5EF4-FFF2-40B4-BE49-F238E27FC236}">
                <a16:creationId xmlns:a16="http://schemas.microsoft.com/office/drawing/2014/main" id="{70184159-A7AD-484F-85AA-F51DC52C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486275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预期结果与实际结果</a:t>
            </a:r>
          </a:p>
        </p:txBody>
      </p:sp>
      <p:sp>
        <p:nvSpPr>
          <p:cNvPr id="23" name="feedback-item-2">
            <a:extLst xmlns:a="http://schemas.openxmlformats.org/drawingml/2006/main">
              <a:ext uri="{FF2B5EF4-FFF2-40B4-BE49-F238E27FC236}">
                <a16:creationId xmlns:a16="http://schemas.microsoft.com/office/drawing/2014/main" id="{BF66DD68-CF6C-4649-8944-701E51B5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81965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出错截图与校验记录</a:t>
            </a:r>
          </a:p>
        </p:txBody>
      </p:sp>
      <p:sp>
        <p:nvSpPr>
          <p:cNvPr id="24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65F5F9F1-67D5-4B1C-9F9D-10266D93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B50B3B39-06EC-4534-816F-F44C05E75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业务同事沉淀方法与验收标准，技术同事协助固定关键处理，团队共同验证和改进。</a:t>
            </a:r>
          </a:p>
        </p:txBody>
      </p:sp>
      <p:sp>
        <p:nvSpPr>
          <p:cNvPr id="26" name="byline">
            <a:extLst xmlns:a="http://schemas.openxmlformats.org/drawingml/2006/main">
              <a:ext uri="{FF2B5EF4-FFF2-40B4-BE49-F238E27FC236}">
                <a16:creationId xmlns:a16="http://schemas.microsoft.com/office/drawing/2014/main" id="{368E0F20-2A28-4F2C-AB92-74ED36B0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7" name="page">
            <a:extLst xmlns:a="http://schemas.openxmlformats.org/drawingml/2006/main">
              <a:ext uri="{FF2B5EF4-FFF2-40B4-BE49-F238E27FC236}">
                <a16:creationId xmlns:a16="http://schemas.microsoft.com/office/drawing/2014/main" id="{C5F62D68-E2D3-4A87-9C75-1EB1C257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09 / 09</a:t>
            </a:r>
          </a:p>
        </p:txBody>
      </p:sp>
    </p:spTree>
    <p:extLst>
      <p:ext uri="{BB962C8B-B14F-4D97-AF65-F5344CB8AC3E}">
        <p14:creationId xmlns:p14="http://schemas.microsoft.com/office/powerpoint/2010/main" val="2094069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2026-10-13T05:22:23.6440000Z</dcterms:created>
  <dcterms:modified xsi:type="dcterms:W3CDTF">2026-10-13T05:22:23.6440000Z</dcterms:modified>
</coreProperties>
</file>